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webextensions/webextension1.xml" ContentType="application/vnd.ms-office.webextension+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96" r:id="rId2"/>
    <p:sldId id="298" r:id="rId3"/>
    <p:sldId id="300" r:id="rId4"/>
    <p:sldId id="299" r:id="rId5"/>
    <p:sldId id="303" r:id="rId6"/>
    <p:sldId id="301" r:id="rId7"/>
    <p:sldId id="302" r:id="rId8"/>
    <p:sldId id="282" r:id="rId9"/>
    <p:sldId id="266" r:id="rId10"/>
    <p:sldId id="267" r:id="rId11"/>
    <p:sldId id="268" r:id="rId12"/>
    <p:sldId id="269" r:id="rId13"/>
    <p:sldId id="270" r:id="rId14"/>
    <p:sldId id="280" r:id="rId15"/>
    <p:sldId id="283" r:id="rId16"/>
    <p:sldId id="284" r:id="rId17"/>
    <p:sldId id="285" r:id="rId18"/>
    <p:sldId id="286" r:id="rId19"/>
    <p:sldId id="287" r:id="rId20"/>
    <p:sldId id="288" r:id="rId21"/>
    <p:sldId id="293" r:id="rId22"/>
    <p:sldId id="289" r:id="rId23"/>
    <p:sldId id="290" r:id="rId24"/>
    <p:sldId id="291" r:id="rId25"/>
    <p:sldId id="295" r:id="rId26"/>
    <p:sldId id="271" r:id="rId27"/>
    <p:sldId id="272" r:id="rId28"/>
    <p:sldId id="273" r:id="rId29"/>
    <p:sldId id="277" r:id="rId30"/>
    <p:sldId id="275" r:id="rId31"/>
    <p:sldId id="29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1818"/>
    <a:srgbClr val="242222"/>
    <a:srgbClr val="CB8D03"/>
    <a:srgbClr val="262626"/>
    <a:srgbClr val="18202A"/>
    <a:srgbClr val="243040"/>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9"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4534539858854546"/>
          <c:y val="9.3821057018937531E-3"/>
          <c:w val="0.50351600692323495"/>
          <c:h val="0.87680155125212622"/>
        </c:manualLayout>
      </c:layout>
      <c:doughnutChart>
        <c:varyColors val="1"/>
        <c:ser>
          <c:idx val="0"/>
          <c:order val="0"/>
          <c:tx>
            <c:strRef>
              <c:f>Sheet1!$B$1</c:f>
              <c:strCache>
                <c:ptCount val="1"/>
                <c:pt idx="0">
                  <c:v>Sales</c:v>
                </c:pt>
              </c:strCache>
            </c:strRef>
          </c:tx>
          <c:dPt>
            <c:idx val="0"/>
            <c:bubble3D val="0"/>
            <c:spPr>
              <a:solidFill>
                <a:schemeClr val="tx1">
                  <a:lumMod val="85000"/>
                  <a:lumOff val="15000"/>
                </a:schemeClr>
              </a:solidFill>
              <a:ln>
                <a:noFill/>
              </a:ln>
              <a:effectLst/>
            </c:spPr>
            <c:extLst>
              <c:ext xmlns:c16="http://schemas.microsoft.com/office/drawing/2014/chart" uri="{C3380CC4-5D6E-409C-BE32-E72D297353CC}">
                <c16:uniqueId val="{00000002-0194-486F-B0F9-63A65170942D}"/>
              </c:ext>
            </c:extLst>
          </c:dPt>
          <c:dPt>
            <c:idx val="1"/>
            <c:bubble3D val="0"/>
            <c:spPr>
              <a:solidFill>
                <a:schemeClr val="accent4">
                  <a:lumMod val="75000"/>
                </a:schemeClr>
              </a:solidFill>
              <a:ln>
                <a:noFill/>
              </a:ln>
              <a:effectLst/>
            </c:spPr>
            <c:extLst>
              <c:ext xmlns:c16="http://schemas.microsoft.com/office/drawing/2014/chart" uri="{C3380CC4-5D6E-409C-BE32-E72D297353CC}">
                <c16:uniqueId val="{00000001-0194-486F-B0F9-63A65170942D}"/>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extLst>
              <c:ext xmlns:c16="http://schemas.microsoft.com/office/drawing/2014/chart" uri="{C3380CC4-5D6E-409C-BE32-E72D297353CC}">
                <c16:uniqueId val="{00000005-4401-4728-956A-F967BD297719}"/>
              </c:ext>
            </c:extLst>
          </c:dPt>
          <c:dPt>
            <c:idx val="3"/>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extLst>
              <c:ext xmlns:c16="http://schemas.microsoft.com/office/drawing/2014/chart" uri="{C3380CC4-5D6E-409C-BE32-E72D297353CC}">
                <c16:uniqueId val="{00000007-4401-4728-956A-F967BD297719}"/>
              </c:ext>
            </c:extLst>
          </c:dPt>
          <c:cat>
            <c:strRef>
              <c:f>Sheet1!$A$2:$A$5</c:f>
              <c:strCache>
                <c:ptCount val="2"/>
                <c:pt idx="0">
                  <c:v>1st Qtr</c:v>
                </c:pt>
                <c:pt idx="1">
                  <c:v>2nd Qtr</c:v>
                </c:pt>
              </c:strCache>
            </c:strRef>
          </c:cat>
          <c:val>
            <c:numRef>
              <c:f>Sheet1!$B$2:$B$5</c:f>
              <c:numCache>
                <c:formatCode>General</c:formatCode>
                <c:ptCount val="4"/>
                <c:pt idx="0">
                  <c:v>78</c:v>
                </c:pt>
                <c:pt idx="1">
                  <c:v>32</c:v>
                </c:pt>
              </c:numCache>
            </c:numRef>
          </c:val>
          <c:extLst>
            <c:ext xmlns:c16="http://schemas.microsoft.com/office/drawing/2014/chart" uri="{C3380CC4-5D6E-409C-BE32-E72D297353CC}">
              <c16:uniqueId val="{00000000-0194-486F-B0F9-63A65170942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873D88-2DF9-4F08-B468-164F2EC533F5}" type="datetimeFigureOut">
              <a:rPr lang="en-IN" smtClean="0"/>
              <a:t>21-04-2025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EA3C21-6BEB-474C-8971-C7F616E1F318}" type="slidenum">
              <a:rPr lang="en-IN" smtClean="0"/>
              <a:t>‹#›</a:t>
            </a:fld>
            <a:endParaRPr lang="en-IN"/>
          </a:p>
        </p:txBody>
      </p:sp>
    </p:spTree>
    <p:extLst>
      <p:ext uri="{BB962C8B-B14F-4D97-AF65-F5344CB8AC3E}">
        <p14:creationId xmlns:p14="http://schemas.microsoft.com/office/powerpoint/2010/main" val="2190447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C5277-E746-9A30-9907-681706629E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8F3C4C-70ED-03AE-4A28-C21AB607A0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7BE05B-509B-CE6C-FD5F-4316D758F60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6116C92-DF14-58EB-7552-17B57F565E45}"/>
              </a:ext>
            </a:extLst>
          </p:cNvPr>
          <p:cNvSpPr>
            <a:spLocks noGrp="1"/>
          </p:cNvSpPr>
          <p:nvPr>
            <p:ph type="sldNum" sz="quarter" idx="5"/>
          </p:nvPr>
        </p:nvSpPr>
        <p:spPr/>
        <p:txBody>
          <a:bodyPr/>
          <a:lstStyle/>
          <a:p>
            <a:fld id="{95EA3C21-6BEB-474C-8971-C7F616E1F318}" type="slidenum">
              <a:rPr lang="en-IN" smtClean="0"/>
              <a:t>1</a:t>
            </a:fld>
            <a:endParaRPr lang="en-IN"/>
          </a:p>
        </p:txBody>
      </p:sp>
    </p:spTree>
    <p:extLst>
      <p:ext uri="{BB962C8B-B14F-4D97-AF65-F5344CB8AC3E}">
        <p14:creationId xmlns:p14="http://schemas.microsoft.com/office/powerpoint/2010/main" val="3765412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6323B-2FE2-1356-548F-C8A575632B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134BB9-B172-7C38-229C-BE8FC11BD9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3631DC-9F04-4E08-194D-00BA9135B89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9522349-D606-03D1-5C0E-7997007A1BBA}"/>
              </a:ext>
            </a:extLst>
          </p:cNvPr>
          <p:cNvSpPr>
            <a:spLocks noGrp="1"/>
          </p:cNvSpPr>
          <p:nvPr>
            <p:ph type="sldNum" sz="quarter" idx="5"/>
          </p:nvPr>
        </p:nvSpPr>
        <p:spPr/>
        <p:txBody>
          <a:bodyPr/>
          <a:lstStyle/>
          <a:p>
            <a:fld id="{95EA3C21-6BEB-474C-8971-C7F616E1F318}" type="slidenum">
              <a:rPr lang="en-IN" smtClean="0"/>
              <a:t>2</a:t>
            </a:fld>
            <a:endParaRPr lang="en-IN"/>
          </a:p>
        </p:txBody>
      </p:sp>
    </p:spTree>
    <p:extLst>
      <p:ext uri="{BB962C8B-B14F-4D97-AF65-F5344CB8AC3E}">
        <p14:creationId xmlns:p14="http://schemas.microsoft.com/office/powerpoint/2010/main" val="760519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7AFEA-1817-2DC2-DD0A-C5076DCE4B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A96766-6FDF-0FB2-7F88-72608B063A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443FE7-AC84-124F-1BDC-18BED224E78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3B6756-16C2-A52C-02D5-95A99D7D84ED}"/>
              </a:ext>
            </a:extLst>
          </p:cNvPr>
          <p:cNvSpPr>
            <a:spLocks noGrp="1"/>
          </p:cNvSpPr>
          <p:nvPr>
            <p:ph type="sldNum" sz="quarter" idx="5"/>
          </p:nvPr>
        </p:nvSpPr>
        <p:spPr/>
        <p:txBody>
          <a:bodyPr/>
          <a:lstStyle/>
          <a:p>
            <a:fld id="{95EA3C21-6BEB-474C-8971-C7F616E1F318}" type="slidenum">
              <a:rPr lang="en-IN" smtClean="0"/>
              <a:t>3</a:t>
            </a:fld>
            <a:endParaRPr lang="en-IN"/>
          </a:p>
        </p:txBody>
      </p:sp>
    </p:spTree>
    <p:extLst>
      <p:ext uri="{BB962C8B-B14F-4D97-AF65-F5344CB8AC3E}">
        <p14:creationId xmlns:p14="http://schemas.microsoft.com/office/powerpoint/2010/main" val="1088645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265E3-77F4-2336-AD9A-1EAE52E709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9CD61A-4A79-1E12-5D0B-0DB74B98EF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5451ED-8F27-7244-7A9A-B6A33CE4287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5C690F8-EF12-9B76-ED89-88509968A3FD}"/>
              </a:ext>
            </a:extLst>
          </p:cNvPr>
          <p:cNvSpPr>
            <a:spLocks noGrp="1"/>
          </p:cNvSpPr>
          <p:nvPr>
            <p:ph type="sldNum" sz="quarter" idx="5"/>
          </p:nvPr>
        </p:nvSpPr>
        <p:spPr/>
        <p:txBody>
          <a:bodyPr/>
          <a:lstStyle/>
          <a:p>
            <a:fld id="{95EA3C21-6BEB-474C-8971-C7F616E1F318}" type="slidenum">
              <a:rPr lang="en-IN" smtClean="0"/>
              <a:t>4</a:t>
            </a:fld>
            <a:endParaRPr lang="en-IN"/>
          </a:p>
        </p:txBody>
      </p:sp>
    </p:spTree>
    <p:extLst>
      <p:ext uri="{BB962C8B-B14F-4D97-AF65-F5344CB8AC3E}">
        <p14:creationId xmlns:p14="http://schemas.microsoft.com/office/powerpoint/2010/main" val="492177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B74DE-A1D0-279E-2697-70BD91CF22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5A0DE7-16DB-4529-9FD2-928966197A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0DEDD3-0483-2DD0-B0F1-903A73F40E6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94F82A3-5F67-90F7-827B-96A8DFD15772}"/>
              </a:ext>
            </a:extLst>
          </p:cNvPr>
          <p:cNvSpPr>
            <a:spLocks noGrp="1"/>
          </p:cNvSpPr>
          <p:nvPr>
            <p:ph type="sldNum" sz="quarter" idx="5"/>
          </p:nvPr>
        </p:nvSpPr>
        <p:spPr/>
        <p:txBody>
          <a:bodyPr/>
          <a:lstStyle/>
          <a:p>
            <a:fld id="{95EA3C21-6BEB-474C-8971-C7F616E1F318}" type="slidenum">
              <a:rPr lang="en-IN" smtClean="0"/>
              <a:t>5</a:t>
            </a:fld>
            <a:endParaRPr lang="en-IN"/>
          </a:p>
        </p:txBody>
      </p:sp>
    </p:spTree>
    <p:extLst>
      <p:ext uri="{BB962C8B-B14F-4D97-AF65-F5344CB8AC3E}">
        <p14:creationId xmlns:p14="http://schemas.microsoft.com/office/powerpoint/2010/main" val="12506182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043E7-47B2-ACA6-A8EF-36973B6B5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884D8-B035-FB49-98B9-AF784C323C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12558C-825C-0E95-9409-C9149514A9B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8F11BE0-535B-7458-E208-1B30413DA5B3}"/>
              </a:ext>
            </a:extLst>
          </p:cNvPr>
          <p:cNvSpPr>
            <a:spLocks noGrp="1"/>
          </p:cNvSpPr>
          <p:nvPr>
            <p:ph type="sldNum" sz="quarter" idx="5"/>
          </p:nvPr>
        </p:nvSpPr>
        <p:spPr/>
        <p:txBody>
          <a:bodyPr/>
          <a:lstStyle/>
          <a:p>
            <a:fld id="{95EA3C21-6BEB-474C-8971-C7F616E1F318}" type="slidenum">
              <a:rPr lang="en-IN" smtClean="0"/>
              <a:t>6</a:t>
            </a:fld>
            <a:endParaRPr lang="en-IN"/>
          </a:p>
        </p:txBody>
      </p:sp>
    </p:spTree>
    <p:extLst>
      <p:ext uri="{BB962C8B-B14F-4D97-AF65-F5344CB8AC3E}">
        <p14:creationId xmlns:p14="http://schemas.microsoft.com/office/powerpoint/2010/main" val="2275673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8D770-0D53-3F7F-018C-CCD4223A6F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27F3F0-A878-48E0-BF60-B383EA3887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5FDA50-8A9F-865F-A403-28387FBC0A5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871F975-E7D2-F717-EC5C-8E254E0630B6}"/>
              </a:ext>
            </a:extLst>
          </p:cNvPr>
          <p:cNvSpPr>
            <a:spLocks noGrp="1"/>
          </p:cNvSpPr>
          <p:nvPr>
            <p:ph type="sldNum" sz="quarter" idx="5"/>
          </p:nvPr>
        </p:nvSpPr>
        <p:spPr/>
        <p:txBody>
          <a:bodyPr/>
          <a:lstStyle/>
          <a:p>
            <a:fld id="{95EA3C21-6BEB-474C-8971-C7F616E1F318}" type="slidenum">
              <a:rPr lang="en-IN" smtClean="0"/>
              <a:t>7</a:t>
            </a:fld>
            <a:endParaRPr lang="en-IN"/>
          </a:p>
        </p:txBody>
      </p:sp>
    </p:spTree>
    <p:extLst>
      <p:ext uri="{BB962C8B-B14F-4D97-AF65-F5344CB8AC3E}">
        <p14:creationId xmlns:p14="http://schemas.microsoft.com/office/powerpoint/2010/main" val="22412671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A30CB-0481-680B-4082-673CF79F1D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59F57-99E2-5298-1D6B-86BEFA3552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1395A-72A3-CFB3-81C4-C059D1CD2B0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2EE918A-741F-E779-59AB-3C4FA8C85123}"/>
              </a:ext>
            </a:extLst>
          </p:cNvPr>
          <p:cNvSpPr>
            <a:spLocks noGrp="1"/>
          </p:cNvSpPr>
          <p:nvPr>
            <p:ph type="sldNum" sz="quarter" idx="5"/>
          </p:nvPr>
        </p:nvSpPr>
        <p:spPr/>
        <p:txBody>
          <a:bodyPr/>
          <a:lstStyle/>
          <a:p>
            <a:fld id="{95EA3C21-6BEB-474C-8971-C7F616E1F318}" type="slidenum">
              <a:rPr lang="en-IN" smtClean="0"/>
              <a:t>8</a:t>
            </a:fld>
            <a:endParaRPr lang="en-IN"/>
          </a:p>
        </p:txBody>
      </p:sp>
    </p:spTree>
    <p:extLst>
      <p:ext uri="{BB962C8B-B14F-4D97-AF65-F5344CB8AC3E}">
        <p14:creationId xmlns:p14="http://schemas.microsoft.com/office/powerpoint/2010/main" val="40479656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1E9D2-8461-25C7-3DC3-2557E0EEDA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C0F74B-FA8D-0EF5-F661-36830C9B76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51A9E6-4885-0830-9352-32CB3551C5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79758AF-55A9-3B3D-B69F-E3E98FCEE3A7}"/>
              </a:ext>
            </a:extLst>
          </p:cNvPr>
          <p:cNvSpPr>
            <a:spLocks noGrp="1"/>
          </p:cNvSpPr>
          <p:nvPr>
            <p:ph type="sldNum" sz="quarter" idx="5"/>
          </p:nvPr>
        </p:nvSpPr>
        <p:spPr/>
        <p:txBody>
          <a:bodyPr/>
          <a:lstStyle/>
          <a:p>
            <a:fld id="{95EA3C21-6BEB-474C-8971-C7F616E1F318}" type="slidenum">
              <a:rPr lang="en-IN" smtClean="0"/>
              <a:t>9</a:t>
            </a:fld>
            <a:endParaRPr lang="en-IN"/>
          </a:p>
        </p:txBody>
      </p:sp>
    </p:spTree>
    <p:extLst>
      <p:ext uri="{BB962C8B-B14F-4D97-AF65-F5344CB8AC3E}">
        <p14:creationId xmlns:p14="http://schemas.microsoft.com/office/powerpoint/2010/main" val="126094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0552C-4298-7A1F-44CB-D976996449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D242BE-2B90-088B-8A5E-928B95A93B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A4A5B8-E012-9235-FFCC-0AFD652EEDB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82BCA68-592E-8313-50AC-E6D6E1AC481F}"/>
              </a:ext>
            </a:extLst>
          </p:cNvPr>
          <p:cNvSpPr>
            <a:spLocks noGrp="1"/>
          </p:cNvSpPr>
          <p:nvPr>
            <p:ph type="sldNum" sz="quarter" idx="5"/>
          </p:nvPr>
        </p:nvSpPr>
        <p:spPr/>
        <p:txBody>
          <a:bodyPr/>
          <a:lstStyle/>
          <a:p>
            <a:fld id="{95EA3C21-6BEB-474C-8971-C7F616E1F318}" type="slidenum">
              <a:rPr lang="en-IN" smtClean="0"/>
              <a:t>10</a:t>
            </a:fld>
            <a:endParaRPr lang="en-IN"/>
          </a:p>
        </p:txBody>
      </p:sp>
    </p:spTree>
    <p:extLst>
      <p:ext uri="{BB962C8B-B14F-4D97-AF65-F5344CB8AC3E}">
        <p14:creationId xmlns:p14="http://schemas.microsoft.com/office/powerpoint/2010/main" val="1125654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AEE62-733A-9A53-B469-4C0645D11F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0A3F8C-6668-944E-9DD9-DA404CD45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779F99-2C48-7055-A3CB-54FA5924C89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F5E4C9C-0940-648E-35E3-064B5AD9672A}"/>
              </a:ext>
            </a:extLst>
          </p:cNvPr>
          <p:cNvSpPr>
            <a:spLocks noGrp="1"/>
          </p:cNvSpPr>
          <p:nvPr>
            <p:ph type="sldNum" sz="quarter" idx="5"/>
          </p:nvPr>
        </p:nvSpPr>
        <p:spPr/>
        <p:txBody>
          <a:bodyPr/>
          <a:lstStyle/>
          <a:p>
            <a:fld id="{95EA3C21-6BEB-474C-8971-C7F616E1F318}" type="slidenum">
              <a:rPr lang="en-IN" smtClean="0"/>
              <a:t>11</a:t>
            </a:fld>
            <a:endParaRPr lang="en-IN"/>
          </a:p>
        </p:txBody>
      </p:sp>
    </p:spTree>
    <p:extLst>
      <p:ext uri="{BB962C8B-B14F-4D97-AF65-F5344CB8AC3E}">
        <p14:creationId xmlns:p14="http://schemas.microsoft.com/office/powerpoint/2010/main" val="7710139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26C4E-BA82-8122-6543-2D69EB1622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D014CB-B49D-BFBF-9385-EC21438C34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D484F9-A14F-B2AC-8CC9-B0BA825BDA8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3F024A5-446B-68EF-BF31-0EDFC6E20EA9}"/>
              </a:ext>
            </a:extLst>
          </p:cNvPr>
          <p:cNvSpPr>
            <a:spLocks noGrp="1"/>
          </p:cNvSpPr>
          <p:nvPr>
            <p:ph type="sldNum" sz="quarter" idx="5"/>
          </p:nvPr>
        </p:nvSpPr>
        <p:spPr/>
        <p:txBody>
          <a:bodyPr/>
          <a:lstStyle/>
          <a:p>
            <a:fld id="{95EA3C21-6BEB-474C-8971-C7F616E1F318}" type="slidenum">
              <a:rPr lang="en-IN" smtClean="0"/>
              <a:t>12</a:t>
            </a:fld>
            <a:endParaRPr lang="en-IN"/>
          </a:p>
        </p:txBody>
      </p:sp>
    </p:spTree>
    <p:extLst>
      <p:ext uri="{BB962C8B-B14F-4D97-AF65-F5344CB8AC3E}">
        <p14:creationId xmlns:p14="http://schemas.microsoft.com/office/powerpoint/2010/main" val="32993088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60CD3-4F85-B3F1-C507-17B9ADEA4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7AF0FD-AC21-C3ED-066C-B4353837A8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817E68-55E4-47E7-502D-1B15360BD18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3F2526-3466-C81D-BF99-615C9546DC11}"/>
              </a:ext>
            </a:extLst>
          </p:cNvPr>
          <p:cNvSpPr>
            <a:spLocks noGrp="1"/>
          </p:cNvSpPr>
          <p:nvPr>
            <p:ph type="sldNum" sz="quarter" idx="5"/>
          </p:nvPr>
        </p:nvSpPr>
        <p:spPr/>
        <p:txBody>
          <a:bodyPr/>
          <a:lstStyle/>
          <a:p>
            <a:fld id="{95EA3C21-6BEB-474C-8971-C7F616E1F318}" type="slidenum">
              <a:rPr lang="en-IN" smtClean="0"/>
              <a:t>13</a:t>
            </a:fld>
            <a:endParaRPr lang="en-IN"/>
          </a:p>
        </p:txBody>
      </p:sp>
    </p:spTree>
    <p:extLst>
      <p:ext uri="{BB962C8B-B14F-4D97-AF65-F5344CB8AC3E}">
        <p14:creationId xmlns:p14="http://schemas.microsoft.com/office/powerpoint/2010/main" val="22500131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C8F5C-80F4-2BB5-0CDC-E44642C595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9B6F1A-117E-546C-CA56-A6BE2EE08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7634EF-51C8-E259-D8C8-BA3CCA57415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DF0193F-541F-33F9-84E4-132D0F01223D}"/>
              </a:ext>
            </a:extLst>
          </p:cNvPr>
          <p:cNvSpPr>
            <a:spLocks noGrp="1"/>
          </p:cNvSpPr>
          <p:nvPr>
            <p:ph type="sldNum" sz="quarter" idx="5"/>
          </p:nvPr>
        </p:nvSpPr>
        <p:spPr/>
        <p:txBody>
          <a:bodyPr/>
          <a:lstStyle/>
          <a:p>
            <a:fld id="{95EA3C21-6BEB-474C-8971-C7F616E1F318}" type="slidenum">
              <a:rPr lang="en-IN" smtClean="0"/>
              <a:t>14</a:t>
            </a:fld>
            <a:endParaRPr lang="en-IN"/>
          </a:p>
        </p:txBody>
      </p:sp>
    </p:spTree>
    <p:extLst>
      <p:ext uri="{BB962C8B-B14F-4D97-AF65-F5344CB8AC3E}">
        <p14:creationId xmlns:p14="http://schemas.microsoft.com/office/powerpoint/2010/main" val="21804201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589F-11BB-358A-7BC0-9D454D91FD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F126F7-EE7D-AA06-8029-95F9BB5CE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56D586-238E-5E1D-8946-A71A8500AB5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A9C647A-F0D6-AEB9-8629-0B7956E07A27}"/>
              </a:ext>
            </a:extLst>
          </p:cNvPr>
          <p:cNvSpPr>
            <a:spLocks noGrp="1"/>
          </p:cNvSpPr>
          <p:nvPr>
            <p:ph type="sldNum" sz="quarter" idx="5"/>
          </p:nvPr>
        </p:nvSpPr>
        <p:spPr/>
        <p:txBody>
          <a:bodyPr/>
          <a:lstStyle/>
          <a:p>
            <a:fld id="{95EA3C21-6BEB-474C-8971-C7F616E1F318}" type="slidenum">
              <a:rPr lang="en-IN" smtClean="0"/>
              <a:t>15</a:t>
            </a:fld>
            <a:endParaRPr lang="en-IN"/>
          </a:p>
        </p:txBody>
      </p:sp>
    </p:spTree>
    <p:extLst>
      <p:ext uri="{BB962C8B-B14F-4D97-AF65-F5344CB8AC3E}">
        <p14:creationId xmlns:p14="http://schemas.microsoft.com/office/powerpoint/2010/main" val="15492989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F46A2-22FE-2C3E-B384-0DE9EEAAFE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71EB32-7627-F6EC-6B3D-2DC1BC8880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13CB7A-9EB2-128A-2831-2903A1A5AE2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7A67FD8-5EC8-77D9-4DFF-6D24EFEA8183}"/>
              </a:ext>
            </a:extLst>
          </p:cNvPr>
          <p:cNvSpPr>
            <a:spLocks noGrp="1"/>
          </p:cNvSpPr>
          <p:nvPr>
            <p:ph type="sldNum" sz="quarter" idx="5"/>
          </p:nvPr>
        </p:nvSpPr>
        <p:spPr/>
        <p:txBody>
          <a:bodyPr/>
          <a:lstStyle/>
          <a:p>
            <a:fld id="{95EA3C21-6BEB-474C-8971-C7F616E1F318}" type="slidenum">
              <a:rPr lang="en-IN" smtClean="0"/>
              <a:t>16</a:t>
            </a:fld>
            <a:endParaRPr lang="en-IN"/>
          </a:p>
        </p:txBody>
      </p:sp>
    </p:spTree>
    <p:extLst>
      <p:ext uri="{BB962C8B-B14F-4D97-AF65-F5344CB8AC3E}">
        <p14:creationId xmlns:p14="http://schemas.microsoft.com/office/powerpoint/2010/main" val="30484922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52E9D-9F8C-BCA0-497D-BEC8A7C968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E502EE-BA47-8022-7A08-38FD052804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FA666B-4669-1B33-1E3C-D6488CE4656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B6E2718-275E-7F03-64AC-9EF66494B014}"/>
              </a:ext>
            </a:extLst>
          </p:cNvPr>
          <p:cNvSpPr>
            <a:spLocks noGrp="1"/>
          </p:cNvSpPr>
          <p:nvPr>
            <p:ph type="sldNum" sz="quarter" idx="5"/>
          </p:nvPr>
        </p:nvSpPr>
        <p:spPr/>
        <p:txBody>
          <a:bodyPr/>
          <a:lstStyle/>
          <a:p>
            <a:fld id="{95EA3C21-6BEB-474C-8971-C7F616E1F318}" type="slidenum">
              <a:rPr lang="en-IN" smtClean="0"/>
              <a:t>17</a:t>
            </a:fld>
            <a:endParaRPr lang="en-IN"/>
          </a:p>
        </p:txBody>
      </p:sp>
    </p:spTree>
    <p:extLst>
      <p:ext uri="{BB962C8B-B14F-4D97-AF65-F5344CB8AC3E}">
        <p14:creationId xmlns:p14="http://schemas.microsoft.com/office/powerpoint/2010/main" val="3808744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47A04-8969-DFC3-0C01-6BC8A6C640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900FC9-278F-B69D-4B58-2FD6B17160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5AFF87-BF81-91A6-961E-C622ABF57F8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709E315-5A39-543C-E932-7AA245814346}"/>
              </a:ext>
            </a:extLst>
          </p:cNvPr>
          <p:cNvSpPr>
            <a:spLocks noGrp="1"/>
          </p:cNvSpPr>
          <p:nvPr>
            <p:ph type="sldNum" sz="quarter" idx="5"/>
          </p:nvPr>
        </p:nvSpPr>
        <p:spPr/>
        <p:txBody>
          <a:bodyPr/>
          <a:lstStyle/>
          <a:p>
            <a:fld id="{95EA3C21-6BEB-474C-8971-C7F616E1F318}" type="slidenum">
              <a:rPr lang="en-IN" smtClean="0"/>
              <a:t>18</a:t>
            </a:fld>
            <a:endParaRPr lang="en-IN"/>
          </a:p>
        </p:txBody>
      </p:sp>
    </p:spTree>
    <p:extLst>
      <p:ext uri="{BB962C8B-B14F-4D97-AF65-F5344CB8AC3E}">
        <p14:creationId xmlns:p14="http://schemas.microsoft.com/office/powerpoint/2010/main" val="24017132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BD607-074D-A9CC-299A-D51EA06BA6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B98452-87DB-95A7-881B-7BB2C0FD0C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F45090-4C1B-73AF-9736-E7C6169797D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C3F8D28-B7F5-091F-CBD4-601FAA31E3BA}"/>
              </a:ext>
            </a:extLst>
          </p:cNvPr>
          <p:cNvSpPr>
            <a:spLocks noGrp="1"/>
          </p:cNvSpPr>
          <p:nvPr>
            <p:ph type="sldNum" sz="quarter" idx="5"/>
          </p:nvPr>
        </p:nvSpPr>
        <p:spPr/>
        <p:txBody>
          <a:bodyPr/>
          <a:lstStyle/>
          <a:p>
            <a:fld id="{95EA3C21-6BEB-474C-8971-C7F616E1F318}" type="slidenum">
              <a:rPr lang="en-IN" smtClean="0"/>
              <a:t>19</a:t>
            </a:fld>
            <a:endParaRPr lang="en-IN"/>
          </a:p>
        </p:txBody>
      </p:sp>
    </p:spTree>
    <p:extLst>
      <p:ext uri="{BB962C8B-B14F-4D97-AF65-F5344CB8AC3E}">
        <p14:creationId xmlns:p14="http://schemas.microsoft.com/office/powerpoint/2010/main" val="32842583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61D77-17F1-0FA9-F87D-2F9A202BCC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87C15A-8386-201C-78CD-9810BAFB72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A49399-7901-1A21-D2E4-CC3E4AD7C86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E22A79F-76ED-1514-3956-26139B3BAAF6}"/>
              </a:ext>
            </a:extLst>
          </p:cNvPr>
          <p:cNvSpPr>
            <a:spLocks noGrp="1"/>
          </p:cNvSpPr>
          <p:nvPr>
            <p:ph type="sldNum" sz="quarter" idx="5"/>
          </p:nvPr>
        </p:nvSpPr>
        <p:spPr/>
        <p:txBody>
          <a:bodyPr/>
          <a:lstStyle/>
          <a:p>
            <a:fld id="{95EA3C21-6BEB-474C-8971-C7F616E1F318}" type="slidenum">
              <a:rPr lang="en-IN" smtClean="0"/>
              <a:t>20</a:t>
            </a:fld>
            <a:endParaRPr lang="en-IN"/>
          </a:p>
        </p:txBody>
      </p:sp>
    </p:spTree>
    <p:extLst>
      <p:ext uri="{BB962C8B-B14F-4D97-AF65-F5344CB8AC3E}">
        <p14:creationId xmlns:p14="http://schemas.microsoft.com/office/powerpoint/2010/main" val="3005678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9DF96-4CD2-B7D0-AC3D-792405DCF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171BC2-3FB9-3290-C799-670DB02C21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CABDB5-6783-BEF5-0C3E-E143CADD7D2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EE8A8C8-6E92-43B5-4A86-030BF2F2CA4C}"/>
              </a:ext>
            </a:extLst>
          </p:cNvPr>
          <p:cNvSpPr>
            <a:spLocks noGrp="1"/>
          </p:cNvSpPr>
          <p:nvPr>
            <p:ph type="sldNum" sz="quarter" idx="5"/>
          </p:nvPr>
        </p:nvSpPr>
        <p:spPr/>
        <p:txBody>
          <a:bodyPr/>
          <a:lstStyle/>
          <a:p>
            <a:fld id="{95EA3C21-6BEB-474C-8971-C7F616E1F318}" type="slidenum">
              <a:rPr lang="en-IN" smtClean="0"/>
              <a:t>21</a:t>
            </a:fld>
            <a:endParaRPr lang="en-IN"/>
          </a:p>
        </p:txBody>
      </p:sp>
    </p:spTree>
    <p:extLst>
      <p:ext uri="{BB962C8B-B14F-4D97-AF65-F5344CB8AC3E}">
        <p14:creationId xmlns:p14="http://schemas.microsoft.com/office/powerpoint/2010/main" val="24965990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C21DF-068E-572C-0FCA-4BAA52102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503EF9-F761-EBC5-F60D-4C66CDCCD5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A910A2-FA60-8A67-8745-E8E21EF9369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F0FFC43-429C-DCC5-16FE-3EABD7E67FB1}"/>
              </a:ext>
            </a:extLst>
          </p:cNvPr>
          <p:cNvSpPr>
            <a:spLocks noGrp="1"/>
          </p:cNvSpPr>
          <p:nvPr>
            <p:ph type="sldNum" sz="quarter" idx="5"/>
          </p:nvPr>
        </p:nvSpPr>
        <p:spPr/>
        <p:txBody>
          <a:bodyPr/>
          <a:lstStyle/>
          <a:p>
            <a:fld id="{95EA3C21-6BEB-474C-8971-C7F616E1F318}" type="slidenum">
              <a:rPr lang="en-IN" smtClean="0"/>
              <a:t>22</a:t>
            </a:fld>
            <a:endParaRPr lang="en-IN"/>
          </a:p>
        </p:txBody>
      </p:sp>
    </p:spTree>
    <p:extLst>
      <p:ext uri="{BB962C8B-B14F-4D97-AF65-F5344CB8AC3E}">
        <p14:creationId xmlns:p14="http://schemas.microsoft.com/office/powerpoint/2010/main" val="2460992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4F90D-A5C0-F4F4-FB37-BDADB85AD9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F62B44-796C-0EA1-6A2C-291C780886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B42FE0-BE42-E685-1D5E-3480D0EAB99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C430738-1B81-8378-7A98-2CF398187598}"/>
              </a:ext>
            </a:extLst>
          </p:cNvPr>
          <p:cNvSpPr>
            <a:spLocks noGrp="1"/>
          </p:cNvSpPr>
          <p:nvPr>
            <p:ph type="sldNum" sz="quarter" idx="5"/>
          </p:nvPr>
        </p:nvSpPr>
        <p:spPr/>
        <p:txBody>
          <a:bodyPr/>
          <a:lstStyle/>
          <a:p>
            <a:fld id="{95EA3C21-6BEB-474C-8971-C7F616E1F318}" type="slidenum">
              <a:rPr lang="en-IN" smtClean="0"/>
              <a:t>23</a:t>
            </a:fld>
            <a:endParaRPr lang="en-IN"/>
          </a:p>
        </p:txBody>
      </p:sp>
    </p:spTree>
    <p:extLst>
      <p:ext uri="{BB962C8B-B14F-4D97-AF65-F5344CB8AC3E}">
        <p14:creationId xmlns:p14="http://schemas.microsoft.com/office/powerpoint/2010/main" val="11922519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8C072-B511-EDD8-0DD8-39612296A4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4731E7-EAC2-BFA6-C01A-B41D21B6A2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7392B5-C3E9-BA87-EE39-C75A190D444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B7A6521-4068-FD77-D7F8-13AA95F9BB3A}"/>
              </a:ext>
            </a:extLst>
          </p:cNvPr>
          <p:cNvSpPr>
            <a:spLocks noGrp="1"/>
          </p:cNvSpPr>
          <p:nvPr>
            <p:ph type="sldNum" sz="quarter" idx="5"/>
          </p:nvPr>
        </p:nvSpPr>
        <p:spPr/>
        <p:txBody>
          <a:bodyPr/>
          <a:lstStyle/>
          <a:p>
            <a:fld id="{95EA3C21-6BEB-474C-8971-C7F616E1F318}" type="slidenum">
              <a:rPr lang="en-IN" smtClean="0"/>
              <a:t>24</a:t>
            </a:fld>
            <a:endParaRPr lang="en-IN"/>
          </a:p>
        </p:txBody>
      </p:sp>
    </p:spTree>
    <p:extLst>
      <p:ext uri="{BB962C8B-B14F-4D97-AF65-F5344CB8AC3E}">
        <p14:creationId xmlns:p14="http://schemas.microsoft.com/office/powerpoint/2010/main" val="16388296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607F6-5D67-3895-0B24-5040DD811A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2D6F4B-02F4-AC99-91DA-37905404B6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EE66CF-F22D-5DC3-975E-D20EC767476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86DD552-DDF0-7D24-AED9-205914EB6EAD}"/>
              </a:ext>
            </a:extLst>
          </p:cNvPr>
          <p:cNvSpPr>
            <a:spLocks noGrp="1"/>
          </p:cNvSpPr>
          <p:nvPr>
            <p:ph type="sldNum" sz="quarter" idx="5"/>
          </p:nvPr>
        </p:nvSpPr>
        <p:spPr/>
        <p:txBody>
          <a:bodyPr/>
          <a:lstStyle/>
          <a:p>
            <a:fld id="{95EA3C21-6BEB-474C-8971-C7F616E1F318}" type="slidenum">
              <a:rPr lang="en-IN" smtClean="0"/>
              <a:t>25</a:t>
            </a:fld>
            <a:endParaRPr lang="en-IN"/>
          </a:p>
        </p:txBody>
      </p:sp>
    </p:spTree>
    <p:extLst>
      <p:ext uri="{BB962C8B-B14F-4D97-AF65-F5344CB8AC3E}">
        <p14:creationId xmlns:p14="http://schemas.microsoft.com/office/powerpoint/2010/main" val="18135851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3C6C7-B99E-208A-AAD6-26A46E73D4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B06229-F4AA-0157-6858-82A35F0C63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89CFD-223D-C1DD-E401-E98A477895D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3B547FB-E65B-D047-DE79-2C0E5495AA8F}"/>
              </a:ext>
            </a:extLst>
          </p:cNvPr>
          <p:cNvSpPr>
            <a:spLocks noGrp="1"/>
          </p:cNvSpPr>
          <p:nvPr>
            <p:ph type="sldNum" sz="quarter" idx="5"/>
          </p:nvPr>
        </p:nvSpPr>
        <p:spPr/>
        <p:txBody>
          <a:bodyPr/>
          <a:lstStyle/>
          <a:p>
            <a:fld id="{95EA3C21-6BEB-474C-8971-C7F616E1F318}" type="slidenum">
              <a:rPr lang="en-IN" smtClean="0"/>
              <a:t>26</a:t>
            </a:fld>
            <a:endParaRPr lang="en-IN"/>
          </a:p>
        </p:txBody>
      </p:sp>
    </p:spTree>
    <p:extLst>
      <p:ext uri="{BB962C8B-B14F-4D97-AF65-F5344CB8AC3E}">
        <p14:creationId xmlns:p14="http://schemas.microsoft.com/office/powerpoint/2010/main" val="2224237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8FB85-8DC8-FA3B-76FE-31DD00569B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A8CFAE-669C-29D4-A982-2EC648C053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38C6EE-15B4-B0FF-83EF-30424ED79F0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28BEABA-E272-C90C-C214-00D82F3EB12A}"/>
              </a:ext>
            </a:extLst>
          </p:cNvPr>
          <p:cNvSpPr>
            <a:spLocks noGrp="1"/>
          </p:cNvSpPr>
          <p:nvPr>
            <p:ph type="sldNum" sz="quarter" idx="5"/>
          </p:nvPr>
        </p:nvSpPr>
        <p:spPr/>
        <p:txBody>
          <a:bodyPr/>
          <a:lstStyle/>
          <a:p>
            <a:fld id="{95EA3C21-6BEB-474C-8971-C7F616E1F318}" type="slidenum">
              <a:rPr lang="en-IN" smtClean="0"/>
              <a:t>27</a:t>
            </a:fld>
            <a:endParaRPr lang="en-IN"/>
          </a:p>
        </p:txBody>
      </p:sp>
    </p:spTree>
    <p:extLst>
      <p:ext uri="{BB962C8B-B14F-4D97-AF65-F5344CB8AC3E}">
        <p14:creationId xmlns:p14="http://schemas.microsoft.com/office/powerpoint/2010/main" val="17875817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96BB6-DF2F-2197-4DA8-D1A8BF3BBF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A881CB-9008-C236-488A-A543B1318B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A7523D-4247-1238-B2A1-34A2DC7F305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79FFF7D-5C72-B8CD-4E61-53710D6183CD}"/>
              </a:ext>
            </a:extLst>
          </p:cNvPr>
          <p:cNvSpPr>
            <a:spLocks noGrp="1"/>
          </p:cNvSpPr>
          <p:nvPr>
            <p:ph type="sldNum" sz="quarter" idx="5"/>
          </p:nvPr>
        </p:nvSpPr>
        <p:spPr/>
        <p:txBody>
          <a:bodyPr/>
          <a:lstStyle/>
          <a:p>
            <a:fld id="{95EA3C21-6BEB-474C-8971-C7F616E1F318}" type="slidenum">
              <a:rPr lang="en-IN" smtClean="0"/>
              <a:t>28</a:t>
            </a:fld>
            <a:endParaRPr lang="en-IN"/>
          </a:p>
        </p:txBody>
      </p:sp>
    </p:spTree>
    <p:extLst>
      <p:ext uri="{BB962C8B-B14F-4D97-AF65-F5344CB8AC3E}">
        <p14:creationId xmlns:p14="http://schemas.microsoft.com/office/powerpoint/2010/main" val="3065698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A01A4-DB6A-7544-8C46-3F3ACFBFA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AAD7C7-DAEA-F0CB-90D5-0EF819D78F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7085B4-C010-BC7F-6605-92DCB826BE4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4A1AC49-C169-5AF2-37C2-AAEFCA6982D7}"/>
              </a:ext>
            </a:extLst>
          </p:cNvPr>
          <p:cNvSpPr>
            <a:spLocks noGrp="1"/>
          </p:cNvSpPr>
          <p:nvPr>
            <p:ph type="sldNum" sz="quarter" idx="5"/>
          </p:nvPr>
        </p:nvSpPr>
        <p:spPr/>
        <p:txBody>
          <a:bodyPr/>
          <a:lstStyle/>
          <a:p>
            <a:fld id="{95EA3C21-6BEB-474C-8971-C7F616E1F318}" type="slidenum">
              <a:rPr lang="en-IN" smtClean="0"/>
              <a:t>29</a:t>
            </a:fld>
            <a:endParaRPr lang="en-IN"/>
          </a:p>
        </p:txBody>
      </p:sp>
    </p:spTree>
    <p:extLst>
      <p:ext uri="{BB962C8B-B14F-4D97-AF65-F5344CB8AC3E}">
        <p14:creationId xmlns:p14="http://schemas.microsoft.com/office/powerpoint/2010/main" val="35985204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D9287-58D1-815B-D29C-5EEE3AF01E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367D1F-AD39-1C60-F7DE-E66A3BFFCE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FD75C4-5A5C-B971-5DD7-C07C501D05B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2417371-48CE-F49D-3B7C-BA0B57B64B32}"/>
              </a:ext>
            </a:extLst>
          </p:cNvPr>
          <p:cNvSpPr>
            <a:spLocks noGrp="1"/>
          </p:cNvSpPr>
          <p:nvPr>
            <p:ph type="sldNum" sz="quarter" idx="5"/>
          </p:nvPr>
        </p:nvSpPr>
        <p:spPr/>
        <p:txBody>
          <a:bodyPr/>
          <a:lstStyle/>
          <a:p>
            <a:fld id="{95EA3C21-6BEB-474C-8971-C7F616E1F318}" type="slidenum">
              <a:rPr lang="en-IN" smtClean="0"/>
              <a:t>30</a:t>
            </a:fld>
            <a:endParaRPr lang="en-IN"/>
          </a:p>
        </p:txBody>
      </p:sp>
    </p:spTree>
    <p:extLst>
      <p:ext uri="{BB962C8B-B14F-4D97-AF65-F5344CB8AC3E}">
        <p14:creationId xmlns:p14="http://schemas.microsoft.com/office/powerpoint/2010/main" val="18784110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EF63A-8A0E-B221-2D3E-73B050847D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0E806-8BE8-5DA8-B182-3F38941B64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40561B-EB31-1BD0-823E-FAD1255A4F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3D7FD5E-0B9C-D52E-C2A4-4DA290E2BAAC}"/>
              </a:ext>
            </a:extLst>
          </p:cNvPr>
          <p:cNvSpPr>
            <a:spLocks noGrp="1"/>
          </p:cNvSpPr>
          <p:nvPr>
            <p:ph type="sldNum" sz="quarter" idx="5"/>
          </p:nvPr>
        </p:nvSpPr>
        <p:spPr/>
        <p:txBody>
          <a:bodyPr/>
          <a:lstStyle/>
          <a:p>
            <a:fld id="{95EA3C21-6BEB-474C-8971-C7F616E1F318}" type="slidenum">
              <a:rPr lang="en-IN" smtClean="0"/>
              <a:t>31</a:t>
            </a:fld>
            <a:endParaRPr lang="en-IN"/>
          </a:p>
        </p:txBody>
      </p:sp>
    </p:spTree>
    <p:extLst>
      <p:ext uri="{BB962C8B-B14F-4D97-AF65-F5344CB8AC3E}">
        <p14:creationId xmlns:p14="http://schemas.microsoft.com/office/powerpoint/2010/main" val="26858120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689C7-37FC-3305-0DF4-F81700F2C0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ECE98CD-39AE-5D08-994C-7777FC9921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D0148D7-A18E-5793-53DC-C8BE1BA6F95A}"/>
              </a:ext>
            </a:extLst>
          </p:cNvPr>
          <p:cNvSpPr>
            <a:spLocks noGrp="1"/>
          </p:cNvSpPr>
          <p:nvPr>
            <p:ph type="dt" sz="half" idx="10"/>
          </p:nvPr>
        </p:nvSpPr>
        <p:spPr/>
        <p:txBody>
          <a:bodyPr/>
          <a:lstStyle/>
          <a:p>
            <a:fld id="{3364BF8B-6996-4623-9711-4CC443F43A4E}" type="datetimeFigureOut">
              <a:rPr lang="en-IN" smtClean="0"/>
              <a:t>21-04-2025</a:t>
            </a:fld>
            <a:endParaRPr lang="en-IN"/>
          </a:p>
        </p:txBody>
      </p:sp>
      <p:sp>
        <p:nvSpPr>
          <p:cNvPr id="5" name="Footer Placeholder 4">
            <a:extLst>
              <a:ext uri="{FF2B5EF4-FFF2-40B4-BE49-F238E27FC236}">
                <a16:creationId xmlns:a16="http://schemas.microsoft.com/office/drawing/2014/main" id="{F5334E87-B4F3-7448-10B1-A44CABAE15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693B4E-49F7-C22C-EA4D-7652092504EC}"/>
              </a:ext>
            </a:extLst>
          </p:cNvPr>
          <p:cNvSpPr>
            <a:spLocks noGrp="1"/>
          </p:cNvSpPr>
          <p:nvPr>
            <p:ph type="sldNum" sz="quarter" idx="12"/>
          </p:nvPr>
        </p:nvSpPr>
        <p:spPr/>
        <p:txBody>
          <a:bodyPr/>
          <a:lstStyle/>
          <a:p>
            <a:fld id="{6CB195D2-E972-44C1-9426-A26D7F126B2A}" type="slidenum">
              <a:rPr lang="en-IN" smtClean="0"/>
              <a:t>‹#›</a:t>
            </a:fld>
            <a:endParaRPr lang="en-IN"/>
          </a:p>
        </p:txBody>
      </p:sp>
    </p:spTree>
    <p:extLst>
      <p:ext uri="{BB962C8B-B14F-4D97-AF65-F5344CB8AC3E}">
        <p14:creationId xmlns:p14="http://schemas.microsoft.com/office/powerpoint/2010/main" val="3849429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3E798-D41F-0462-B5CA-E1CECFA908B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703516-5514-37FF-7A94-EEDB6E625F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39242B-D5AF-C7BC-2C79-C5FE0F304739}"/>
              </a:ext>
            </a:extLst>
          </p:cNvPr>
          <p:cNvSpPr>
            <a:spLocks noGrp="1"/>
          </p:cNvSpPr>
          <p:nvPr>
            <p:ph type="dt" sz="half" idx="10"/>
          </p:nvPr>
        </p:nvSpPr>
        <p:spPr/>
        <p:txBody>
          <a:bodyPr/>
          <a:lstStyle/>
          <a:p>
            <a:fld id="{3364BF8B-6996-4623-9711-4CC443F43A4E}" type="datetimeFigureOut">
              <a:rPr lang="en-IN" smtClean="0"/>
              <a:t>21-04-2025</a:t>
            </a:fld>
            <a:endParaRPr lang="en-IN"/>
          </a:p>
        </p:txBody>
      </p:sp>
      <p:sp>
        <p:nvSpPr>
          <p:cNvPr id="5" name="Footer Placeholder 4">
            <a:extLst>
              <a:ext uri="{FF2B5EF4-FFF2-40B4-BE49-F238E27FC236}">
                <a16:creationId xmlns:a16="http://schemas.microsoft.com/office/drawing/2014/main" id="{CFEECE3B-537C-E3CB-445B-AB948947B8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0541E8-C39F-DC1F-DA54-50F92DE79E1F}"/>
              </a:ext>
            </a:extLst>
          </p:cNvPr>
          <p:cNvSpPr>
            <a:spLocks noGrp="1"/>
          </p:cNvSpPr>
          <p:nvPr>
            <p:ph type="sldNum" sz="quarter" idx="12"/>
          </p:nvPr>
        </p:nvSpPr>
        <p:spPr/>
        <p:txBody>
          <a:bodyPr/>
          <a:lstStyle/>
          <a:p>
            <a:fld id="{6CB195D2-E972-44C1-9426-A26D7F126B2A}" type="slidenum">
              <a:rPr lang="en-IN" smtClean="0"/>
              <a:t>‹#›</a:t>
            </a:fld>
            <a:endParaRPr lang="en-IN"/>
          </a:p>
        </p:txBody>
      </p:sp>
    </p:spTree>
    <p:extLst>
      <p:ext uri="{BB962C8B-B14F-4D97-AF65-F5344CB8AC3E}">
        <p14:creationId xmlns:p14="http://schemas.microsoft.com/office/powerpoint/2010/main" val="3712195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45645-0BA2-E324-B1ED-87954F3F1B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6CF5AD1-73E1-5380-DC17-6BFC3E83C21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B6B082-3754-0369-BF3D-ECED4502D61F}"/>
              </a:ext>
            </a:extLst>
          </p:cNvPr>
          <p:cNvSpPr>
            <a:spLocks noGrp="1"/>
          </p:cNvSpPr>
          <p:nvPr>
            <p:ph type="dt" sz="half" idx="10"/>
          </p:nvPr>
        </p:nvSpPr>
        <p:spPr/>
        <p:txBody>
          <a:bodyPr/>
          <a:lstStyle/>
          <a:p>
            <a:fld id="{3364BF8B-6996-4623-9711-4CC443F43A4E}" type="datetimeFigureOut">
              <a:rPr lang="en-IN" smtClean="0"/>
              <a:t>21-04-2025</a:t>
            </a:fld>
            <a:endParaRPr lang="en-IN"/>
          </a:p>
        </p:txBody>
      </p:sp>
      <p:sp>
        <p:nvSpPr>
          <p:cNvPr id="5" name="Footer Placeholder 4">
            <a:extLst>
              <a:ext uri="{FF2B5EF4-FFF2-40B4-BE49-F238E27FC236}">
                <a16:creationId xmlns:a16="http://schemas.microsoft.com/office/drawing/2014/main" id="{0A11D67C-1B97-3F3B-C650-F0EFFB4E0B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557D7E-AAD4-F9CF-419C-97A7614E2B65}"/>
              </a:ext>
            </a:extLst>
          </p:cNvPr>
          <p:cNvSpPr>
            <a:spLocks noGrp="1"/>
          </p:cNvSpPr>
          <p:nvPr>
            <p:ph type="sldNum" sz="quarter" idx="12"/>
          </p:nvPr>
        </p:nvSpPr>
        <p:spPr/>
        <p:txBody>
          <a:bodyPr/>
          <a:lstStyle/>
          <a:p>
            <a:fld id="{6CB195D2-E972-44C1-9426-A26D7F126B2A}" type="slidenum">
              <a:rPr lang="en-IN" smtClean="0"/>
              <a:t>‹#›</a:t>
            </a:fld>
            <a:endParaRPr lang="en-IN"/>
          </a:p>
        </p:txBody>
      </p:sp>
    </p:spTree>
    <p:extLst>
      <p:ext uri="{BB962C8B-B14F-4D97-AF65-F5344CB8AC3E}">
        <p14:creationId xmlns:p14="http://schemas.microsoft.com/office/powerpoint/2010/main" val="1212321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66642-D0FB-67F9-6F7C-FC3251C89C0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8B94B2-C61C-5FB7-13B5-2346B557EB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CF882AF-BBDE-DDE3-4A51-201D724889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DC5164C-A3EF-8713-4513-A3E7C0AD3ED1}"/>
              </a:ext>
            </a:extLst>
          </p:cNvPr>
          <p:cNvSpPr>
            <a:spLocks noGrp="1"/>
          </p:cNvSpPr>
          <p:nvPr>
            <p:ph type="dt" sz="half" idx="10"/>
          </p:nvPr>
        </p:nvSpPr>
        <p:spPr/>
        <p:txBody>
          <a:bodyPr/>
          <a:lstStyle/>
          <a:p>
            <a:fld id="{3364BF8B-6996-4623-9711-4CC443F43A4E}" type="datetimeFigureOut">
              <a:rPr lang="en-IN" smtClean="0"/>
              <a:t>21-04-2025</a:t>
            </a:fld>
            <a:endParaRPr lang="en-IN"/>
          </a:p>
        </p:txBody>
      </p:sp>
      <p:sp>
        <p:nvSpPr>
          <p:cNvPr id="6" name="Footer Placeholder 5">
            <a:extLst>
              <a:ext uri="{FF2B5EF4-FFF2-40B4-BE49-F238E27FC236}">
                <a16:creationId xmlns:a16="http://schemas.microsoft.com/office/drawing/2014/main" id="{2A6B9A60-833B-32FE-73EF-B1C4CD76D7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06C689-D5EA-BAF5-C29C-A996E313E938}"/>
              </a:ext>
            </a:extLst>
          </p:cNvPr>
          <p:cNvSpPr>
            <a:spLocks noGrp="1"/>
          </p:cNvSpPr>
          <p:nvPr>
            <p:ph type="sldNum" sz="quarter" idx="12"/>
          </p:nvPr>
        </p:nvSpPr>
        <p:spPr/>
        <p:txBody>
          <a:bodyPr/>
          <a:lstStyle/>
          <a:p>
            <a:fld id="{6CB195D2-E972-44C1-9426-A26D7F126B2A}" type="slidenum">
              <a:rPr lang="en-IN" smtClean="0"/>
              <a:t>‹#›</a:t>
            </a:fld>
            <a:endParaRPr lang="en-IN"/>
          </a:p>
        </p:txBody>
      </p:sp>
    </p:spTree>
    <p:extLst>
      <p:ext uri="{BB962C8B-B14F-4D97-AF65-F5344CB8AC3E}">
        <p14:creationId xmlns:p14="http://schemas.microsoft.com/office/powerpoint/2010/main" val="2166862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BD154-18E3-246B-FC9D-3C09F019056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DBE224-4012-2A08-2264-FEE536F50D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F14E84-759D-3F2E-63A5-056C7CF0F0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B266A61-B2BE-FEE9-1409-DE0AC34F2F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F65D65-1CD2-3611-1884-0FB7491475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FE3C155-5D44-8C38-C8C1-7D93DCD1C15E}"/>
              </a:ext>
            </a:extLst>
          </p:cNvPr>
          <p:cNvSpPr>
            <a:spLocks noGrp="1"/>
          </p:cNvSpPr>
          <p:nvPr>
            <p:ph type="dt" sz="half" idx="10"/>
          </p:nvPr>
        </p:nvSpPr>
        <p:spPr/>
        <p:txBody>
          <a:bodyPr/>
          <a:lstStyle/>
          <a:p>
            <a:fld id="{3364BF8B-6996-4623-9711-4CC443F43A4E}" type="datetimeFigureOut">
              <a:rPr lang="en-IN" smtClean="0"/>
              <a:t>21-04-2025</a:t>
            </a:fld>
            <a:endParaRPr lang="en-IN"/>
          </a:p>
        </p:txBody>
      </p:sp>
      <p:sp>
        <p:nvSpPr>
          <p:cNvPr id="8" name="Footer Placeholder 7">
            <a:extLst>
              <a:ext uri="{FF2B5EF4-FFF2-40B4-BE49-F238E27FC236}">
                <a16:creationId xmlns:a16="http://schemas.microsoft.com/office/drawing/2014/main" id="{68649C62-D396-6AA9-19B5-3535EF592F7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18E3FE2-D90E-ADEC-E5A3-169F91DBAF1C}"/>
              </a:ext>
            </a:extLst>
          </p:cNvPr>
          <p:cNvSpPr>
            <a:spLocks noGrp="1"/>
          </p:cNvSpPr>
          <p:nvPr>
            <p:ph type="sldNum" sz="quarter" idx="12"/>
          </p:nvPr>
        </p:nvSpPr>
        <p:spPr/>
        <p:txBody>
          <a:bodyPr/>
          <a:lstStyle/>
          <a:p>
            <a:fld id="{6CB195D2-E972-44C1-9426-A26D7F126B2A}" type="slidenum">
              <a:rPr lang="en-IN" smtClean="0"/>
              <a:t>‹#›</a:t>
            </a:fld>
            <a:endParaRPr lang="en-IN"/>
          </a:p>
        </p:txBody>
      </p:sp>
    </p:spTree>
    <p:extLst>
      <p:ext uri="{BB962C8B-B14F-4D97-AF65-F5344CB8AC3E}">
        <p14:creationId xmlns:p14="http://schemas.microsoft.com/office/powerpoint/2010/main" val="2139601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75CEE-E4DF-CDED-BA7A-C21F057B629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68CE6A8-8E22-1272-903B-535794208379}"/>
              </a:ext>
            </a:extLst>
          </p:cNvPr>
          <p:cNvSpPr>
            <a:spLocks noGrp="1"/>
          </p:cNvSpPr>
          <p:nvPr>
            <p:ph type="dt" sz="half" idx="10"/>
          </p:nvPr>
        </p:nvSpPr>
        <p:spPr/>
        <p:txBody>
          <a:bodyPr/>
          <a:lstStyle/>
          <a:p>
            <a:fld id="{3364BF8B-6996-4623-9711-4CC443F43A4E}" type="datetimeFigureOut">
              <a:rPr lang="en-IN" smtClean="0"/>
              <a:t>21-04-2025</a:t>
            </a:fld>
            <a:endParaRPr lang="en-IN"/>
          </a:p>
        </p:txBody>
      </p:sp>
      <p:sp>
        <p:nvSpPr>
          <p:cNvPr id="4" name="Footer Placeholder 3">
            <a:extLst>
              <a:ext uri="{FF2B5EF4-FFF2-40B4-BE49-F238E27FC236}">
                <a16:creationId xmlns:a16="http://schemas.microsoft.com/office/drawing/2014/main" id="{E56AC052-BFFE-C2E7-EBAC-01671C6E7F3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AEB5C70-12C6-6FF2-8EF0-709D2692D726}"/>
              </a:ext>
            </a:extLst>
          </p:cNvPr>
          <p:cNvSpPr>
            <a:spLocks noGrp="1"/>
          </p:cNvSpPr>
          <p:nvPr>
            <p:ph type="sldNum" sz="quarter" idx="12"/>
          </p:nvPr>
        </p:nvSpPr>
        <p:spPr/>
        <p:txBody>
          <a:bodyPr/>
          <a:lstStyle/>
          <a:p>
            <a:fld id="{6CB195D2-E972-44C1-9426-A26D7F126B2A}" type="slidenum">
              <a:rPr lang="en-IN" smtClean="0"/>
              <a:t>‹#›</a:t>
            </a:fld>
            <a:endParaRPr lang="en-IN"/>
          </a:p>
        </p:txBody>
      </p:sp>
    </p:spTree>
    <p:extLst>
      <p:ext uri="{BB962C8B-B14F-4D97-AF65-F5344CB8AC3E}">
        <p14:creationId xmlns:p14="http://schemas.microsoft.com/office/powerpoint/2010/main" val="2512662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7B3B37-8853-A5AB-CD6C-B0BD167B9191}"/>
              </a:ext>
            </a:extLst>
          </p:cNvPr>
          <p:cNvSpPr>
            <a:spLocks noGrp="1"/>
          </p:cNvSpPr>
          <p:nvPr>
            <p:ph type="dt" sz="half" idx="10"/>
          </p:nvPr>
        </p:nvSpPr>
        <p:spPr/>
        <p:txBody>
          <a:bodyPr/>
          <a:lstStyle/>
          <a:p>
            <a:fld id="{3364BF8B-6996-4623-9711-4CC443F43A4E}" type="datetimeFigureOut">
              <a:rPr lang="en-IN" smtClean="0"/>
              <a:t>21-04-2025</a:t>
            </a:fld>
            <a:endParaRPr lang="en-IN"/>
          </a:p>
        </p:txBody>
      </p:sp>
      <p:sp>
        <p:nvSpPr>
          <p:cNvPr id="3" name="Footer Placeholder 2">
            <a:extLst>
              <a:ext uri="{FF2B5EF4-FFF2-40B4-BE49-F238E27FC236}">
                <a16:creationId xmlns:a16="http://schemas.microsoft.com/office/drawing/2014/main" id="{7C47C28A-E9D9-0582-571C-986D400CD33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4F39683-E18D-6063-45C3-2ABF5D37A5B7}"/>
              </a:ext>
            </a:extLst>
          </p:cNvPr>
          <p:cNvSpPr>
            <a:spLocks noGrp="1"/>
          </p:cNvSpPr>
          <p:nvPr>
            <p:ph type="sldNum" sz="quarter" idx="12"/>
          </p:nvPr>
        </p:nvSpPr>
        <p:spPr/>
        <p:txBody>
          <a:bodyPr/>
          <a:lstStyle/>
          <a:p>
            <a:fld id="{6CB195D2-E972-44C1-9426-A26D7F126B2A}" type="slidenum">
              <a:rPr lang="en-IN" smtClean="0"/>
              <a:t>‹#›</a:t>
            </a:fld>
            <a:endParaRPr lang="en-IN"/>
          </a:p>
        </p:txBody>
      </p:sp>
    </p:spTree>
    <p:extLst>
      <p:ext uri="{BB962C8B-B14F-4D97-AF65-F5344CB8AC3E}">
        <p14:creationId xmlns:p14="http://schemas.microsoft.com/office/powerpoint/2010/main" val="3128616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12932-C92C-F31D-9CCA-B0EADB3F3E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7EE2631-504F-3859-4457-0D32FACA4C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EEDCDD2-9478-3848-16AD-43A9287AF1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D52993-28F9-6BC0-B9CF-6BFBBD75A7EB}"/>
              </a:ext>
            </a:extLst>
          </p:cNvPr>
          <p:cNvSpPr>
            <a:spLocks noGrp="1"/>
          </p:cNvSpPr>
          <p:nvPr>
            <p:ph type="dt" sz="half" idx="10"/>
          </p:nvPr>
        </p:nvSpPr>
        <p:spPr/>
        <p:txBody>
          <a:bodyPr/>
          <a:lstStyle/>
          <a:p>
            <a:fld id="{3364BF8B-6996-4623-9711-4CC443F43A4E}" type="datetimeFigureOut">
              <a:rPr lang="en-IN" smtClean="0"/>
              <a:t>21-04-2025</a:t>
            </a:fld>
            <a:endParaRPr lang="en-IN"/>
          </a:p>
        </p:txBody>
      </p:sp>
      <p:sp>
        <p:nvSpPr>
          <p:cNvPr id="6" name="Footer Placeholder 5">
            <a:extLst>
              <a:ext uri="{FF2B5EF4-FFF2-40B4-BE49-F238E27FC236}">
                <a16:creationId xmlns:a16="http://schemas.microsoft.com/office/drawing/2014/main" id="{3038FE56-1F85-5CB3-55FE-ADC1E47AA6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F88567-8A79-E788-9A4C-C9F1194F5B09}"/>
              </a:ext>
            </a:extLst>
          </p:cNvPr>
          <p:cNvSpPr>
            <a:spLocks noGrp="1"/>
          </p:cNvSpPr>
          <p:nvPr>
            <p:ph type="sldNum" sz="quarter" idx="12"/>
          </p:nvPr>
        </p:nvSpPr>
        <p:spPr/>
        <p:txBody>
          <a:bodyPr/>
          <a:lstStyle/>
          <a:p>
            <a:fld id="{6CB195D2-E972-44C1-9426-A26D7F126B2A}" type="slidenum">
              <a:rPr lang="en-IN" smtClean="0"/>
              <a:t>‹#›</a:t>
            </a:fld>
            <a:endParaRPr lang="en-IN"/>
          </a:p>
        </p:txBody>
      </p:sp>
    </p:spTree>
    <p:extLst>
      <p:ext uri="{BB962C8B-B14F-4D97-AF65-F5344CB8AC3E}">
        <p14:creationId xmlns:p14="http://schemas.microsoft.com/office/powerpoint/2010/main" val="1496252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648BD-4F06-C0DF-24BE-7AA156C112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48A637C-9254-2D12-2FEB-C7AE92A207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FE677B-F0F6-005B-C2FA-8B5F9D533D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D37BAA-A4A0-1452-5CF2-76BCF411B52E}"/>
              </a:ext>
            </a:extLst>
          </p:cNvPr>
          <p:cNvSpPr>
            <a:spLocks noGrp="1"/>
          </p:cNvSpPr>
          <p:nvPr>
            <p:ph type="dt" sz="half" idx="10"/>
          </p:nvPr>
        </p:nvSpPr>
        <p:spPr/>
        <p:txBody>
          <a:bodyPr/>
          <a:lstStyle/>
          <a:p>
            <a:fld id="{3364BF8B-6996-4623-9711-4CC443F43A4E}" type="datetimeFigureOut">
              <a:rPr lang="en-IN" smtClean="0"/>
              <a:t>21-04-2025</a:t>
            </a:fld>
            <a:endParaRPr lang="en-IN"/>
          </a:p>
        </p:txBody>
      </p:sp>
      <p:sp>
        <p:nvSpPr>
          <p:cNvPr id="6" name="Footer Placeholder 5">
            <a:extLst>
              <a:ext uri="{FF2B5EF4-FFF2-40B4-BE49-F238E27FC236}">
                <a16:creationId xmlns:a16="http://schemas.microsoft.com/office/drawing/2014/main" id="{3CB37311-B972-ABB9-122B-BEA3B332091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E22350-E9F3-04B4-D9F4-D1DDEA2CCB3D}"/>
              </a:ext>
            </a:extLst>
          </p:cNvPr>
          <p:cNvSpPr>
            <a:spLocks noGrp="1"/>
          </p:cNvSpPr>
          <p:nvPr>
            <p:ph type="sldNum" sz="quarter" idx="12"/>
          </p:nvPr>
        </p:nvSpPr>
        <p:spPr/>
        <p:txBody>
          <a:bodyPr/>
          <a:lstStyle/>
          <a:p>
            <a:fld id="{6CB195D2-E972-44C1-9426-A26D7F126B2A}" type="slidenum">
              <a:rPr lang="en-IN" smtClean="0"/>
              <a:t>‹#›</a:t>
            </a:fld>
            <a:endParaRPr lang="en-IN"/>
          </a:p>
        </p:txBody>
      </p:sp>
    </p:spTree>
    <p:extLst>
      <p:ext uri="{BB962C8B-B14F-4D97-AF65-F5344CB8AC3E}">
        <p14:creationId xmlns:p14="http://schemas.microsoft.com/office/powerpoint/2010/main" val="1887990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01A09-0F06-1759-B97B-50A79F0279C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439FB13-0F93-31FB-BBD4-BA2B1B1D80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42D730-9946-F377-6F46-AB276CB3D800}"/>
              </a:ext>
            </a:extLst>
          </p:cNvPr>
          <p:cNvSpPr>
            <a:spLocks noGrp="1"/>
          </p:cNvSpPr>
          <p:nvPr>
            <p:ph type="dt" sz="half" idx="10"/>
          </p:nvPr>
        </p:nvSpPr>
        <p:spPr/>
        <p:txBody>
          <a:bodyPr/>
          <a:lstStyle/>
          <a:p>
            <a:fld id="{3364BF8B-6996-4623-9711-4CC443F43A4E}" type="datetimeFigureOut">
              <a:rPr lang="en-IN" smtClean="0"/>
              <a:t>21-04-2025</a:t>
            </a:fld>
            <a:endParaRPr lang="en-IN"/>
          </a:p>
        </p:txBody>
      </p:sp>
      <p:sp>
        <p:nvSpPr>
          <p:cNvPr id="5" name="Footer Placeholder 4">
            <a:extLst>
              <a:ext uri="{FF2B5EF4-FFF2-40B4-BE49-F238E27FC236}">
                <a16:creationId xmlns:a16="http://schemas.microsoft.com/office/drawing/2014/main" id="{41B75B73-89E5-7E75-B58C-832F43FFEE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59B6C2-AA72-4737-299E-7F6F9425E161}"/>
              </a:ext>
            </a:extLst>
          </p:cNvPr>
          <p:cNvSpPr>
            <a:spLocks noGrp="1"/>
          </p:cNvSpPr>
          <p:nvPr>
            <p:ph type="sldNum" sz="quarter" idx="12"/>
          </p:nvPr>
        </p:nvSpPr>
        <p:spPr/>
        <p:txBody>
          <a:bodyPr/>
          <a:lstStyle/>
          <a:p>
            <a:fld id="{6CB195D2-E972-44C1-9426-A26D7F126B2A}" type="slidenum">
              <a:rPr lang="en-IN" smtClean="0"/>
              <a:t>‹#›</a:t>
            </a:fld>
            <a:endParaRPr lang="en-IN"/>
          </a:p>
        </p:txBody>
      </p:sp>
    </p:spTree>
    <p:extLst>
      <p:ext uri="{BB962C8B-B14F-4D97-AF65-F5344CB8AC3E}">
        <p14:creationId xmlns:p14="http://schemas.microsoft.com/office/powerpoint/2010/main" val="3870955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F9D568-69DE-AC79-41BB-9F580667A27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6DC9318-ECAD-6527-3E14-5142E83130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7511CD-17FE-42B7-2300-604C3CD54F56}"/>
              </a:ext>
            </a:extLst>
          </p:cNvPr>
          <p:cNvSpPr>
            <a:spLocks noGrp="1"/>
          </p:cNvSpPr>
          <p:nvPr>
            <p:ph type="dt" sz="half" idx="10"/>
          </p:nvPr>
        </p:nvSpPr>
        <p:spPr/>
        <p:txBody>
          <a:bodyPr/>
          <a:lstStyle/>
          <a:p>
            <a:fld id="{3364BF8B-6996-4623-9711-4CC443F43A4E}" type="datetimeFigureOut">
              <a:rPr lang="en-IN" smtClean="0"/>
              <a:t>21-04-2025</a:t>
            </a:fld>
            <a:endParaRPr lang="en-IN"/>
          </a:p>
        </p:txBody>
      </p:sp>
      <p:sp>
        <p:nvSpPr>
          <p:cNvPr id="5" name="Footer Placeholder 4">
            <a:extLst>
              <a:ext uri="{FF2B5EF4-FFF2-40B4-BE49-F238E27FC236}">
                <a16:creationId xmlns:a16="http://schemas.microsoft.com/office/drawing/2014/main" id="{66127FAD-C4B8-7ADD-F505-EF22B4C2D9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8B62CB-8A10-6F89-5180-B6DDB6B29E50}"/>
              </a:ext>
            </a:extLst>
          </p:cNvPr>
          <p:cNvSpPr>
            <a:spLocks noGrp="1"/>
          </p:cNvSpPr>
          <p:nvPr>
            <p:ph type="sldNum" sz="quarter" idx="12"/>
          </p:nvPr>
        </p:nvSpPr>
        <p:spPr/>
        <p:txBody>
          <a:bodyPr/>
          <a:lstStyle/>
          <a:p>
            <a:fld id="{6CB195D2-E972-44C1-9426-A26D7F126B2A}" type="slidenum">
              <a:rPr lang="en-IN" smtClean="0"/>
              <a:t>‹#›</a:t>
            </a:fld>
            <a:endParaRPr lang="en-IN"/>
          </a:p>
        </p:txBody>
      </p:sp>
    </p:spTree>
    <p:extLst>
      <p:ext uri="{BB962C8B-B14F-4D97-AF65-F5344CB8AC3E}">
        <p14:creationId xmlns:p14="http://schemas.microsoft.com/office/powerpoint/2010/main" val="279681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62626"/>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60DF33-05B7-EEA8-65FE-FD12E135D7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F1B975-986B-C218-A9DB-BB48303764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88ABD2-3FA1-9CFE-8322-5EAAA65AD4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64BF8B-6996-4623-9711-4CC443F43A4E}" type="datetimeFigureOut">
              <a:rPr lang="en-IN" smtClean="0"/>
              <a:t>21-04-2025</a:t>
            </a:fld>
            <a:endParaRPr lang="en-IN"/>
          </a:p>
        </p:txBody>
      </p:sp>
      <p:sp>
        <p:nvSpPr>
          <p:cNvPr id="5" name="Footer Placeholder 4">
            <a:extLst>
              <a:ext uri="{FF2B5EF4-FFF2-40B4-BE49-F238E27FC236}">
                <a16:creationId xmlns:a16="http://schemas.microsoft.com/office/drawing/2014/main" id="{945E0C64-142B-0E5D-86DF-1D17A52593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871FA44-2651-9AA4-210F-503E61702A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B195D2-E972-44C1-9426-A26D7F126B2A}" type="slidenum">
              <a:rPr lang="en-IN" smtClean="0"/>
              <a:t>‹#›</a:t>
            </a:fld>
            <a:endParaRPr lang="en-IN"/>
          </a:p>
        </p:txBody>
      </p:sp>
    </p:spTree>
    <p:extLst>
      <p:ext uri="{BB962C8B-B14F-4D97-AF65-F5344CB8AC3E}">
        <p14:creationId xmlns:p14="http://schemas.microsoft.com/office/powerpoint/2010/main" val="21606985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microsoft.com/office/2007/relationships/hdphoto" Target="../media/hdphoto2.wdp"/></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microsoft.com/office/2007/relationships/hdphoto" Target="../media/hdphoto4.wdp"/><Relationship Id="rId5" Type="http://schemas.openxmlformats.org/officeDocument/2006/relationships/image" Target="../media/image33.png"/><Relationship Id="rId4" Type="http://schemas.microsoft.com/office/2007/relationships/hdphoto" Target="../media/hdphoto3.wdp"/></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chart" Target="../charts/chart1.xml"/><Relationship Id="rId4" Type="http://schemas.microsoft.com/office/2007/relationships/hdphoto" Target="../media/hdphoto5.wdp"/></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microsoft.com/office/2007/relationships/hdphoto" Target="../media/hdphoto8.wdp"/><Relationship Id="rId3" Type="http://schemas.openxmlformats.org/officeDocument/2006/relationships/image" Target="../media/image35.png"/><Relationship Id="rId7"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microsoft.com/office/2007/relationships/hdphoto" Target="../media/hdphoto7.wdp"/><Relationship Id="rId5" Type="http://schemas.openxmlformats.org/officeDocument/2006/relationships/image" Target="../media/image36.png"/><Relationship Id="rId4" Type="http://schemas.microsoft.com/office/2007/relationships/hdphoto" Target="../media/hdphoto6.wdp"/></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93833-4A6C-E1AD-240D-15C7B5E55CA1}"/>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00925DC-E010-B539-2700-6ED8BEEECE1A}"/>
              </a:ext>
            </a:extLst>
          </p:cNvPr>
          <p:cNvSpPr/>
          <p:nvPr/>
        </p:nvSpPr>
        <p:spPr>
          <a:xfrm>
            <a:off x="4847303" y="272248"/>
            <a:ext cx="2448232" cy="1497558"/>
          </a:xfrm>
          <a:prstGeom prst="roundRect">
            <a:avLst/>
          </a:prstGeom>
          <a:solidFill>
            <a:schemeClr val="bg2">
              <a:lumMod val="10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9BA7A9CF-5CF8-668C-4D61-2DD678E59D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2907" y="272248"/>
            <a:ext cx="1286185" cy="953365"/>
          </a:xfrm>
          <a:prstGeom prst="rect">
            <a:avLst/>
          </a:prstGeom>
          <a:ln>
            <a:noFill/>
          </a:ln>
        </p:spPr>
      </p:pic>
      <p:sp>
        <p:nvSpPr>
          <p:cNvPr id="5" name="TextBox 4">
            <a:extLst>
              <a:ext uri="{FF2B5EF4-FFF2-40B4-BE49-F238E27FC236}">
                <a16:creationId xmlns:a16="http://schemas.microsoft.com/office/drawing/2014/main" id="{A7C09D48-C8A3-E5F0-DAD2-0DBD7156DD1E}"/>
              </a:ext>
            </a:extLst>
          </p:cNvPr>
          <p:cNvSpPr txBox="1"/>
          <p:nvPr/>
        </p:nvSpPr>
        <p:spPr>
          <a:xfrm>
            <a:off x="3785151" y="1019136"/>
            <a:ext cx="4621695" cy="646331"/>
          </a:xfrm>
          <a:prstGeom prst="rect">
            <a:avLst/>
          </a:prstGeom>
          <a:noFill/>
        </p:spPr>
        <p:txBody>
          <a:bodyPr wrap="square" rtlCol="0">
            <a:spAutoFit/>
          </a:bodyPr>
          <a:lstStyle/>
          <a:p>
            <a:pPr algn="ctr"/>
            <a:r>
              <a:rPr lang="en-IN" sz="3600" b="1" dirty="0">
                <a:solidFill>
                  <a:srgbClr val="FFC000"/>
                </a:solidFill>
              </a:rPr>
              <a:t>Goodcabs</a:t>
            </a:r>
          </a:p>
        </p:txBody>
      </p:sp>
      <p:sp>
        <p:nvSpPr>
          <p:cNvPr id="2" name="TextBox 1">
            <a:extLst>
              <a:ext uri="{FF2B5EF4-FFF2-40B4-BE49-F238E27FC236}">
                <a16:creationId xmlns:a16="http://schemas.microsoft.com/office/drawing/2014/main" id="{86D1ECFC-DCF2-8348-08D1-0640272AEF62}"/>
              </a:ext>
            </a:extLst>
          </p:cNvPr>
          <p:cNvSpPr txBox="1"/>
          <p:nvPr/>
        </p:nvSpPr>
        <p:spPr>
          <a:xfrm>
            <a:off x="1474838" y="2828835"/>
            <a:ext cx="9527458" cy="1200329"/>
          </a:xfrm>
          <a:prstGeom prst="rect">
            <a:avLst/>
          </a:prstGeom>
          <a:noFill/>
        </p:spPr>
        <p:txBody>
          <a:bodyPr wrap="square" rtlCol="0">
            <a:spAutoFit/>
          </a:bodyPr>
          <a:lstStyle/>
          <a:p>
            <a:pPr algn="ctr"/>
            <a:r>
              <a:rPr lang="en-IN" sz="36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Provide Insights &amp; Performance Analysis in Transport Domain</a:t>
            </a:r>
          </a:p>
        </p:txBody>
      </p:sp>
      <p:sp>
        <p:nvSpPr>
          <p:cNvPr id="6" name="TextBox 5">
            <a:extLst>
              <a:ext uri="{FF2B5EF4-FFF2-40B4-BE49-F238E27FC236}">
                <a16:creationId xmlns:a16="http://schemas.microsoft.com/office/drawing/2014/main" id="{79E77F2E-29BA-1B86-E74C-234F404B8D6D}"/>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1305595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D8842-2318-914A-7489-E903CE0533D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A2B94B3-8FFD-FDDF-CF46-3A892B35CE4A}"/>
              </a:ext>
            </a:extLst>
          </p:cNvPr>
          <p:cNvSpPr txBox="1"/>
          <p:nvPr/>
        </p:nvSpPr>
        <p:spPr>
          <a:xfrm>
            <a:off x="1602657" y="1189531"/>
            <a:ext cx="9527458" cy="5196166"/>
          </a:xfrm>
          <a:prstGeom prst="rect">
            <a:avLst/>
          </a:prstGeom>
          <a:noFill/>
        </p:spPr>
        <p:txBody>
          <a:bodyPr wrap="square" rtlCol="0">
            <a:spAutoFit/>
          </a:bodyPr>
          <a:lstStyle/>
          <a:p>
            <a:pPr marL="571500" indent="-571500">
              <a:lnSpc>
                <a:spcPct val="150000"/>
              </a:lnSpc>
              <a:buFont typeface="Arial" panose="020B0604020202020204" pitchFamily="34" charset="0"/>
              <a:buChar char="•"/>
            </a:pPr>
            <a:r>
              <a:rPr lang="en-IN" sz="28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Problem Statement</a:t>
            </a:r>
          </a:p>
          <a:p>
            <a:pPr marL="571500" indent="-571500">
              <a:lnSpc>
                <a:spcPct val="150000"/>
              </a:lnSpc>
              <a:buFont typeface="Arial" panose="020B0604020202020204" pitchFamily="34" charset="0"/>
              <a:buChar char="•"/>
            </a:pPr>
            <a:r>
              <a:rPr lang="en-IN" sz="28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Objectives</a:t>
            </a:r>
          </a:p>
          <a:p>
            <a:pPr marL="571500" indent="-571500">
              <a:lnSpc>
                <a:spcPct val="150000"/>
              </a:lnSpc>
              <a:buFont typeface="Arial" panose="020B0604020202020204" pitchFamily="34" charset="0"/>
              <a:buChar char="•"/>
            </a:pPr>
            <a:r>
              <a:rPr lang="en-IN" sz="28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Data Model</a:t>
            </a:r>
          </a:p>
          <a:p>
            <a:pPr marL="571500" indent="-571500">
              <a:lnSpc>
                <a:spcPct val="150000"/>
              </a:lnSpc>
              <a:buFont typeface="Arial" panose="020B0604020202020204" pitchFamily="34" charset="0"/>
              <a:buChar char="•"/>
            </a:pPr>
            <a:r>
              <a:rPr lang="en-IN" sz="28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Dashboard Preview</a:t>
            </a:r>
          </a:p>
          <a:p>
            <a:pPr marL="571500" indent="-571500">
              <a:lnSpc>
                <a:spcPct val="150000"/>
              </a:lnSpc>
              <a:buFont typeface="Arial" panose="020B0604020202020204" pitchFamily="34" charset="0"/>
              <a:buChar char="•"/>
            </a:pPr>
            <a:r>
              <a:rPr lang="en-IN" sz="28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Ad-hoc Analysis</a:t>
            </a:r>
          </a:p>
          <a:p>
            <a:pPr marL="571500" indent="-571500">
              <a:lnSpc>
                <a:spcPct val="150000"/>
              </a:lnSpc>
              <a:buFont typeface="Arial" panose="020B0604020202020204" pitchFamily="34" charset="0"/>
              <a:buChar char="•"/>
            </a:pPr>
            <a:r>
              <a:rPr lang="en-IN" sz="28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Primary Analysis</a:t>
            </a:r>
          </a:p>
          <a:p>
            <a:pPr marL="571500" indent="-571500">
              <a:lnSpc>
                <a:spcPct val="150000"/>
              </a:lnSpc>
              <a:buFont typeface="Arial" panose="020B0604020202020204" pitchFamily="34" charset="0"/>
              <a:buChar char="•"/>
            </a:pPr>
            <a:r>
              <a:rPr lang="en-IN" sz="28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Further Analysis &amp; Recommendations</a:t>
            </a:r>
          </a:p>
          <a:p>
            <a:pPr marL="571500" indent="-571500">
              <a:lnSpc>
                <a:spcPct val="150000"/>
              </a:lnSpc>
              <a:buFont typeface="Arial" panose="020B0604020202020204" pitchFamily="34" charset="0"/>
              <a:buChar char="•"/>
            </a:pPr>
            <a:endParaRPr lang="en-IN" sz="28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F26306AC-4022-B17B-76A7-2387AB6E4174}"/>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
        <p:nvSpPr>
          <p:cNvPr id="7" name="Oval 6">
            <a:extLst>
              <a:ext uri="{FF2B5EF4-FFF2-40B4-BE49-F238E27FC236}">
                <a16:creationId xmlns:a16="http://schemas.microsoft.com/office/drawing/2014/main" id="{E60C5C62-1733-6457-A05E-9F6E83DC7388}"/>
              </a:ext>
            </a:extLst>
          </p:cNvPr>
          <p:cNvSpPr/>
          <p:nvPr/>
        </p:nvSpPr>
        <p:spPr>
          <a:xfrm>
            <a:off x="1700981" y="1524000"/>
            <a:ext cx="176980" cy="176981"/>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BC6E55BC-BDAB-7CCA-4122-0D21F6ED3E2A}"/>
              </a:ext>
            </a:extLst>
          </p:cNvPr>
          <p:cNvSpPr/>
          <p:nvPr/>
        </p:nvSpPr>
        <p:spPr>
          <a:xfrm>
            <a:off x="1700981" y="2158181"/>
            <a:ext cx="176980" cy="176981"/>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B6FC710F-2D47-FB0F-C5FC-DE89DD3B71A0}"/>
              </a:ext>
            </a:extLst>
          </p:cNvPr>
          <p:cNvSpPr/>
          <p:nvPr/>
        </p:nvSpPr>
        <p:spPr>
          <a:xfrm>
            <a:off x="1700981" y="2792362"/>
            <a:ext cx="176980" cy="176981"/>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EB3FB5DB-2145-50D3-6AA0-E08537BEE1A9}"/>
              </a:ext>
            </a:extLst>
          </p:cNvPr>
          <p:cNvSpPr/>
          <p:nvPr/>
        </p:nvSpPr>
        <p:spPr>
          <a:xfrm>
            <a:off x="1700981" y="3426543"/>
            <a:ext cx="176980" cy="176981"/>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011FA6F1-CEEE-61EA-2850-FEDECB3A9D43}"/>
              </a:ext>
            </a:extLst>
          </p:cNvPr>
          <p:cNvSpPr/>
          <p:nvPr/>
        </p:nvSpPr>
        <p:spPr>
          <a:xfrm>
            <a:off x="1700981" y="4060724"/>
            <a:ext cx="176980" cy="176981"/>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724A306B-AAE1-0D18-D930-EB164F390733}"/>
              </a:ext>
            </a:extLst>
          </p:cNvPr>
          <p:cNvSpPr/>
          <p:nvPr/>
        </p:nvSpPr>
        <p:spPr>
          <a:xfrm>
            <a:off x="1700981" y="4694905"/>
            <a:ext cx="176980" cy="176981"/>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ED11E170-C7F3-76A4-096A-9F6165763C40}"/>
              </a:ext>
            </a:extLst>
          </p:cNvPr>
          <p:cNvSpPr/>
          <p:nvPr/>
        </p:nvSpPr>
        <p:spPr>
          <a:xfrm>
            <a:off x="1700981" y="5363320"/>
            <a:ext cx="176980" cy="176981"/>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DB040402-2FED-D79F-C156-5D63840047D8}"/>
              </a:ext>
            </a:extLst>
          </p:cNvPr>
          <p:cNvSpPr txBox="1"/>
          <p:nvPr/>
        </p:nvSpPr>
        <p:spPr>
          <a:xfrm>
            <a:off x="0" y="179915"/>
            <a:ext cx="12192000" cy="584775"/>
          </a:xfrm>
          <a:prstGeom prst="rect">
            <a:avLst/>
          </a:prstGeom>
          <a:noFill/>
        </p:spPr>
        <p:txBody>
          <a:bodyPr wrap="square" rtlCol="0">
            <a:spAutoFit/>
          </a:bodyPr>
          <a:lstStyle/>
          <a:p>
            <a:pPr algn="ctr"/>
            <a:r>
              <a:rPr lang="en-IN" sz="3200" b="1" dirty="0">
                <a:solidFill>
                  <a:schemeClr val="accent4">
                    <a:lumMod val="75000"/>
                  </a:schemeClr>
                </a:solidFill>
                <a:latin typeface="Calibri" panose="020F0502020204030204" pitchFamily="34" charset="0"/>
                <a:ea typeface="Calibri" panose="020F0502020204030204" pitchFamily="34" charset="0"/>
                <a:cs typeface="Calibri" panose="020F0502020204030204" pitchFamily="34" charset="0"/>
              </a:rPr>
              <a:t>Agenda</a:t>
            </a:r>
          </a:p>
        </p:txBody>
      </p:sp>
    </p:spTree>
    <p:extLst>
      <p:ext uri="{BB962C8B-B14F-4D97-AF65-F5344CB8AC3E}">
        <p14:creationId xmlns:p14="http://schemas.microsoft.com/office/powerpoint/2010/main" val="2400660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EE8BA-72C9-9150-7CF1-DBBF5836609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9E28A04-04FA-2EDF-9F13-2E844C65DD9C}"/>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
        <p:nvSpPr>
          <p:cNvPr id="3" name="TextBox 2">
            <a:extLst>
              <a:ext uri="{FF2B5EF4-FFF2-40B4-BE49-F238E27FC236}">
                <a16:creationId xmlns:a16="http://schemas.microsoft.com/office/drawing/2014/main" id="{F52BAF9F-CB1E-1F02-3B83-E3EB157784E1}"/>
              </a:ext>
            </a:extLst>
          </p:cNvPr>
          <p:cNvSpPr txBox="1"/>
          <p:nvPr/>
        </p:nvSpPr>
        <p:spPr>
          <a:xfrm>
            <a:off x="0" y="179915"/>
            <a:ext cx="12192000" cy="584775"/>
          </a:xfrm>
          <a:prstGeom prst="rect">
            <a:avLst/>
          </a:prstGeom>
          <a:noFill/>
        </p:spPr>
        <p:txBody>
          <a:bodyPr wrap="square" rtlCol="0">
            <a:spAutoFit/>
          </a:bodyPr>
          <a:lstStyle/>
          <a:p>
            <a:pPr algn="ctr"/>
            <a:r>
              <a:rPr lang="en-IN" sz="3200" b="1" dirty="0">
                <a:solidFill>
                  <a:schemeClr val="accent4">
                    <a:lumMod val="75000"/>
                  </a:schemeClr>
                </a:solidFill>
                <a:latin typeface="Calibri" panose="020F0502020204030204" pitchFamily="34" charset="0"/>
                <a:ea typeface="Calibri" panose="020F0502020204030204" pitchFamily="34" charset="0"/>
                <a:cs typeface="Calibri" panose="020F0502020204030204" pitchFamily="34" charset="0"/>
              </a:rPr>
              <a:t>Problem Statement</a:t>
            </a:r>
          </a:p>
        </p:txBody>
      </p:sp>
      <p:sp>
        <p:nvSpPr>
          <p:cNvPr id="4" name="TextBox 3">
            <a:extLst>
              <a:ext uri="{FF2B5EF4-FFF2-40B4-BE49-F238E27FC236}">
                <a16:creationId xmlns:a16="http://schemas.microsoft.com/office/drawing/2014/main" id="{4DC5DF9C-87FF-C277-F750-3FE5BFDEBE2B}"/>
              </a:ext>
            </a:extLst>
          </p:cNvPr>
          <p:cNvSpPr txBox="1"/>
          <p:nvPr/>
        </p:nvSpPr>
        <p:spPr>
          <a:xfrm>
            <a:off x="629265" y="1189531"/>
            <a:ext cx="10412361" cy="4107278"/>
          </a:xfrm>
          <a:prstGeom prst="rect">
            <a:avLst/>
          </a:prstGeom>
          <a:noFill/>
        </p:spPr>
        <p:txBody>
          <a:bodyPr wrap="square" rtlCol="0">
            <a:spAutoFit/>
          </a:bodyPr>
          <a:lstStyle/>
          <a:p>
            <a:r>
              <a:rPr lang="en-US" sz="2400" dirty="0">
                <a:solidFill>
                  <a:schemeClr val="accent4">
                    <a:lumMod val="75000"/>
                  </a:schemeClr>
                </a:solidFill>
              </a:rPr>
              <a:t>Goodcabs</a:t>
            </a:r>
            <a:r>
              <a:rPr lang="en-US" sz="2000" dirty="0">
                <a:solidFill>
                  <a:schemeClr val="bg1">
                    <a:lumMod val="85000"/>
                  </a:schemeClr>
                </a:solidFill>
              </a:rPr>
              <a:t>, a leading cab service provider operating in 10 Tier-2 cities in India and supports local drivers while providing excellent service to passengers. The company has set ambitious growth and passengers satisfaction targets for 2024. </a:t>
            </a:r>
          </a:p>
          <a:p>
            <a:endParaRPr lang="en-US" sz="2000" dirty="0">
              <a:solidFill>
                <a:schemeClr val="bg1">
                  <a:lumMod val="85000"/>
                </a:schemeClr>
              </a:solidFill>
            </a:endParaRPr>
          </a:p>
          <a:p>
            <a:pPr>
              <a:lnSpc>
                <a:spcPct val="150000"/>
              </a:lnSpc>
            </a:pPr>
            <a:r>
              <a:rPr lang="en-US" sz="2000" dirty="0">
                <a:solidFill>
                  <a:schemeClr val="bg1">
                    <a:lumMod val="85000"/>
                  </a:schemeClr>
                </a:solidFill>
              </a:rPr>
              <a:t>The chief operating needs insights on key performance metrics :</a:t>
            </a:r>
          </a:p>
          <a:p>
            <a:pPr marL="457200" indent="-457200">
              <a:lnSpc>
                <a:spcPct val="150000"/>
              </a:lnSpc>
              <a:buFont typeface="Arial" panose="020B0604020202020204" pitchFamily="34" charset="0"/>
              <a:buChar char="•"/>
            </a:pPr>
            <a:r>
              <a:rPr lang="en-US" sz="2000" dirty="0">
                <a:solidFill>
                  <a:schemeClr val="bg1">
                    <a:lumMod val="85000"/>
                  </a:schemeClr>
                </a:solidFill>
              </a:rPr>
              <a:t>Trip Volume </a:t>
            </a:r>
          </a:p>
          <a:p>
            <a:pPr marL="457200" indent="-457200">
              <a:lnSpc>
                <a:spcPct val="150000"/>
              </a:lnSpc>
              <a:buFont typeface="Arial" panose="020B0604020202020204" pitchFamily="34" charset="0"/>
              <a:buChar char="•"/>
            </a:pPr>
            <a:r>
              <a:rPr lang="en-US" sz="2000" dirty="0">
                <a:solidFill>
                  <a:schemeClr val="bg1">
                    <a:lumMod val="85000"/>
                  </a:schemeClr>
                </a:solidFill>
              </a:rPr>
              <a:t> Passenger Satisfaction </a:t>
            </a:r>
          </a:p>
          <a:p>
            <a:pPr marL="457200" indent="-457200">
              <a:lnSpc>
                <a:spcPct val="150000"/>
              </a:lnSpc>
              <a:buFont typeface="Arial" panose="020B0604020202020204" pitchFamily="34" charset="0"/>
              <a:buChar char="•"/>
            </a:pPr>
            <a:r>
              <a:rPr lang="en-US" sz="2000" dirty="0">
                <a:solidFill>
                  <a:schemeClr val="bg1">
                    <a:lumMod val="85000"/>
                  </a:schemeClr>
                </a:solidFill>
              </a:rPr>
              <a:t> Repeat Passenger Rates </a:t>
            </a:r>
          </a:p>
          <a:p>
            <a:pPr marL="457200" indent="-457200">
              <a:lnSpc>
                <a:spcPct val="150000"/>
              </a:lnSpc>
              <a:buFont typeface="Arial" panose="020B0604020202020204" pitchFamily="34" charset="0"/>
              <a:buChar char="•"/>
            </a:pPr>
            <a:r>
              <a:rPr lang="en-US" sz="2000" dirty="0">
                <a:solidFill>
                  <a:schemeClr val="bg1">
                    <a:lumMod val="85000"/>
                  </a:schemeClr>
                </a:solidFill>
              </a:rPr>
              <a:t>Trip Distribution </a:t>
            </a:r>
          </a:p>
          <a:p>
            <a:pPr marL="457200" indent="-457200">
              <a:lnSpc>
                <a:spcPct val="150000"/>
              </a:lnSpc>
              <a:buFont typeface="Arial" panose="020B0604020202020204" pitchFamily="34" charset="0"/>
              <a:buChar char="•"/>
            </a:pPr>
            <a:r>
              <a:rPr lang="en-US" sz="2000" dirty="0">
                <a:solidFill>
                  <a:schemeClr val="bg1">
                    <a:lumMod val="85000"/>
                  </a:schemeClr>
                </a:solidFill>
              </a:rPr>
              <a:t>Balance Between New and Repeat Passengers</a:t>
            </a:r>
            <a:endParaRPr lang="en-IN" sz="20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5" name="Oval 4">
            <a:extLst>
              <a:ext uri="{FF2B5EF4-FFF2-40B4-BE49-F238E27FC236}">
                <a16:creationId xmlns:a16="http://schemas.microsoft.com/office/drawing/2014/main" id="{F7DFCBE3-ED27-9C39-A942-C34A497459AF}"/>
              </a:ext>
            </a:extLst>
          </p:cNvPr>
          <p:cNvSpPr/>
          <p:nvPr/>
        </p:nvSpPr>
        <p:spPr>
          <a:xfrm flipH="1" flipV="1">
            <a:off x="717759" y="3168199"/>
            <a:ext cx="137652" cy="149942"/>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021CA8AC-DA15-DF24-108E-030601EB4EC3}"/>
              </a:ext>
            </a:extLst>
          </p:cNvPr>
          <p:cNvSpPr/>
          <p:nvPr/>
        </p:nvSpPr>
        <p:spPr>
          <a:xfrm flipH="1" flipV="1">
            <a:off x="707926" y="3629573"/>
            <a:ext cx="137652" cy="149942"/>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Oval 14">
            <a:extLst>
              <a:ext uri="{FF2B5EF4-FFF2-40B4-BE49-F238E27FC236}">
                <a16:creationId xmlns:a16="http://schemas.microsoft.com/office/drawing/2014/main" id="{AED9B3CE-C9BE-5656-949A-40A625C6EF29}"/>
              </a:ext>
            </a:extLst>
          </p:cNvPr>
          <p:cNvSpPr/>
          <p:nvPr/>
        </p:nvSpPr>
        <p:spPr>
          <a:xfrm flipH="1" flipV="1">
            <a:off x="717759" y="4082562"/>
            <a:ext cx="137652" cy="149942"/>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EDC342DF-BF33-AB7D-AF65-DF9EDEB87331}"/>
              </a:ext>
            </a:extLst>
          </p:cNvPr>
          <p:cNvSpPr/>
          <p:nvPr/>
        </p:nvSpPr>
        <p:spPr>
          <a:xfrm flipH="1" flipV="1">
            <a:off x="707926" y="4569534"/>
            <a:ext cx="137652" cy="149942"/>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5E93942E-CAEF-8F09-5537-752D6FB4A047}"/>
              </a:ext>
            </a:extLst>
          </p:cNvPr>
          <p:cNvSpPr/>
          <p:nvPr/>
        </p:nvSpPr>
        <p:spPr>
          <a:xfrm flipH="1" flipV="1">
            <a:off x="707926" y="4994375"/>
            <a:ext cx="137652" cy="149942"/>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03820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1F38A-CC68-3F5E-F346-3DF0006EB60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6B60BEE-0A5F-B033-BDB8-2D0EFE4466F6}"/>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
        <p:nvSpPr>
          <p:cNvPr id="3" name="TextBox 2">
            <a:extLst>
              <a:ext uri="{FF2B5EF4-FFF2-40B4-BE49-F238E27FC236}">
                <a16:creationId xmlns:a16="http://schemas.microsoft.com/office/drawing/2014/main" id="{6180032D-1C18-762D-F773-C6EA9A204E64}"/>
              </a:ext>
            </a:extLst>
          </p:cNvPr>
          <p:cNvSpPr txBox="1"/>
          <p:nvPr/>
        </p:nvSpPr>
        <p:spPr>
          <a:xfrm>
            <a:off x="0" y="179915"/>
            <a:ext cx="12192000" cy="584775"/>
          </a:xfrm>
          <a:prstGeom prst="rect">
            <a:avLst/>
          </a:prstGeom>
          <a:noFill/>
        </p:spPr>
        <p:txBody>
          <a:bodyPr wrap="square" rtlCol="0">
            <a:spAutoFit/>
          </a:bodyPr>
          <a:lstStyle/>
          <a:p>
            <a:pPr algn="ctr"/>
            <a:r>
              <a:rPr lang="en-IN" sz="3200" b="1" dirty="0">
                <a:solidFill>
                  <a:schemeClr val="accent4">
                    <a:lumMod val="75000"/>
                  </a:schemeClr>
                </a:solidFill>
                <a:latin typeface="Calibri" panose="020F0502020204030204" pitchFamily="34" charset="0"/>
                <a:ea typeface="Calibri" panose="020F0502020204030204" pitchFamily="34" charset="0"/>
                <a:cs typeface="Calibri" panose="020F0502020204030204" pitchFamily="34" charset="0"/>
              </a:rPr>
              <a:t>Objective</a:t>
            </a:r>
          </a:p>
        </p:txBody>
      </p:sp>
      <p:sp>
        <p:nvSpPr>
          <p:cNvPr id="4" name="TextBox 3">
            <a:extLst>
              <a:ext uri="{FF2B5EF4-FFF2-40B4-BE49-F238E27FC236}">
                <a16:creationId xmlns:a16="http://schemas.microsoft.com/office/drawing/2014/main" id="{B3CF9CE7-98B3-815E-4DAB-7A41530BBCC6}"/>
              </a:ext>
            </a:extLst>
          </p:cNvPr>
          <p:cNvSpPr txBox="1"/>
          <p:nvPr/>
        </p:nvSpPr>
        <p:spPr>
          <a:xfrm>
            <a:off x="629265" y="1189531"/>
            <a:ext cx="10412361" cy="3477875"/>
          </a:xfrm>
          <a:prstGeom prst="rect">
            <a:avLst/>
          </a:prstGeom>
          <a:noFill/>
        </p:spPr>
        <p:txBody>
          <a:bodyPr wrap="square" rtlCol="0">
            <a:spAutoFit/>
          </a:bodyPr>
          <a:lstStyle/>
          <a:p>
            <a:r>
              <a:rPr lang="en-US" sz="2000" dirty="0">
                <a:solidFill>
                  <a:schemeClr val="bg1">
                    <a:lumMod val="85000"/>
                  </a:schemeClr>
                </a:solidFill>
              </a:rPr>
              <a:t>To deliver actionable insights on Goodcabs performance in tier-2 cities by analyzing key metrics,</a:t>
            </a:r>
          </a:p>
          <a:p>
            <a:endParaRPr lang="en-US" sz="2000" dirty="0">
              <a:solidFill>
                <a:schemeClr val="bg1">
                  <a:lumMod val="85000"/>
                </a:schemeClr>
              </a:solidFill>
            </a:endParaRPr>
          </a:p>
          <a:p>
            <a:pPr marL="342900" indent="-342900">
              <a:buFont typeface="Arial" panose="020B0604020202020204" pitchFamily="34" charset="0"/>
              <a:buChar char="•"/>
            </a:pPr>
            <a:r>
              <a:rPr lang="en-US" sz="2000" dirty="0">
                <a:solidFill>
                  <a:schemeClr val="bg1">
                    <a:lumMod val="85000"/>
                  </a:schemeClr>
                </a:solidFill>
              </a:rPr>
              <a:t>Identify </a:t>
            </a:r>
            <a:r>
              <a:rPr lang="en-US" sz="2000" b="1" dirty="0">
                <a:solidFill>
                  <a:schemeClr val="bg1">
                    <a:lumMod val="85000"/>
                  </a:schemeClr>
                </a:solidFill>
              </a:rPr>
              <a:t>growth opportunities </a:t>
            </a:r>
            <a:r>
              <a:rPr lang="en-US" sz="2000" dirty="0">
                <a:solidFill>
                  <a:schemeClr val="bg1">
                    <a:lumMod val="85000"/>
                  </a:schemeClr>
                </a:solidFill>
              </a:rPr>
              <a:t>by understanding trip trends.</a:t>
            </a:r>
          </a:p>
          <a:p>
            <a:pPr marL="342900" indent="-342900">
              <a:buFont typeface="Arial" panose="020B0604020202020204" pitchFamily="34" charset="0"/>
              <a:buChar char="•"/>
            </a:pPr>
            <a:endParaRPr lang="en-US" sz="2000" dirty="0">
              <a:solidFill>
                <a:schemeClr val="bg1">
                  <a:lumMod val="85000"/>
                </a:schemeClr>
              </a:solidFill>
            </a:endParaRPr>
          </a:p>
          <a:p>
            <a:pPr marL="342900" indent="-342900">
              <a:buFont typeface="Arial" panose="020B0604020202020204" pitchFamily="34" charset="0"/>
              <a:buChar char="•"/>
            </a:pPr>
            <a:r>
              <a:rPr lang="en-US" sz="2000" b="1" dirty="0">
                <a:solidFill>
                  <a:schemeClr val="bg1">
                    <a:lumMod val="85000"/>
                  </a:schemeClr>
                </a:solidFill>
              </a:rPr>
              <a:t>Enhance Passengers satisfaction </a:t>
            </a:r>
            <a:r>
              <a:rPr lang="en-US" sz="2000" dirty="0">
                <a:solidFill>
                  <a:schemeClr val="bg1">
                    <a:lumMod val="85000"/>
                  </a:schemeClr>
                </a:solidFill>
              </a:rPr>
              <a:t>through targeted marketing.</a:t>
            </a:r>
          </a:p>
          <a:p>
            <a:pPr marL="342900" indent="-342900">
              <a:buFont typeface="Arial" panose="020B0604020202020204" pitchFamily="34" charset="0"/>
              <a:buChar char="•"/>
            </a:pPr>
            <a:endParaRPr lang="en-US" sz="2000" dirty="0">
              <a:solidFill>
                <a:schemeClr val="bg1">
                  <a:lumMod val="85000"/>
                </a:schemeClr>
              </a:solidFill>
            </a:endParaRPr>
          </a:p>
          <a:p>
            <a:pPr marL="342900" indent="-342900">
              <a:buFont typeface="Arial" panose="020B0604020202020204" pitchFamily="34" charset="0"/>
              <a:buChar char="•"/>
            </a:pPr>
            <a:r>
              <a:rPr lang="en-US" sz="2000" b="1" dirty="0">
                <a:solidFill>
                  <a:schemeClr val="bg1">
                    <a:lumMod val="85000"/>
                  </a:schemeClr>
                </a:solidFill>
              </a:rPr>
              <a:t>Boost customer retention </a:t>
            </a:r>
            <a:r>
              <a:rPr lang="en-US" sz="2000" dirty="0">
                <a:solidFill>
                  <a:schemeClr val="bg1">
                    <a:lumMod val="85000"/>
                  </a:schemeClr>
                </a:solidFill>
              </a:rPr>
              <a:t>by increasing repeat passenger's rate.</a:t>
            </a:r>
          </a:p>
          <a:p>
            <a:pPr marL="342900" indent="-342900">
              <a:buFont typeface="Arial" panose="020B0604020202020204" pitchFamily="34" charset="0"/>
              <a:buChar char="•"/>
            </a:pPr>
            <a:endParaRPr lang="en-US" sz="2000" dirty="0">
              <a:solidFill>
                <a:schemeClr val="bg1">
                  <a:lumMod val="85000"/>
                </a:schemeClr>
              </a:solidFill>
            </a:endParaRPr>
          </a:p>
          <a:p>
            <a:pPr marL="342900" indent="-342900">
              <a:buFont typeface="Arial" panose="020B0604020202020204" pitchFamily="34" charset="0"/>
              <a:buChar char="•"/>
            </a:pPr>
            <a:r>
              <a:rPr lang="en-US" sz="2000" dirty="0">
                <a:solidFill>
                  <a:schemeClr val="bg1">
                    <a:lumMod val="85000"/>
                  </a:schemeClr>
                </a:solidFill>
              </a:rPr>
              <a:t>Optimize operations by </a:t>
            </a:r>
            <a:r>
              <a:rPr lang="en-US" sz="2000" b="1" dirty="0">
                <a:solidFill>
                  <a:schemeClr val="bg1">
                    <a:lumMod val="85000"/>
                  </a:schemeClr>
                </a:solidFill>
              </a:rPr>
              <a:t>balancing new and repeat passengers</a:t>
            </a:r>
            <a:r>
              <a:rPr lang="en-US" sz="2000" dirty="0">
                <a:solidFill>
                  <a:schemeClr val="bg1">
                    <a:lumMod val="85000"/>
                  </a:schemeClr>
                </a:solidFill>
              </a:rPr>
              <a:t>' engagement.</a:t>
            </a:r>
          </a:p>
          <a:p>
            <a:pPr marL="342900" indent="-342900">
              <a:buFont typeface="Arial" panose="020B0604020202020204" pitchFamily="34" charset="0"/>
              <a:buChar char="•"/>
            </a:pPr>
            <a:endParaRPr lang="en-US" sz="2000" dirty="0">
              <a:solidFill>
                <a:schemeClr val="bg1">
                  <a:lumMod val="85000"/>
                </a:schemeClr>
              </a:solidFill>
            </a:endParaRPr>
          </a:p>
          <a:p>
            <a:pPr marL="342900" indent="-342900">
              <a:buFont typeface="Arial" panose="020B0604020202020204" pitchFamily="34" charset="0"/>
              <a:buChar char="•"/>
            </a:pPr>
            <a:r>
              <a:rPr lang="en-US" sz="2000" dirty="0">
                <a:solidFill>
                  <a:schemeClr val="bg1">
                    <a:lumMod val="85000"/>
                  </a:schemeClr>
                </a:solidFill>
              </a:rPr>
              <a:t>Support strategic decision-making to achieve 2024 performance targets.</a:t>
            </a:r>
          </a:p>
        </p:txBody>
      </p:sp>
      <p:sp>
        <p:nvSpPr>
          <p:cNvPr id="5" name="Oval 4">
            <a:extLst>
              <a:ext uri="{FF2B5EF4-FFF2-40B4-BE49-F238E27FC236}">
                <a16:creationId xmlns:a16="http://schemas.microsoft.com/office/drawing/2014/main" id="{AE8CB360-1B14-2412-F0DF-6A7EF2EF1B34}"/>
              </a:ext>
            </a:extLst>
          </p:cNvPr>
          <p:cNvSpPr/>
          <p:nvPr/>
        </p:nvSpPr>
        <p:spPr>
          <a:xfrm flipH="1" flipV="1">
            <a:off x="717759" y="1937478"/>
            <a:ext cx="137652" cy="149942"/>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A48AD90E-92B5-DB4D-D838-A748D5DC2F0D}"/>
              </a:ext>
            </a:extLst>
          </p:cNvPr>
          <p:cNvSpPr/>
          <p:nvPr/>
        </p:nvSpPr>
        <p:spPr>
          <a:xfrm flipH="1" flipV="1">
            <a:off x="717759" y="2512261"/>
            <a:ext cx="137652" cy="149942"/>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5" name="Oval 14">
            <a:extLst>
              <a:ext uri="{FF2B5EF4-FFF2-40B4-BE49-F238E27FC236}">
                <a16:creationId xmlns:a16="http://schemas.microsoft.com/office/drawing/2014/main" id="{BB5837E6-7527-DCA2-B35D-2E671FFFFD11}"/>
              </a:ext>
            </a:extLst>
          </p:cNvPr>
          <p:cNvSpPr/>
          <p:nvPr/>
        </p:nvSpPr>
        <p:spPr>
          <a:xfrm flipH="1" flipV="1">
            <a:off x="688259" y="3196408"/>
            <a:ext cx="137652" cy="149942"/>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ADF06FF3-D70F-5918-2011-FBA54C561987}"/>
              </a:ext>
            </a:extLst>
          </p:cNvPr>
          <p:cNvSpPr/>
          <p:nvPr/>
        </p:nvSpPr>
        <p:spPr>
          <a:xfrm flipH="1" flipV="1">
            <a:off x="688259" y="3781965"/>
            <a:ext cx="137652" cy="149942"/>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41C98271-CE42-10CC-4F19-F885E011906D}"/>
              </a:ext>
            </a:extLst>
          </p:cNvPr>
          <p:cNvSpPr/>
          <p:nvPr/>
        </p:nvSpPr>
        <p:spPr>
          <a:xfrm flipH="1" flipV="1">
            <a:off x="688259" y="4356748"/>
            <a:ext cx="137652" cy="149942"/>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8227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AC5B2-911F-1D97-B029-0922B5DEA92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E24FA1A-AED2-6800-F253-54319A583A58}"/>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pic>
        <p:nvPicPr>
          <p:cNvPr id="6" name="Picture 5">
            <a:extLst>
              <a:ext uri="{FF2B5EF4-FFF2-40B4-BE49-F238E27FC236}">
                <a16:creationId xmlns:a16="http://schemas.microsoft.com/office/drawing/2014/main" id="{8D19A4A2-8FE4-66FE-F118-B0F20A9916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0813" y="1603809"/>
            <a:ext cx="9390374" cy="4581833"/>
          </a:xfrm>
          <a:prstGeom prst="rect">
            <a:avLst/>
          </a:prstGeom>
        </p:spPr>
      </p:pic>
      <p:sp>
        <p:nvSpPr>
          <p:cNvPr id="7" name="TextBox 6">
            <a:extLst>
              <a:ext uri="{FF2B5EF4-FFF2-40B4-BE49-F238E27FC236}">
                <a16:creationId xmlns:a16="http://schemas.microsoft.com/office/drawing/2014/main" id="{E71AFF9A-6A7C-62FA-A939-589CB33402AD}"/>
              </a:ext>
            </a:extLst>
          </p:cNvPr>
          <p:cNvSpPr txBox="1"/>
          <p:nvPr/>
        </p:nvSpPr>
        <p:spPr>
          <a:xfrm>
            <a:off x="3696662" y="478361"/>
            <a:ext cx="4621695" cy="646331"/>
          </a:xfrm>
          <a:prstGeom prst="rect">
            <a:avLst/>
          </a:prstGeom>
          <a:noFill/>
        </p:spPr>
        <p:txBody>
          <a:bodyPr wrap="square" rtlCol="0">
            <a:spAutoFit/>
          </a:bodyPr>
          <a:lstStyle/>
          <a:p>
            <a:pPr algn="ctr"/>
            <a:r>
              <a:rPr lang="en-IN" sz="3600" b="1" dirty="0">
                <a:solidFill>
                  <a:srgbClr val="FFC000"/>
                </a:solidFill>
              </a:rPr>
              <a:t>Data Model</a:t>
            </a:r>
          </a:p>
        </p:txBody>
      </p:sp>
    </p:spTree>
    <p:extLst>
      <p:ext uri="{BB962C8B-B14F-4D97-AF65-F5344CB8AC3E}">
        <p14:creationId xmlns:p14="http://schemas.microsoft.com/office/powerpoint/2010/main" val="1259980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01657-4361-93C0-03CF-D5E01316C1B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4CC34E8-D5E2-0A08-FB25-51F8A918D2F1}"/>
              </a:ext>
            </a:extLst>
          </p:cNvPr>
          <p:cNvSpPr txBox="1"/>
          <p:nvPr/>
        </p:nvSpPr>
        <p:spPr>
          <a:xfrm>
            <a:off x="3785152" y="350543"/>
            <a:ext cx="4621695" cy="646331"/>
          </a:xfrm>
          <a:prstGeom prst="rect">
            <a:avLst/>
          </a:prstGeom>
          <a:noFill/>
        </p:spPr>
        <p:txBody>
          <a:bodyPr wrap="square" rtlCol="0">
            <a:spAutoFit/>
          </a:bodyPr>
          <a:lstStyle/>
          <a:p>
            <a:pPr algn="ctr"/>
            <a:r>
              <a:rPr lang="en-IN" sz="3600" b="1" dirty="0">
                <a:solidFill>
                  <a:srgbClr val="FFC000"/>
                </a:solidFill>
              </a:rPr>
              <a:t>Power BI Dashboard</a:t>
            </a:r>
          </a:p>
        </p:txBody>
      </p:sp>
      <p:sp>
        <p:nvSpPr>
          <p:cNvPr id="2" name="TextBox 1">
            <a:extLst>
              <a:ext uri="{FF2B5EF4-FFF2-40B4-BE49-F238E27FC236}">
                <a16:creationId xmlns:a16="http://schemas.microsoft.com/office/drawing/2014/main" id="{DAB7454F-C57B-1714-9BCC-4D639D40B50E}"/>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3" name="Add-in 2">
                <a:extLst>
                  <a:ext uri="{FF2B5EF4-FFF2-40B4-BE49-F238E27FC236}">
                    <a16:creationId xmlns:a16="http://schemas.microsoft.com/office/drawing/2014/main" id="{FFD95E82-8B14-DD55-44D6-F08A2AA73E62}"/>
                  </a:ext>
                </a:extLst>
              </p:cNvPr>
              <p:cNvGraphicFramePr>
                <a:graphicFrameLocks noGrp="1"/>
              </p:cNvGraphicFramePr>
              <p:nvPr>
                <p:extLst>
                  <p:ext uri="{D42A27DB-BD31-4B8C-83A1-F6EECF244321}">
                    <p14:modId xmlns:p14="http://schemas.microsoft.com/office/powerpoint/2010/main" val="2617937190"/>
                  </p:ext>
                </p:extLst>
              </p:nvPr>
            </p:nvGraphicFramePr>
            <p:xfrm>
              <a:off x="475595" y="996874"/>
              <a:ext cx="11240807" cy="543306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3" name="Add-in 2">
                <a:extLst>
                  <a:ext uri="{FF2B5EF4-FFF2-40B4-BE49-F238E27FC236}">
                    <a16:creationId xmlns:a16="http://schemas.microsoft.com/office/drawing/2014/main" id="{FFD95E82-8B14-DD55-44D6-F08A2AA73E62}"/>
                  </a:ext>
                </a:extLst>
              </p:cNvPr>
              <p:cNvPicPr>
                <a:picLocks noGrp="1" noRot="1" noChangeAspect="1" noMove="1" noResize="1" noEditPoints="1" noAdjustHandles="1" noChangeArrowheads="1" noChangeShapeType="1"/>
              </p:cNvPicPr>
              <p:nvPr/>
            </p:nvPicPr>
            <p:blipFill>
              <a:blip r:embed="rId4"/>
              <a:stretch>
                <a:fillRect/>
              </a:stretch>
            </p:blipFill>
            <p:spPr>
              <a:xfrm>
                <a:off x="475595" y="996874"/>
                <a:ext cx="11240807" cy="5433060"/>
              </a:xfrm>
              <a:prstGeom prst="rect">
                <a:avLst/>
              </a:prstGeom>
            </p:spPr>
          </p:pic>
        </mc:Fallback>
      </mc:AlternateContent>
    </p:spTree>
    <p:extLst>
      <p:ext uri="{BB962C8B-B14F-4D97-AF65-F5344CB8AC3E}">
        <p14:creationId xmlns:p14="http://schemas.microsoft.com/office/powerpoint/2010/main" val="1707114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D8233-955C-AFFE-AA2E-4279469D329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FD0E5F5-04C0-C183-D6ED-EC4B8D7C82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4302" y="2002725"/>
            <a:ext cx="1286185" cy="953365"/>
          </a:xfrm>
          <a:prstGeom prst="rect">
            <a:avLst/>
          </a:prstGeom>
          <a:ln>
            <a:noFill/>
          </a:ln>
        </p:spPr>
      </p:pic>
      <p:sp>
        <p:nvSpPr>
          <p:cNvPr id="5" name="TextBox 4">
            <a:extLst>
              <a:ext uri="{FF2B5EF4-FFF2-40B4-BE49-F238E27FC236}">
                <a16:creationId xmlns:a16="http://schemas.microsoft.com/office/drawing/2014/main" id="{473EA25E-AA7A-CDD4-0A18-9F629197B213}"/>
              </a:ext>
            </a:extLst>
          </p:cNvPr>
          <p:cNvSpPr txBox="1"/>
          <p:nvPr/>
        </p:nvSpPr>
        <p:spPr>
          <a:xfrm>
            <a:off x="3785152" y="2956090"/>
            <a:ext cx="4621695" cy="646331"/>
          </a:xfrm>
          <a:prstGeom prst="rect">
            <a:avLst/>
          </a:prstGeom>
          <a:noFill/>
        </p:spPr>
        <p:txBody>
          <a:bodyPr wrap="square" rtlCol="0">
            <a:spAutoFit/>
          </a:bodyPr>
          <a:lstStyle/>
          <a:p>
            <a:pPr algn="ctr"/>
            <a:r>
              <a:rPr lang="en-IN" sz="3600" b="1" dirty="0">
                <a:solidFill>
                  <a:srgbClr val="FFC000"/>
                </a:solidFill>
              </a:rPr>
              <a:t>Ad-hoc Analysis</a:t>
            </a:r>
          </a:p>
        </p:txBody>
      </p:sp>
      <p:sp>
        <p:nvSpPr>
          <p:cNvPr id="2" name="TextBox 1">
            <a:extLst>
              <a:ext uri="{FF2B5EF4-FFF2-40B4-BE49-F238E27FC236}">
                <a16:creationId xmlns:a16="http://schemas.microsoft.com/office/drawing/2014/main" id="{702239A4-0196-237B-124B-43D1A87F8FC7}"/>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1443212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F21CE-225C-6F29-8C07-A47E9C00561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227C2C0-6DC7-464F-DB0C-057057ED00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9334" y="-146196"/>
            <a:ext cx="1286185" cy="953365"/>
          </a:xfrm>
          <a:prstGeom prst="rect">
            <a:avLst/>
          </a:prstGeom>
          <a:ln>
            <a:noFill/>
          </a:ln>
        </p:spPr>
      </p:pic>
      <p:sp>
        <p:nvSpPr>
          <p:cNvPr id="6" name="TextBox 5">
            <a:extLst>
              <a:ext uri="{FF2B5EF4-FFF2-40B4-BE49-F238E27FC236}">
                <a16:creationId xmlns:a16="http://schemas.microsoft.com/office/drawing/2014/main" id="{7DFD7D80-4975-B0CE-98E8-D6CB0CCA2652}"/>
              </a:ext>
            </a:extLst>
          </p:cNvPr>
          <p:cNvSpPr txBox="1"/>
          <p:nvPr/>
        </p:nvSpPr>
        <p:spPr>
          <a:xfrm>
            <a:off x="5160131" y="556789"/>
            <a:ext cx="1524590" cy="369332"/>
          </a:xfrm>
          <a:prstGeom prst="rect">
            <a:avLst/>
          </a:prstGeom>
          <a:noFill/>
        </p:spPr>
        <p:txBody>
          <a:bodyPr wrap="square" rtlCol="0">
            <a:spAutoFit/>
          </a:bodyPr>
          <a:lstStyle/>
          <a:p>
            <a:pPr algn="ctr"/>
            <a:r>
              <a:rPr lang="en-US" dirty="0">
                <a:solidFill>
                  <a:schemeClr val="bg1">
                    <a:lumMod val="85000"/>
                  </a:schemeClr>
                </a:solidFill>
                <a:latin typeface="Arial Rounded MT Bold" panose="020F0704030504030204" pitchFamily="34" charset="0"/>
              </a:rPr>
              <a:t>Good Cabs</a:t>
            </a:r>
            <a:endParaRPr lang="en-IN" dirty="0">
              <a:solidFill>
                <a:schemeClr val="bg1">
                  <a:lumMod val="85000"/>
                </a:schemeClr>
              </a:solidFill>
              <a:latin typeface="Arial Rounded MT Bold" panose="020F0704030504030204" pitchFamily="34" charset="0"/>
            </a:endParaRPr>
          </a:p>
        </p:txBody>
      </p:sp>
      <p:pic>
        <p:nvPicPr>
          <p:cNvPr id="9" name="Picture 8">
            <a:extLst>
              <a:ext uri="{FF2B5EF4-FFF2-40B4-BE49-F238E27FC236}">
                <a16:creationId xmlns:a16="http://schemas.microsoft.com/office/drawing/2014/main" id="{F4FB9912-67ED-9CBD-B1E3-0BC9F3E0EA0D}"/>
              </a:ext>
            </a:extLst>
          </p:cNvPr>
          <p:cNvPicPr>
            <a:picLocks noChangeAspect="1"/>
          </p:cNvPicPr>
          <p:nvPr/>
        </p:nvPicPr>
        <p:blipFill>
          <a:blip r:embed="rId4">
            <a:grayscl/>
            <a:extLst>
              <a:ext uri="{28A0092B-C50C-407E-A947-70E740481C1C}">
                <a14:useLocalDpi xmlns:a14="http://schemas.microsoft.com/office/drawing/2010/main" val="0"/>
              </a:ext>
            </a:extLst>
          </a:blip>
          <a:stretch>
            <a:fillRect/>
          </a:stretch>
        </p:blipFill>
        <p:spPr>
          <a:xfrm>
            <a:off x="657546" y="2332091"/>
            <a:ext cx="6213987" cy="3784153"/>
          </a:xfrm>
          <a:prstGeom prst="rect">
            <a:avLst/>
          </a:prstGeom>
        </p:spPr>
      </p:pic>
      <p:sp>
        <p:nvSpPr>
          <p:cNvPr id="11" name="Rectangle 1">
            <a:extLst>
              <a:ext uri="{FF2B5EF4-FFF2-40B4-BE49-F238E27FC236}">
                <a16:creationId xmlns:a16="http://schemas.microsoft.com/office/drawing/2014/main" id="{E3A29A2B-AE18-C76C-9FF5-327D48E2C915}"/>
              </a:ext>
            </a:extLst>
          </p:cNvPr>
          <p:cNvSpPr>
            <a:spLocks noChangeArrowheads="1"/>
          </p:cNvSpPr>
          <p:nvPr/>
        </p:nvSpPr>
        <p:spPr bwMode="auto">
          <a:xfrm>
            <a:off x="7237281" y="2884801"/>
            <a:ext cx="4483985"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 </a:t>
            </a:r>
            <a:r>
              <a:rPr lang="en-US" sz="1600" b="1"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Jaipur</a:t>
            </a:r>
            <a:r>
              <a:rPr lang="en-US" sz="16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 leads with the highest trip count (76,888), contributing </a:t>
            </a:r>
            <a:r>
              <a:rPr lang="en-US" sz="1600" b="1"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18.05%</a:t>
            </a:r>
            <a:r>
              <a:rPr lang="en-US" sz="16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 to total trips,</a:t>
            </a:r>
            <a:r>
              <a:rPr lang="en-US" sz="1600" dirty="0">
                <a:latin typeface="Calibri" panose="020F0502020204030204" pitchFamily="34" charset="0"/>
                <a:ea typeface="Calibri" panose="020F0502020204030204" pitchFamily="34" charset="0"/>
                <a:cs typeface="Calibri" panose="020F0502020204030204" pitchFamily="34" charset="0"/>
              </a:rPr>
              <a:t> </a:t>
            </a:r>
            <a:r>
              <a:rPr lang="en-US" sz="16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indicates strong demand or possibly a larger market size.</a:t>
            </a:r>
          </a:p>
          <a:p>
            <a:pPr marR="0" lvl="0" algn="l" defTabSz="914400" rtl="0" eaLnBrk="0" fontAlgn="base" latinLnBrk="0" hangingPunct="0">
              <a:lnSpc>
                <a:spcPct val="100000"/>
              </a:lnSpc>
              <a:spcBef>
                <a:spcPct val="0"/>
              </a:spcBef>
              <a:spcAft>
                <a:spcPct val="0"/>
              </a:spcAft>
              <a:buClrTx/>
              <a:buSzTx/>
              <a:tabLst/>
            </a:pPr>
            <a:endParaRPr lang="en-US" altLang="en-US" sz="1600" dirty="0"/>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lumMod val="85000"/>
                  </a:schemeClr>
                </a:solidFill>
                <a:effectLst/>
                <a:latin typeface="Calibri" panose="020F0502020204030204" pitchFamily="34" charset="0"/>
                <a:ea typeface="Calibri" panose="020F0502020204030204" pitchFamily="34" charset="0"/>
                <a:cs typeface="Calibri" panose="020F0502020204030204" pitchFamily="34" charset="0"/>
              </a:rPr>
              <a:t>Visakhapatnam, Coimbatore, Mysore shows less trip contribution indicates it may be price sensitive or highly competitive.</a:t>
            </a:r>
          </a:p>
        </p:txBody>
      </p:sp>
      <p:sp>
        <p:nvSpPr>
          <p:cNvPr id="2" name="TextBox 1">
            <a:extLst>
              <a:ext uri="{FF2B5EF4-FFF2-40B4-BE49-F238E27FC236}">
                <a16:creationId xmlns:a16="http://schemas.microsoft.com/office/drawing/2014/main" id="{5FC62455-CEAF-4503-48F7-B9FCBA735F36}"/>
              </a:ext>
            </a:extLst>
          </p:cNvPr>
          <p:cNvSpPr txBox="1"/>
          <p:nvPr/>
        </p:nvSpPr>
        <p:spPr>
          <a:xfrm>
            <a:off x="0" y="1429051"/>
            <a:ext cx="12192000" cy="400110"/>
          </a:xfrm>
          <a:prstGeom prst="rect">
            <a:avLst/>
          </a:prstGeom>
          <a:noFill/>
        </p:spPr>
        <p:txBody>
          <a:bodyPr wrap="square" rtlCol="0">
            <a:spAutoFit/>
          </a:bodyPr>
          <a:lstStyle/>
          <a:p>
            <a:pPr algn="ctr"/>
            <a:r>
              <a:rPr lang="en-IN" sz="2000" b="1" dirty="0">
                <a:solidFill>
                  <a:srgbClr val="FFC000"/>
                </a:solidFill>
              </a:rPr>
              <a:t>Business Request-1:  </a:t>
            </a:r>
            <a:r>
              <a:rPr lang="en-IN" sz="2000" dirty="0">
                <a:solidFill>
                  <a:srgbClr val="FFC000"/>
                </a:solidFill>
              </a:rPr>
              <a:t>City Level Fare and Trip Summary Report </a:t>
            </a:r>
          </a:p>
        </p:txBody>
      </p:sp>
      <p:sp>
        <p:nvSpPr>
          <p:cNvPr id="5" name="TextBox 4">
            <a:extLst>
              <a:ext uri="{FF2B5EF4-FFF2-40B4-BE49-F238E27FC236}">
                <a16:creationId xmlns:a16="http://schemas.microsoft.com/office/drawing/2014/main" id="{9251892E-17D0-3445-0A7A-E379BE877A2B}"/>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886424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50E9D-0657-9DDD-B61A-C7CA4DF5C084}"/>
            </a:ext>
          </a:extLst>
        </p:cNvPr>
        <p:cNvGrpSpPr/>
        <p:nvPr/>
      </p:nvGrpSpPr>
      <p:grpSpPr>
        <a:xfrm>
          <a:off x="0" y="0"/>
          <a:ext cx="0" cy="0"/>
          <a:chOff x="0" y="0"/>
          <a:chExt cx="0" cy="0"/>
        </a:xfrm>
      </p:grpSpPr>
      <p:sp>
        <p:nvSpPr>
          <p:cNvPr id="33" name="TextBox 32">
            <a:extLst>
              <a:ext uri="{FF2B5EF4-FFF2-40B4-BE49-F238E27FC236}">
                <a16:creationId xmlns:a16="http://schemas.microsoft.com/office/drawing/2014/main" id="{F04EF74E-5526-B202-9BF8-548571CE53EC}"/>
              </a:ext>
            </a:extLst>
          </p:cNvPr>
          <p:cNvSpPr txBox="1"/>
          <p:nvPr/>
        </p:nvSpPr>
        <p:spPr>
          <a:xfrm>
            <a:off x="2153932" y="2581948"/>
            <a:ext cx="529799" cy="393862"/>
          </a:xfrm>
          <a:prstGeom prst="rect">
            <a:avLst/>
          </a:prstGeom>
          <a:noFill/>
        </p:spPr>
        <p:txBody>
          <a:bodyPr wrap="square" rtlCol="0">
            <a:spAutoFit/>
          </a:bodyPr>
          <a:lstStyle/>
          <a:p>
            <a:r>
              <a:rPr lang="en-IN" dirty="0">
                <a:solidFill>
                  <a:schemeClr val="accent6">
                    <a:lumMod val="40000"/>
                    <a:lumOff val="60000"/>
                  </a:schemeClr>
                </a:solidFill>
                <a:latin typeface="Segoe UI Semibold" panose="020B0702040204020203" pitchFamily="34" charset="0"/>
                <a:cs typeface="Segoe UI Semibold" panose="020B0702040204020203" pitchFamily="34" charset="0"/>
              </a:rPr>
              <a:t>1.</a:t>
            </a:r>
          </a:p>
        </p:txBody>
      </p:sp>
      <p:pic>
        <p:nvPicPr>
          <p:cNvPr id="4" name="Picture 3">
            <a:extLst>
              <a:ext uri="{FF2B5EF4-FFF2-40B4-BE49-F238E27FC236}">
                <a16:creationId xmlns:a16="http://schemas.microsoft.com/office/drawing/2014/main" id="{F19B5D55-5A2F-D440-507B-BDAFD9AD78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9334" y="-146196"/>
            <a:ext cx="1286185" cy="953365"/>
          </a:xfrm>
          <a:prstGeom prst="rect">
            <a:avLst/>
          </a:prstGeom>
          <a:ln>
            <a:noFill/>
          </a:ln>
        </p:spPr>
      </p:pic>
      <p:sp>
        <p:nvSpPr>
          <p:cNvPr id="6" name="TextBox 5">
            <a:extLst>
              <a:ext uri="{FF2B5EF4-FFF2-40B4-BE49-F238E27FC236}">
                <a16:creationId xmlns:a16="http://schemas.microsoft.com/office/drawing/2014/main" id="{C3894EA2-8E09-71BB-DBC7-75D0EEFDA1DC}"/>
              </a:ext>
            </a:extLst>
          </p:cNvPr>
          <p:cNvSpPr txBox="1"/>
          <p:nvPr/>
        </p:nvSpPr>
        <p:spPr>
          <a:xfrm>
            <a:off x="5160131" y="556789"/>
            <a:ext cx="1524590" cy="369332"/>
          </a:xfrm>
          <a:prstGeom prst="rect">
            <a:avLst/>
          </a:prstGeom>
          <a:noFill/>
        </p:spPr>
        <p:txBody>
          <a:bodyPr wrap="square" rtlCol="0">
            <a:spAutoFit/>
          </a:bodyPr>
          <a:lstStyle/>
          <a:p>
            <a:pPr algn="ctr"/>
            <a:r>
              <a:rPr lang="en-US" dirty="0">
                <a:solidFill>
                  <a:schemeClr val="bg1">
                    <a:lumMod val="85000"/>
                  </a:schemeClr>
                </a:solidFill>
                <a:latin typeface="Arial Rounded MT Bold" panose="020F0704030504030204" pitchFamily="34" charset="0"/>
              </a:rPr>
              <a:t>Good Cabs</a:t>
            </a:r>
            <a:endParaRPr lang="en-IN" dirty="0">
              <a:solidFill>
                <a:schemeClr val="bg1">
                  <a:lumMod val="85000"/>
                </a:schemeClr>
              </a:solidFill>
              <a:latin typeface="Arial Rounded MT Bold" panose="020F0704030504030204" pitchFamily="34" charset="0"/>
            </a:endParaRPr>
          </a:p>
        </p:txBody>
      </p:sp>
      <p:pic>
        <p:nvPicPr>
          <p:cNvPr id="14" name="Picture 13">
            <a:extLst>
              <a:ext uri="{FF2B5EF4-FFF2-40B4-BE49-F238E27FC236}">
                <a16:creationId xmlns:a16="http://schemas.microsoft.com/office/drawing/2014/main" id="{F602D7D6-8497-F251-DAD4-BAA2DB57748F}"/>
              </a:ext>
            </a:extLst>
          </p:cNvPr>
          <p:cNvPicPr>
            <a:picLocks noChangeAspect="1"/>
          </p:cNvPicPr>
          <p:nvPr/>
        </p:nvPicPr>
        <p:blipFill>
          <a:blip r:embed="rId4">
            <a:grayscl/>
            <a:extLst>
              <a:ext uri="{28A0092B-C50C-407E-A947-70E740481C1C}">
                <a14:useLocalDpi xmlns:a14="http://schemas.microsoft.com/office/drawing/2010/main" val="0"/>
              </a:ext>
            </a:extLst>
          </a:blip>
          <a:stretch>
            <a:fillRect/>
          </a:stretch>
        </p:blipFill>
        <p:spPr>
          <a:xfrm>
            <a:off x="1461062" y="1764678"/>
            <a:ext cx="3541645" cy="3173903"/>
          </a:xfrm>
          <a:prstGeom prst="rect">
            <a:avLst/>
          </a:prstGeom>
        </p:spPr>
      </p:pic>
      <p:pic>
        <p:nvPicPr>
          <p:cNvPr id="16" name="Picture 15">
            <a:extLst>
              <a:ext uri="{FF2B5EF4-FFF2-40B4-BE49-F238E27FC236}">
                <a16:creationId xmlns:a16="http://schemas.microsoft.com/office/drawing/2014/main" id="{BAE15864-595F-EA9B-5445-E5C42079D312}"/>
              </a:ext>
            </a:extLst>
          </p:cNvPr>
          <p:cNvPicPr>
            <a:picLocks noChangeAspect="1"/>
          </p:cNvPicPr>
          <p:nvPr/>
        </p:nvPicPr>
        <p:blipFill>
          <a:blip r:embed="rId5">
            <a:grayscl/>
            <a:extLst>
              <a:ext uri="{28A0092B-C50C-407E-A947-70E740481C1C}">
                <a14:useLocalDpi xmlns:a14="http://schemas.microsoft.com/office/drawing/2010/main" val="0"/>
              </a:ext>
            </a:extLst>
          </a:blip>
          <a:stretch>
            <a:fillRect/>
          </a:stretch>
        </p:blipFill>
        <p:spPr>
          <a:xfrm>
            <a:off x="1461062" y="4907425"/>
            <a:ext cx="3532522" cy="797290"/>
          </a:xfrm>
          <a:prstGeom prst="rect">
            <a:avLst/>
          </a:prstGeom>
        </p:spPr>
      </p:pic>
      <p:pic>
        <p:nvPicPr>
          <p:cNvPr id="18" name="Picture 17">
            <a:extLst>
              <a:ext uri="{FF2B5EF4-FFF2-40B4-BE49-F238E27FC236}">
                <a16:creationId xmlns:a16="http://schemas.microsoft.com/office/drawing/2014/main" id="{4AABFD3B-6779-874E-BC10-275E0F3D2F94}"/>
              </a:ext>
            </a:extLst>
          </p:cNvPr>
          <p:cNvPicPr>
            <a:picLocks noChangeAspect="1"/>
          </p:cNvPicPr>
          <p:nvPr/>
        </p:nvPicPr>
        <p:blipFill>
          <a:blip r:embed="rId6">
            <a:grayscl/>
            <a:extLst>
              <a:ext uri="{28A0092B-C50C-407E-A947-70E740481C1C}">
                <a14:useLocalDpi xmlns:a14="http://schemas.microsoft.com/office/drawing/2010/main" val="0"/>
              </a:ext>
            </a:extLst>
          </a:blip>
          <a:stretch>
            <a:fillRect/>
          </a:stretch>
        </p:blipFill>
        <p:spPr>
          <a:xfrm>
            <a:off x="6565518" y="1801913"/>
            <a:ext cx="3848259" cy="3173903"/>
          </a:xfrm>
          <a:prstGeom prst="rect">
            <a:avLst/>
          </a:prstGeom>
        </p:spPr>
      </p:pic>
      <p:pic>
        <p:nvPicPr>
          <p:cNvPr id="20" name="Picture 19">
            <a:extLst>
              <a:ext uri="{FF2B5EF4-FFF2-40B4-BE49-F238E27FC236}">
                <a16:creationId xmlns:a16="http://schemas.microsoft.com/office/drawing/2014/main" id="{BD88CDC4-6851-59F8-071D-5056755A670D}"/>
              </a:ext>
            </a:extLst>
          </p:cNvPr>
          <p:cNvPicPr>
            <a:picLocks noChangeAspect="1"/>
          </p:cNvPicPr>
          <p:nvPr/>
        </p:nvPicPr>
        <p:blipFill>
          <a:blip r:embed="rId7">
            <a:grayscl/>
            <a:extLst>
              <a:ext uri="{28A0092B-C50C-407E-A947-70E740481C1C}">
                <a14:useLocalDpi xmlns:a14="http://schemas.microsoft.com/office/drawing/2010/main" val="0"/>
              </a:ext>
            </a:extLst>
          </a:blip>
          <a:stretch>
            <a:fillRect/>
          </a:stretch>
        </p:blipFill>
        <p:spPr>
          <a:xfrm>
            <a:off x="6565517" y="4902900"/>
            <a:ext cx="3848259" cy="887568"/>
          </a:xfrm>
          <a:prstGeom prst="rect">
            <a:avLst/>
          </a:prstGeom>
        </p:spPr>
      </p:pic>
      <p:sp>
        <p:nvSpPr>
          <p:cNvPr id="21" name="Rectangle 20">
            <a:extLst>
              <a:ext uri="{FF2B5EF4-FFF2-40B4-BE49-F238E27FC236}">
                <a16:creationId xmlns:a16="http://schemas.microsoft.com/office/drawing/2014/main" id="{5E376783-BAB4-19AA-AB00-DD9600FBA8C1}"/>
              </a:ext>
            </a:extLst>
          </p:cNvPr>
          <p:cNvSpPr/>
          <p:nvPr/>
        </p:nvSpPr>
        <p:spPr>
          <a:xfrm flipH="1">
            <a:off x="3657600" y="1815917"/>
            <a:ext cx="751870" cy="3979076"/>
          </a:xfrm>
          <a:prstGeom prst="rect">
            <a:avLst/>
          </a:prstGeom>
          <a:noFill/>
          <a:ln>
            <a:solidFill>
              <a:schemeClr val="accent6">
                <a:lumMod val="75000"/>
              </a:schemeClr>
            </a:solidFill>
          </a:ln>
          <a:effectLst>
            <a:glow rad="635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0E41CA17-EE13-78AB-55FE-D573E1060C42}"/>
              </a:ext>
            </a:extLst>
          </p:cNvPr>
          <p:cNvSpPr/>
          <p:nvPr/>
        </p:nvSpPr>
        <p:spPr>
          <a:xfrm>
            <a:off x="8836775" y="1815917"/>
            <a:ext cx="824948" cy="4057911"/>
          </a:xfrm>
          <a:prstGeom prst="rect">
            <a:avLst/>
          </a:prstGeom>
          <a:noFill/>
          <a:ln>
            <a:solidFill>
              <a:schemeClr val="accent2">
                <a:lumMod val="60000"/>
                <a:lumOff val="40000"/>
              </a:schemeClr>
            </a:solidFill>
          </a:ln>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4641C004-F8FF-A307-85C0-98A64B300CAD}"/>
              </a:ext>
            </a:extLst>
          </p:cNvPr>
          <p:cNvSpPr txBox="1"/>
          <p:nvPr/>
        </p:nvSpPr>
        <p:spPr>
          <a:xfrm>
            <a:off x="1005803" y="5972047"/>
            <a:ext cx="4916623" cy="523220"/>
          </a:xfrm>
          <a:prstGeom prst="rect">
            <a:avLst/>
          </a:prstGeom>
          <a:noFill/>
        </p:spPr>
        <p:txBody>
          <a:bodyPr wrap="square" rtlCol="0">
            <a:spAutoFit/>
          </a:bodyPr>
          <a:lstStyle/>
          <a:p>
            <a:r>
              <a:rPr lang="en-US" sz="1400" b="1" dirty="0">
                <a:solidFill>
                  <a:srgbClr val="92D050"/>
                </a:solidFill>
              </a:rPr>
              <a:t>Above Target </a:t>
            </a:r>
            <a:r>
              <a:rPr lang="en-US" sz="1400" b="1" dirty="0">
                <a:solidFill>
                  <a:schemeClr val="bg1">
                    <a:lumMod val="85000"/>
                  </a:schemeClr>
                </a:solidFill>
              </a:rPr>
              <a:t>: </a:t>
            </a:r>
            <a:r>
              <a:rPr lang="en-US" sz="1400" dirty="0">
                <a:solidFill>
                  <a:schemeClr val="bg1">
                    <a:lumMod val="85000"/>
                  </a:schemeClr>
                </a:solidFill>
              </a:rPr>
              <a:t>February, March, and May, reflecting strong operational efficiency during these periods.</a:t>
            </a:r>
            <a:endParaRPr lang="en-IN" sz="1400" dirty="0">
              <a:solidFill>
                <a:schemeClr val="bg1">
                  <a:lumMod val="85000"/>
                </a:schemeClr>
              </a:solidFill>
            </a:endParaRPr>
          </a:p>
        </p:txBody>
      </p:sp>
      <p:sp>
        <p:nvSpPr>
          <p:cNvPr id="24" name="TextBox 23">
            <a:extLst>
              <a:ext uri="{FF2B5EF4-FFF2-40B4-BE49-F238E27FC236}">
                <a16:creationId xmlns:a16="http://schemas.microsoft.com/office/drawing/2014/main" id="{9FBD441F-60E7-698F-33F3-D39471DACB73}"/>
              </a:ext>
            </a:extLst>
          </p:cNvPr>
          <p:cNvSpPr txBox="1"/>
          <p:nvPr/>
        </p:nvSpPr>
        <p:spPr>
          <a:xfrm>
            <a:off x="6175992" y="5972047"/>
            <a:ext cx="5321566" cy="523220"/>
          </a:xfrm>
          <a:prstGeom prst="rect">
            <a:avLst/>
          </a:prstGeom>
          <a:noFill/>
        </p:spPr>
        <p:txBody>
          <a:bodyPr wrap="square" rtlCol="0">
            <a:spAutoFit/>
          </a:bodyPr>
          <a:lstStyle/>
          <a:p>
            <a:r>
              <a:rPr lang="en-US" sz="1400" b="1" dirty="0">
                <a:solidFill>
                  <a:srgbClr val="FF0000"/>
                </a:solidFill>
              </a:rPr>
              <a:t>Below Target </a:t>
            </a:r>
            <a:r>
              <a:rPr lang="en-US" sz="1400" b="1" dirty="0">
                <a:solidFill>
                  <a:schemeClr val="bg1">
                    <a:lumMod val="85000"/>
                  </a:schemeClr>
                </a:solidFill>
              </a:rPr>
              <a:t>: </a:t>
            </a:r>
            <a:r>
              <a:rPr lang="en-US" sz="1400" dirty="0">
                <a:solidFill>
                  <a:schemeClr val="bg1">
                    <a:lumMod val="85000"/>
                  </a:schemeClr>
                </a:solidFill>
              </a:rPr>
              <a:t>January, April, and June, reflecting low operational efficiency during these periods.</a:t>
            </a:r>
            <a:endParaRPr lang="en-IN" sz="1400" dirty="0">
              <a:solidFill>
                <a:schemeClr val="bg1">
                  <a:lumMod val="85000"/>
                </a:schemeClr>
              </a:solidFill>
            </a:endParaRPr>
          </a:p>
        </p:txBody>
      </p:sp>
      <p:sp>
        <p:nvSpPr>
          <p:cNvPr id="3" name="TextBox 2">
            <a:extLst>
              <a:ext uri="{FF2B5EF4-FFF2-40B4-BE49-F238E27FC236}">
                <a16:creationId xmlns:a16="http://schemas.microsoft.com/office/drawing/2014/main" id="{77B92DA1-B9E5-D9D0-445B-E55717ABC7DB}"/>
              </a:ext>
            </a:extLst>
          </p:cNvPr>
          <p:cNvSpPr txBox="1"/>
          <p:nvPr/>
        </p:nvSpPr>
        <p:spPr>
          <a:xfrm>
            <a:off x="0" y="1184894"/>
            <a:ext cx="12191999" cy="400110"/>
          </a:xfrm>
          <a:prstGeom prst="rect">
            <a:avLst/>
          </a:prstGeom>
          <a:noFill/>
        </p:spPr>
        <p:txBody>
          <a:bodyPr wrap="square" rtlCol="0">
            <a:spAutoFit/>
          </a:bodyPr>
          <a:lstStyle/>
          <a:p>
            <a:pPr algn="ctr"/>
            <a:r>
              <a:rPr lang="en-US" sz="2000" b="1" dirty="0">
                <a:solidFill>
                  <a:srgbClr val="FFC000"/>
                </a:solidFill>
              </a:rPr>
              <a:t>Business Request -2</a:t>
            </a:r>
            <a:r>
              <a:rPr lang="en-IN" sz="2000" b="1" dirty="0">
                <a:solidFill>
                  <a:srgbClr val="FFC000"/>
                </a:solidFill>
              </a:rPr>
              <a:t>: </a:t>
            </a:r>
            <a:r>
              <a:rPr lang="en-IN" sz="2000" dirty="0">
                <a:solidFill>
                  <a:srgbClr val="FFC000"/>
                </a:solidFill>
              </a:rPr>
              <a:t>Monthly City Level Trips Target Performance</a:t>
            </a:r>
          </a:p>
        </p:txBody>
      </p:sp>
      <p:sp>
        <p:nvSpPr>
          <p:cNvPr id="2" name="TextBox 1">
            <a:extLst>
              <a:ext uri="{FF2B5EF4-FFF2-40B4-BE49-F238E27FC236}">
                <a16:creationId xmlns:a16="http://schemas.microsoft.com/office/drawing/2014/main" id="{EFABFAA2-ADEB-A9A1-E3A6-EDCDE677CCB6}"/>
              </a:ext>
            </a:extLst>
          </p:cNvPr>
          <p:cNvSpPr txBox="1"/>
          <p:nvPr/>
        </p:nvSpPr>
        <p:spPr>
          <a:xfrm>
            <a:off x="5055916" y="6301211"/>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601168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C6E01-0BD0-A85F-6906-CF0EC693FAB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7A0CA28-AB2A-84E2-C0F8-77250DFDE6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9334" y="-146196"/>
            <a:ext cx="1286185" cy="953365"/>
          </a:xfrm>
          <a:prstGeom prst="rect">
            <a:avLst/>
          </a:prstGeom>
          <a:ln>
            <a:noFill/>
          </a:ln>
        </p:spPr>
      </p:pic>
      <p:sp>
        <p:nvSpPr>
          <p:cNvPr id="6" name="TextBox 5">
            <a:extLst>
              <a:ext uri="{FF2B5EF4-FFF2-40B4-BE49-F238E27FC236}">
                <a16:creationId xmlns:a16="http://schemas.microsoft.com/office/drawing/2014/main" id="{E539CC77-4419-C55F-FB4E-59FD04AD82EF}"/>
              </a:ext>
            </a:extLst>
          </p:cNvPr>
          <p:cNvSpPr txBox="1"/>
          <p:nvPr/>
        </p:nvSpPr>
        <p:spPr>
          <a:xfrm>
            <a:off x="5160131" y="556789"/>
            <a:ext cx="1524590" cy="369332"/>
          </a:xfrm>
          <a:prstGeom prst="rect">
            <a:avLst/>
          </a:prstGeom>
          <a:noFill/>
        </p:spPr>
        <p:txBody>
          <a:bodyPr wrap="square" rtlCol="0">
            <a:spAutoFit/>
          </a:bodyPr>
          <a:lstStyle/>
          <a:p>
            <a:pPr algn="ctr"/>
            <a:r>
              <a:rPr lang="en-US" dirty="0">
                <a:solidFill>
                  <a:schemeClr val="bg1">
                    <a:lumMod val="85000"/>
                  </a:schemeClr>
                </a:solidFill>
                <a:latin typeface="Arial Rounded MT Bold" panose="020F0704030504030204" pitchFamily="34" charset="0"/>
              </a:rPr>
              <a:t>Good Cabs</a:t>
            </a:r>
            <a:endParaRPr lang="en-IN" dirty="0">
              <a:solidFill>
                <a:schemeClr val="bg1">
                  <a:lumMod val="85000"/>
                </a:schemeClr>
              </a:solidFill>
              <a:latin typeface="Arial Rounded MT Bold" panose="020F0704030504030204" pitchFamily="34" charset="0"/>
            </a:endParaRPr>
          </a:p>
        </p:txBody>
      </p:sp>
      <p:sp>
        <p:nvSpPr>
          <p:cNvPr id="2" name="TextBox 1">
            <a:extLst>
              <a:ext uri="{FF2B5EF4-FFF2-40B4-BE49-F238E27FC236}">
                <a16:creationId xmlns:a16="http://schemas.microsoft.com/office/drawing/2014/main" id="{C188973B-41E4-B19B-6470-2433DF91FFEF}"/>
              </a:ext>
            </a:extLst>
          </p:cNvPr>
          <p:cNvSpPr txBox="1"/>
          <p:nvPr/>
        </p:nvSpPr>
        <p:spPr>
          <a:xfrm>
            <a:off x="0" y="1403526"/>
            <a:ext cx="12092527" cy="400110"/>
          </a:xfrm>
          <a:prstGeom prst="rect">
            <a:avLst/>
          </a:prstGeom>
          <a:noFill/>
        </p:spPr>
        <p:txBody>
          <a:bodyPr wrap="square" rtlCol="0">
            <a:spAutoFit/>
          </a:bodyPr>
          <a:lstStyle/>
          <a:p>
            <a:pPr algn="ctr"/>
            <a:r>
              <a:rPr lang="en-IN" sz="2000" b="1" dirty="0">
                <a:solidFill>
                  <a:srgbClr val="FFC000"/>
                </a:solidFill>
              </a:rPr>
              <a:t>Business Request-3:  </a:t>
            </a:r>
            <a:r>
              <a:rPr lang="en-IN" sz="2000" dirty="0">
                <a:solidFill>
                  <a:srgbClr val="FFC000"/>
                </a:solidFill>
              </a:rPr>
              <a:t>City- Level Repeat Passenger Trip Frequency Report</a:t>
            </a:r>
          </a:p>
        </p:txBody>
      </p:sp>
      <p:pic>
        <p:nvPicPr>
          <p:cNvPr id="5" name="Picture 4">
            <a:extLst>
              <a:ext uri="{FF2B5EF4-FFF2-40B4-BE49-F238E27FC236}">
                <a16:creationId xmlns:a16="http://schemas.microsoft.com/office/drawing/2014/main" id="{2048912F-946B-EE49-C56A-C86E8803D11D}"/>
              </a:ext>
            </a:extLst>
          </p:cNvPr>
          <p:cNvPicPr>
            <a:picLocks noChangeAspect="1"/>
          </p:cNvPicPr>
          <p:nvPr/>
        </p:nvPicPr>
        <p:blipFill>
          <a:blip r:embed="rId4">
            <a:grayscl/>
            <a:extLst>
              <a:ext uri="{28A0092B-C50C-407E-A947-70E740481C1C}">
                <a14:useLocalDpi xmlns:a14="http://schemas.microsoft.com/office/drawing/2010/main" val="0"/>
              </a:ext>
            </a:extLst>
          </a:blip>
          <a:stretch>
            <a:fillRect/>
          </a:stretch>
        </p:blipFill>
        <p:spPr>
          <a:xfrm>
            <a:off x="2319357" y="2301098"/>
            <a:ext cx="7553285" cy="2407506"/>
          </a:xfrm>
          <a:prstGeom prst="rect">
            <a:avLst/>
          </a:prstGeom>
        </p:spPr>
      </p:pic>
      <p:sp>
        <p:nvSpPr>
          <p:cNvPr id="3" name="Rectangle 2">
            <a:extLst>
              <a:ext uri="{FF2B5EF4-FFF2-40B4-BE49-F238E27FC236}">
                <a16:creationId xmlns:a16="http://schemas.microsoft.com/office/drawing/2014/main" id="{9FD3D611-9AF7-1013-7B5C-7E2C3A07136F}"/>
              </a:ext>
            </a:extLst>
          </p:cNvPr>
          <p:cNvSpPr/>
          <p:nvPr/>
        </p:nvSpPr>
        <p:spPr>
          <a:xfrm>
            <a:off x="9183303" y="2368455"/>
            <a:ext cx="785191" cy="213493"/>
          </a:xfrm>
          <a:prstGeom prst="rect">
            <a:avLst/>
          </a:prstGeom>
          <a:noFill/>
          <a:ln>
            <a:solidFill>
              <a:schemeClr val="accent6">
                <a:lumMod val="75000"/>
              </a:schemeClr>
            </a:solidFill>
          </a:ln>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808D73CC-F49D-1952-5061-CC61A758AB56}"/>
              </a:ext>
            </a:extLst>
          </p:cNvPr>
          <p:cNvSpPr/>
          <p:nvPr/>
        </p:nvSpPr>
        <p:spPr>
          <a:xfrm>
            <a:off x="3299792" y="2320242"/>
            <a:ext cx="785191" cy="213493"/>
          </a:xfrm>
          <a:prstGeom prst="rect">
            <a:avLst/>
          </a:prstGeom>
          <a:noFill/>
          <a:effectLst>
            <a:glow rad="635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1">
            <a:extLst>
              <a:ext uri="{FF2B5EF4-FFF2-40B4-BE49-F238E27FC236}">
                <a16:creationId xmlns:a16="http://schemas.microsoft.com/office/drawing/2014/main" id="{F3CB2005-99CB-F2E0-FEB4-AD4CA6572E1D}"/>
              </a:ext>
            </a:extLst>
          </p:cNvPr>
          <p:cNvSpPr>
            <a:spLocks noChangeArrowheads="1"/>
          </p:cNvSpPr>
          <p:nvPr/>
        </p:nvSpPr>
        <p:spPr bwMode="auto">
          <a:xfrm>
            <a:off x="2447082" y="5273423"/>
            <a:ext cx="862404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 Tourist Cities(Mysore, Jaipur) and Mixed cities (Kochi, Chandigarh) lean towards 2-Trips.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Business cities have good distribution of trip frequency. </a:t>
            </a:r>
            <a:endParaRPr kumimoji="0" lang="en-US" altLang="en-US" sz="1600" i="0" u="none" strike="noStrike" cap="none" normalizeH="0" baseline="0" dirty="0">
              <a:ln>
                <a:noFill/>
              </a:ln>
              <a:solidFill>
                <a:schemeClr val="bg1">
                  <a:lumMod val="85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030724AC-406E-827C-F3D5-B86803DCC7DF}"/>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3756847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40FBE-3FD8-DEF5-5D32-55779C478A5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DB0DF93-6E46-D20B-B6A3-343344F8B0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9334" y="-146196"/>
            <a:ext cx="1286185" cy="953365"/>
          </a:xfrm>
          <a:prstGeom prst="rect">
            <a:avLst/>
          </a:prstGeom>
          <a:ln>
            <a:noFill/>
          </a:ln>
        </p:spPr>
      </p:pic>
      <p:sp>
        <p:nvSpPr>
          <p:cNvPr id="6" name="TextBox 5">
            <a:extLst>
              <a:ext uri="{FF2B5EF4-FFF2-40B4-BE49-F238E27FC236}">
                <a16:creationId xmlns:a16="http://schemas.microsoft.com/office/drawing/2014/main" id="{D9621EDB-0DB9-EBF2-E104-B5977E188EFB}"/>
              </a:ext>
            </a:extLst>
          </p:cNvPr>
          <p:cNvSpPr txBox="1"/>
          <p:nvPr/>
        </p:nvSpPr>
        <p:spPr>
          <a:xfrm>
            <a:off x="5160131" y="556789"/>
            <a:ext cx="1524590" cy="395560"/>
          </a:xfrm>
          <a:prstGeom prst="rect">
            <a:avLst/>
          </a:prstGeom>
          <a:noFill/>
        </p:spPr>
        <p:txBody>
          <a:bodyPr wrap="square" rtlCol="0">
            <a:spAutoFit/>
          </a:bodyPr>
          <a:lstStyle/>
          <a:p>
            <a:pPr algn="ctr"/>
            <a:r>
              <a:rPr lang="en-US" dirty="0">
                <a:solidFill>
                  <a:schemeClr val="tx1">
                    <a:lumMod val="75000"/>
                    <a:lumOff val="25000"/>
                  </a:schemeClr>
                </a:solidFill>
                <a:latin typeface="Arial Rounded MT Bold" panose="020F0704030504030204" pitchFamily="34" charset="0"/>
              </a:rPr>
              <a:t>Good Cabs</a:t>
            </a:r>
            <a:endParaRPr lang="en-IN" dirty="0">
              <a:solidFill>
                <a:schemeClr val="tx1">
                  <a:lumMod val="75000"/>
                  <a:lumOff val="25000"/>
                </a:schemeClr>
              </a:solidFill>
              <a:latin typeface="Arial Rounded MT Bold" panose="020F0704030504030204" pitchFamily="34" charset="0"/>
            </a:endParaRPr>
          </a:p>
        </p:txBody>
      </p:sp>
      <p:sp>
        <p:nvSpPr>
          <p:cNvPr id="2" name="TextBox 1">
            <a:extLst>
              <a:ext uri="{FF2B5EF4-FFF2-40B4-BE49-F238E27FC236}">
                <a16:creationId xmlns:a16="http://schemas.microsoft.com/office/drawing/2014/main" id="{0EEB2F96-08D7-337C-E7A7-311A33B93070}"/>
              </a:ext>
            </a:extLst>
          </p:cNvPr>
          <p:cNvSpPr txBox="1"/>
          <p:nvPr/>
        </p:nvSpPr>
        <p:spPr>
          <a:xfrm>
            <a:off x="32046" y="1749287"/>
            <a:ext cx="12192000" cy="400110"/>
          </a:xfrm>
          <a:prstGeom prst="rect">
            <a:avLst/>
          </a:prstGeom>
          <a:noFill/>
        </p:spPr>
        <p:txBody>
          <a:bodyPr wrap="square" rtlCol="0">
            <a:spAutoFit/>
          </a:bodyPr>
          <a:lstStyle/>
          <a:p>
            <a:pPr algn="ctr"/>
            <a:r>
              <a:rPr lang="en-IN" sz="2000" b="1" dirty="0">
                <a:solidFill>
                  <a:srgbClr val="FFC000"/>
                </a:solidFill>
              </a:rPr>
              <a:t>Business Request-4:  </a:t>
            </a:r>
            <a:r>
              <a:rPr lang="en-IN" sz="2000" dirty="0">
                <a:solidFill>
                  <a:srgbClr val="FFC000"/>
                </a:solidFill>
              </a:rPr>
              <a:t>Identify Cities with Highest and Lowest Total New Passengers</a:t>
            </a:r>
          </a:p>
        </p:txBody>
      </p:sp>
      <p:pic>
        <p:nvPicPr>
          <p:cNvPr id="7" name="Picture 6">
            <a:extLst>
              <a:ext uri="{FF2B5EF4-FFF2-40B4-BE49-F238E27FC236}">
                <a16:creationId xmlns:a16="http://schemas.microsoft.com/office/drawing/2014/main" id="{90D1DA66-0F38-40FA-3BA5-1AC22EFFE8BA}"/>
              </a:ext>
            </a:extLst>
          </p:cNvPr>
          <p:cNvPicPr>
            <a:picLocks noChangeAspect="1"/>
          </p:cNvPicPr>
          <p:nvPr/>
        </p:nvPicPr>
        <p:blipFill>
          <a:blip r:embed="rId4">
            <a:grayscl/>
            <a:extLst>
              <a:ext uri="{28A0092B-C50C-407E-A947-70E740481C1C}">
                <a14:useLocalDpi xmlns:a14="http://schemas.microsoft.com/office/drawing/2010/main" val="0"/>
              </a:ext>
            </a:extLst>
          </a:blip>
          <a:stretch>
            <a:fillRect/>
          </a:stretch>
        </p:blipFill>
        <p:spPr>
          <a:xfrm>
            <a:off x="3214013" y="2556456"/>
            <a:ext cx="5416826" cy="2109635"/>
          </a:xfrm>
          <a:prstGeom prst="rect">
            <a:avLst/>
          </a:prstGeom>
        </p:spPr>
      </p:pic>
      <p:sp>
        <p:nvSpPr>
          <p:cNvPr id="3" name="Rectangle 2">
            <a:extLst>
              <a:ext uri="{FF2B5EF4-FFF2-40B4-BE49-F238E27FC236}">
                <a16:creationId xmlns:a16="http://schemas.microsoft.com/office/drawing/2014/main" id="{B1D8F565-EB06-F6F7-340D-A37539DAAE91}"/>
              </a:ext>
            </a:extLst>
          </p:cNvPr>
          <p:cNvSpPr/>
          <p:nvPr/>
        </p:nvSpPr>
        <p:spPr>
          <a:xfrm>
            <a:off x="3214013" y="2975810"/>
            <a:ext cx="5416826" cy="791120"/>
          </a:xfrm>
          <a:prstGeom prst="rect">
            <a:avLst/>
          </a:prstGeom>
          <a:noFill/>
          <a:ln>
            <a:solidFill>
              <a:schemeClr val="accent6">
                <a:lumMod val="20000"/>
                <a:lumOff val="80000"/>
              </a:schemeClr>
            </a:solidFill>
          </a:ln>
          <a:effectLst>
            <a:glow rad="635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82428A89-5B51-989B-3FD5-105EB742E982}"/>
              </a:ext>
            </a:extLst>
          </p:cNvPr>
          <p:cNvSpPr/>
          <p:nvPr/>
        </p:nvSpPr>
        <p:spPr>
          <a:xfrm>
            <a:off x="3214012" y="3759311"/>
            <a:ext cx="5416825" cy="914400"/>
          </a:xfrm>
          <a:prstGeom prst="rect">
            <a:avLst/>
          </a:prstGeom>
          <a:noFill/>
          <a:ln>
            <a:solidFill>
              <a:schemeClr val="accent2">
                <a:lumMod val="20000"/>
                <a:lumOff val="80000"/>
              </a:schemeClr>
            </a:solidFill>
          </a:ln>
          <a:effectLst>
            <a:glow rad="635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AB9A3CC8-E214-9EB5-457A-02CBB4383158}"/>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1530160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6474C-F586-5EB8-E14F-4CB21841F3C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0F07ACF-1B0B-4AE1-A304-9DFC955B94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9334" y="-146196"/>
            <a:ext cx="1286185" cy="953365"/>
          </a:xfrm>
          <a:prstGeom prst="rect">
            <a:avLst/>
          </a:prstGeom>
          <a:ln>
            <a:noFill/>
          </a:ln>
        </p:spPr>
      </p:pic>
      <p:sp>
        <p:nvSpPr>
          <p:cNvPr id="6" name="TextBox 5">
            <a:extLst>
              <a:ext uri="{FF2B5EF4-FFF2-40B4-BE49-F238E27FC236}">
                <a16:creationId xmlns:a16="http://schemas.microsoft.com/office/drawing/2014/main" id="{60FCFCFD-817A-BF9D-28C9-A1DE9B382965}"/>
              </a:ext>
            </a:extLst>
          </p:cNvPr>
          <p:cNvSpPr txBox="1"/>
          <p:nvPr/>
        </p:nvSpPr>
        <p:spPr>
          <a:xfrm>
            <a:off x="5160131" y="556789"/>
            <a:ext cx="1524590" cy="395560"/>
          </a:xfrm>
          <a:prstGeom prst="rect">
            <a:avLst/>
          </a:prstGeom>
          <a:noFill/>
        </p:spPr>
        <p:txBody>
          <a:bodyPr wrap="square" rtlCol="0">
            <a:spAutoFit/>
          </a:bodyPr>
          <a:lstStyle/>
          <a:p>
            <a:pPr algn="ctr"/>
            <a:r>
              <a:rPr lang="en-US" dirty="0">
                <a:solidFill>
                  <a:schemeClr val="tx1">
                    <a:lumMod val="75000"/>
                    <a:lumOff val="25000"/>
                  </a:schemeClr>
                </a:solidFill>
                <a:latin typeface="Arial Rounded MT Bold" panose="020F0704030504030204" pitchFamily="34" charset="0"/>
              </a:rPr>
              <a:t>Good Cabs</a:t>
            </a:r>
            <a:endParaRPr lang="en-IN" dirty="0">
              <a:solidFill>
                <a:schemeClr val="tx1">
                  <a:lumMod val="75000"/>
                  <a:lumOff val="25000"/>
                </a:schemeClr>
              </a:solidFill>
              <a:latin typeface="Arial Rounded MT Bold" panose="020F0704030504030204" pitchFamily="34" charset="0"/>
            </a:endParaRPr>
          </a:p>
        </p:txBody>
      </p:sp>
      <p:sp>
        <p:nvSpPr>
          <p:cNvPr id="2" name="TextBox 1">
            <a:extLst>
              <a:ext uri="{FF2B5EF4-FFF2-40B4-BE49-F238E27FC236}">
                <a16:creationId xmlns:a16="http://schemas.microsoft.com/office/drawing/2014/main" id="{851DD913-6A71-0697-A945-CE68587F16C6}"/>
              </a:ext>
            </a:extLst>
          </p:cNvPr>
          <p:cNvSpPr txBox="1"/>
          <p:nvPr/>
        </p:nvSpPr>
        <p:spPr>
          <a:xfrm>
            <a:off x="32046" y="1455279"/>
            <a:ext cx="12192000" cy="400110"/>
          </a:xfrm>
          <a:prstGeom prst="rect">
            <a:avLst/>
          </a:prstGeom>
          <a:noFill/>
        </p:spPr>
        <p:txBody>
          <a:bodyPr wrap="square" rtlCol="0">
            <a:spAutoFit/>
          </a:bodyPr>
          <a:lstStyle/>
          <a:p>
            <a:pPr algn="ctr"/>
            <a:r>
              <a:rPr lang="en-IN" sz="2000" b="1" dirty="0">
                <a:solidFill>
                  <a:srgbClr val="FFC000"/>
                </a:solidFill>
              </a:rPr>
              <a:t>Business Request-5:  </a:t>
            </a:r>
            <a:r>
              <a:rPr lang="en-IN" sz="2000" dirty="0">
                <a:solidFill>
                  <a:srgbClr val="FFC000"/>
                </a:solidFill>
              </a:rPr>
              <a:t>Identify Month with Highest Revenue for Each City</a:t>
            </a:r>
          </a:p>
        </p:txBody>
      </p:sp>
      <p:pic>
        <p:nvPicPr>
          <p:cNvPr id="5" name="Picture 4">
            <a:extLst>
              <a:ext uri="{FF2B5EF4-FFF2-40B4-BE49-F238E27FC236}">
                <a16:creationId xmlns:a16="http://schemas.microsoft.com/office/drawing/2014/main" id="{F1E030C1-2E1B-AAD8-B2BA-1585EE5BBCE6}"/>
              </a:ext>
            </a:extLst>
          </p:cNvPr>
          <p:cNvPicPr>
            <a:picLocks noChangeAspect="1"/>
          </p:cNvPicPr>
          <p:nvPr/>
        </p:nvPicPr>
        <p:blipFill>
          <a:blip r:embed="rId4">
            <a:grayscl/>
            <a:extLst>
              <a:ext uri="{28A0092B-C50C-407E-A947-70E740481C1C}">
                <a14:useLocalDpi xmlns:a14="http://schemas.microsoft.com/office/drawing/2010/main" val="0"/>
              </a:ext>
            </a:extLst>
          </a:blip>
          <a:stretch>
            <a:fillRect/>
          </a:stretch>
        </p:blipFill>
        <p:spPr>
          <a:xfrm>
            <a:off x="3494177" y="2401702"/>
            <a:ext cx="5267738" cy="2627497"/>
          </a:xfrm>
          <a:prstGeom prst="rect">
            <a:avLst/>
          </a:prstGeom>
        </p:spPr>
      </p:pic>
      <p:sp>
        <p:nvSpPr>
          <p:cNvPr id="3" name="TextBox 2">
            <a:extLst>
              <a:ext uri="{FF2B5EF4-FFF2-40B4-BE49-F238E27FC236}">
                <a16:creationId xmlns:a16="http://schemas.microsoft.com/office/drawing/2014/main" id="{4B49FF35-98E6-32C7-CA5C-4DE8C916D7B1}"/>
              </a:ext>
            </a:extLst>
          </p:cNvPr>
          <p:cNvSpPr txBox="1"/>
          <p:nvPr/>
        </p:nvSpPr>
        <p:spPr>
          <a:xfrm>
            <a:off x="3611149" y="5456349"/>
            <a:ext cx="7679702" cy="338554"/>
          </a:xfrm>
          <a:prstGeom prst="rect">
            <a:avLst/>
          </a:prstGeom>
          <a:noFill/>
        </p:spPr>
        <p:txBody>
          <a:bodyPr wrap="square" rtlCol="0">
            <a:spAutoFit/>
          </a:bodyPr>
          <a:lstStyle/>
          <a:p>
            <a:r>
              <a:rPr lang="en-US" sz="1600" b="1" dirty="0">
                <a:solidFill>
                  <a:schemeClr val="bg1">
                    <a:lumMod val="85000"/>
                  </a:schemeClr>
                </a:solidFill>
              </a:rPr>
              <a:t>February</a:t>
            </a:r>
            <a:r>
              <a:rPr lang="en-US" sz="1600" dirty="0">
                <a:solidFill>
                  <a:schemeClr val="bg1">
                    <a:lumMod val="85000"/>
                  </a:schemeClr>
                </a:solidFill>
              </a:rPr>
              <a:t> and </a:t>
            </a:r>
            <a:r>
              <a:rPr lang="en-US" sz="1600" b="1" dirty="0">
                <a:solidFill>
                  <a:schemeClr val="bg1">
                    <a:lumMod val="85000"/>
                  </a:schemeClr>
                </a:solidFill>
              </a:rPr>
              <a:t>May</a:t>
            </a:r>
            <a:r>
              <a:rPr lang="en-US" sz="1600" dirty="0">
                <a:solidFill>
                  <a:schemeClr val="bg1">
                    <a:lumMod val="85000"/>
                  </a:schemeClr>
                </a:solidFill>
              </a:rPr>
              <a:t> stand out as high revenue performing months</a:t>
            </a:r>
            <a:endParaRPr lang="en-IN" sz="1600" dirty="0">
              <a:solidFill>
                <a:schemeClr val="bg1">
                  <a:lumMod val="85000"/>
                </a:schemeClr>
              </a:solidFill>
            </a:endParaRPr>
          </a:p>
        </p:txBody>
      </p:sp>
      <p:sp>
        <p:nvSpPr>
          <p:cNvPr id="7" name="TextBox 6">
            <a:extLst>
              <a:ext uri="{FF2B5EF4-FFF2-40B4-BE49-F238E27FC236}">
                <a16:creationId xmlns:a16="http://schemas.microsoft.com/office/drawing/2014/main" id="{4BA0A7A1-5368-7C57-3789-B064A0ED7B57}"/>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2867220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F9739-E16F-A21E-9BE4-8D2B034F0414}"/>
            </a:ext>
          </a:extLst>
        </p:cNvPr>
        <p:cNvGrpSpPr/>
        <p:nvPr/>
      </p:nvGrpSpPr>
      <p:grpSpPr>
        <a:xfrm>
          <a:off x="0" y="0"/>
          <a:ext cx="0" cy="0"/>
          <a:chOff x="0" y="0"/>
          <a:chExt cx="0" cy="0"/>
        </a:xfrm>
      </p:grpSpPr>
      <p:sp>
        <p:nvSpPr>
          <p:cNvPr id="33" name="TextBox 32">
            <a:extLst>
              <a:ext uri="{FF2B5EF4-FFF2-40B4-BE49-F238E27FC236}">
                <a16:creationId xmlns:a16="http://schemas.microsoft.com/office/drawing/2014/main" id="{B1B33646-C5E5-498F-916E-F828E3BCBD2C}"/>
              </a:ext>
            </a:extLst>
          </p:cNvPr>
          <p:cNvSpPr txBox="1"/>
          <p:nvPr/>
        </p:nvSpPr>
        <p:spPr>
          <a:xfrm>
            <a:off x="2153932" y="2581948"/>
            <a:ext cx="529799" cy="393862"/>
          </a:xfrm>
          <a:prstGeom prst="rect">
            <a:avLst/>
          </a:prstGeom>
          <a:noFill/>
        </p:spPr>
        <p:txBody>
          <a:bodyPr wrap="square" rtlCol="0">
            <a:spAutoFit/>
          </a:bodyPr>
          <a:lstStyle/>
          <a:p>
            <a:r>
              <a:rPr lang="en-IN" dirty="0">
                <a:solidFill>
                  <a:schemeClr val="accent6">
                    <a:lumMod val="40000"/>
                    <a:lumOff val="60000"/>
                  </a:schemeClr>
                </a:solidFill>
                <a:latin typeface="Segoe UI Semibold" panose="020B0702040204020203" pitchFamily="34" charset="0"/>
                <a:cs typeface="Segoe UI Semibold" panose="020B0702040204020203" pitchFamily="34" charset="0"/>
              </a:rPr>
              <a:t>1.</a:t>
            </a:r>
          </a:p>
        </p:txBody>
      </p:sp>
      <p:pic>
        <p:nvPicPr>
          <p:cNvPr id="4" name="Picture 3">
            <a:extLst>
              <a:ext uri="{FF2B5EF4-FFF2-40B4-BE49-F238E27FC236}">
                <a16:creationId xmlns:a16="http://schemas.microsoft.com/office/drawing/2014/main" id="{EF5B9A8E-A99F-3043-C9C9-579E2B1B63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9334" y="-146196"/>
            <a:ext cx="1286185" cy="953365"/>
          </a:xfrm>
          <a:prstGeom prst="rect">
            <a:avLst/>
          </a:prstGeom>
          <a:ln>
            <a:noFill/>
          </a:ln>
        </p:spPr>
      </p:pic>
      <p:sp>
        <p:nvSpPr>
          <p:cNvPr id="6" name="TextBox 5">
            <a:extLst>
              <a:ext uri="{FF2B5EF4-FFF2-40B4-BE49-F238E27FC236}">
                <a16:creationId xmlns:a16="http://schemas.microsoft.com/office/drawing/2014/main" id="{09EFF8A5-93E1-A584-180B-C7107616334B}"/>
              </a:ext>
            </a:extLst>
          </p:cNvPr>
          <p:cNvSpPr txBox="1"/>
          <p:nvPr/>
        </p:nvSpPr>
        <p:spPr>
          <a:xfrm>
            <a:off x="5160131" y="556789"/>
            <a:ext cx="1524590" cy="369332"/>
          </a:xfrm>
          <a:prstGeom prst="rect">
            <a:avLst/>
          </a:prstGeom>
          <a:noFill/>
        </p:spPr>
        <p:txBody>
          <a:bodyPr wrap="square" rtlCol="0">
            <a:spAutoFit/>
          </a:bodyPr>
          <a:lstStyle/>
          <a:p>
            <a:pPr algn="ctr"/>
            <a:r>
              <a:rPr lang="en-US" dirty="0">
                <a:solidFill>
                  <a:schemeClr val="bg1">
                    <a:lumMod val="85000"/>
                  </a:schemeClr>
                </a:solidFill>
                <a:latin typeface="Arial Rounded MT Bold" panose="020F0704030504030204" pitchFamily="34" charset="0"/>
              </a:rPr>
              <a:t>Good Cabs</a:t>
            </a:r>
            <a:endParaRPr lang="en-IN" dirty="0">
              <a:solidFill>
                <a:schemeClr val="bg1">
                  <a:lumMod val="85000"/>
                </a:schemeClr>
              </a:solidFill>
              <a:latin typeface="Arial Rounded MT Bold" panose="020F0704030504030204" pitchFamily="34" charset="0"/>
            </a:endParaRPr>
          </a:p>
        </p:txBody>
      </p:sp>
      <p:sp>
        <p:nvSpPr>
          <p:cNvPr id="2" name="TextBox 1">
            <a:extLst>
              <a:ext uri="{FF2B5EF4-FFF2-40B4-BE49-F238E27FC236}">
                <a16:creationId xmlns:a16="http://schemas.microsoft.com/office/drawing/2014/main" id="{02D3257F-0214-1685-5F97-7963907EAAE2}"/>
              </a:ext>
            </a:extLst>
          </p:cNvPr>
          <p:cNvSpPr txBox="1"/>
          <p:nvPr/>
        </p:nvSpPr>
        <p:spPr>
          <a:xfrm>
            <a:off x="0" y="1368127"/>
            <a:ext cx="12192000" cy="400110"/>
          </a:xfrm>
          <a:prstGeom prst="rect">
            <a:avLst/>
          </a:prstGeom>
          <a:noFill/>
        </p:spPr>
        <p:txBody>
          <a:bodyPr wrap="square" rtlCol="0">
            <a:spAutoFit/>
          </a:bodyPr>
          <a:lstStyle/>
          <a:p>
            <a:pPr algn="ctr"/>
            <a:r>
              <a:rPr lang="en-IN" sz="2000" b="1" dirty="0">
                <a:solidFill>
                  <a:srgbClr val="FFC000"/>
                </a:solidFill>
              </a:rPr>
              <a:t>Business Request-6:  </a:t>
            </a:r>
            <a:r>
              <a:rPr lang="en-IN" sz="2000" dirty="0">
                <a:solidFill>
                  <a:srgbClr val="FFC000"/>
                </a:solidFill>
              </a:rPr>
              <a:t>Repeat Passenger Rate Analysis</a:t>
            </a:r>
          </a:p>
        </p:txBody>
      </p:sp>
      <p:pic>
        <p:nvPicPr>
          <p:cNvPr id="7" name="Picture 6">
            <a:extLst>
              <a:ext uri="{FF2B5EF4-FFF2-40B4-BE49-F238E27FC236}">
                <a16:creationId xmlns:a16="http://schemas.microsoft.com/office/drawing/2014/main" id="{B0E33E1D-D8A3-E013-4D74-92F3746C60BD}"/>
              </a:ext>
            </a:extLst>
          </p:cNvPr>
          <p:cNvPicPr>
            <a:picLocks noChangeAspect="1"/>
          </p:cNvPicPr>
          <p:nvPr/>
        </p:nvPicPr>
        <p:blipFill>
          <a:blip r:embed="rId4">
            <a:grayscl/>
            <a:extLst>
              <a:ext uri="{28A0092B-C50C-407E-A947-70E740481C1C}">
                <a14:useLocalDpi xmlns:a14="http://schemas.microsoft.com/office/drawing/2010/main" val="0"/>
              </a:ext>
            </a:extLst>
          </a:blip>
          <a:stretch>
            <a:fillRect/>
          </a:stretch>
        </p:blipFill>
        <p:spPr>
          <a:xfrm>
            <a:off x="1462710" y="2040836"/>
            <a:ext cx="4189110" cy="2588317"/>
          </a:xfrm>
          <a:prstGeom prst="rect">
            <a:avLst/>
          </a:prstGeom>
        </p:spPr>
      </p:pic>
      <p:pic>
        <p:nvPicPr>
          <p:cNvPr id="9" name="Picture 8">
            <a:extLst>
              <a:ext uri="{FF2B5EF4-FFF2-40B4-BE49-F238E27FC236}">
                <a16:creationId xmlns:a16="http://schemas.microsoft.com/office/drawing/2014/main" id="{DE91A521-A31C-F7B8-B045-FB58CA30C4DB}"/>
              </a:ext>
            </a:extLst>
          </p:cNvPr>
          <p:cNvPicPr>
            <a:picLocks noChangeAspect="1"/>
          </p:cNvPicPr>
          <p:nvPr/>
        </p:nvPicPr>
        <p:blipFill>
          <a:blip r:embed="rId5">
            <a:grayscl/>
            <a:extLst>
              <a:ext uri="{28A0092B-C50C-407E-A947-70E740481C1C}">
                <a14:useLocalDpi xmlns:a14="http://schemas.microsoft.com/office/drawing/2010/main" val="0"/>
              </a:ext>
            </a:extLst>
          </a:blip>
          <a:stretch>
            <a:fillRect/>
          </a:stretch>
        </p:blipFill>
        <p:spPr>
          <a:xfrm>
            <a:off x="6343042" y="2040836"/>
            <a:ext cx="4386248" cy="2588317"/>
          </a:xfrm>
          <a:prstGeom prst="rect">
            <a:avLst/>
          </a:prstGeom>
        </p:spPr>
      </p:pic>
      <p:pic>
        <p:nvPicPr>
          <p:cNvPr id="11" name="Picture 10">
            <a:extLst>
              <a:ext uri="{FF2B5EF4-FFF2-40B4-BE49-F238E27FC236}">
                <a16:creationId xmlns:a16="http://schemas.microsoft.com/office/drawing/2014/main" id="{5BBDDCB4-3DCE-D17E-A224-0E541E84C44B}"/>
              </a:ext>
            </a:extLst>
          </p:cNvPr>
          <p:cNvPicPr>
            <a:picLocks noChangeAspect="1"/>
          </p:cNvPicPr>
          <p:nvPr/>
        </p:nvPicPr>
        <p:blipFill>
          <a:blip r:embed="rId6">
            <a:grayscl/>
            <a:extLst>
              <a:ext uri="{28A0092B-C50C-407E-A947-70E740481C1C}">
                <a14:useLocalDpi xmlns:a14="http://schemas.microsoft.com/office/drawing/2010/main" val="0"/>
              </a:ext>
            </a:extLst>
          </a:blip>
          <a:stretch>
            <a:fillRect/>
          </a:stretch>
        </p:blipFill>
        <p:spPr>
          <a:xfrm>
            <a:off x="3902876" y="4901753"/>
            <a:ext cx="4386248" cy="1516539"/>
          </a:xfrm>
          <a:prstGeom prst="rect">
            <a:avLst/>
          </a:prstGeom>
        </p:spPr>
      </p:pic>
      <p:sp>
        <p:nvSpPr>
          <p:cNvPr id="3" name="TextBox 2">
            <a:extLst>
              <a:ext uri="{FF2B5EF4-FFF2-40B4-BE49-F238E27FC236}">
                <a16:creationId xmlns:a16="http://schemas.microsoft.com/office/drawing/2014/main" id="{AD4A4A0C-2A01-2113-DC54-03A9A6A464D8}"/>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135043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25341-EA85-815F-A172-2CF0C71F569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7B7B27C-7536-E509-129C-33E3B43C6A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4302" y="2002725"/>
            <a:ext cx="1286185" cy="953365"/>
          </a:xfrm>
          <a:prstGeom prst="rect">
            <a:avLst/>
          </a:prstGeom>
          <a:ln>
            <a:noFill/>
          </a:ln>
        </p:spPr>
      </p:pic>
      <p:sp>
        <p:nvSpPr>
          <p:cNvPr id="5" name="TextBox 4">
            <a:extLst>
              <a:ext uri="{FF2B5EF4-FFF2-40B4-BE49-F238E27FC236}">
                <a16:creationId xmlns:a16="http://schemas.microsoft.com/office/drawing/2014/main" id="{E0379CB2-57EE-63EA-2A38-18BA4A7CC2D3}"/>
              </a:ext>
            </a:extLst>
          </p:cNvPr>
          <p:cNvSpPr txBox="1"/>
          <p:nvPr/>
        </p:nvSpPr>
        <p:spPr>
          <a:xfrm>
            <a:off x="3785152" y="2956090"/>
            <a:ext cx="4621695" cy="646331"/>
          </a:xfrm>
          <a:prstGeom prst="rect">
            <a:avLst/>
          </a:prstGeom>
          <a:noFill/>
        </p:spPr>
        <p:txBody>
          <a:bodyPr wrap="square" rtlCol="0">
            <a:spAutoFit/>
          </a:bodyPr>
          <a:lstStyle/>
          <a:p>
            <a:pPr algn="ctr"/>
            <a:r>
              <a:rPr lang="en-IN" sz="3600" b="1" dirty="0">
                <a:solidFill>
                  <a:srgbClr val="FFC000"/>
                </a:solidFill>
              </a:rPr>
              <a:t>Primary Analysis</a:t>
            </a:r>
          </a:p>
        </p:txBody>
      </p:sp>
      <p:sp>
        <p:nvSpPr>
          <p:cNvPr id="2" name="TextBox 1">
            <a:extLst>
              <a:ext uri="{FF2B5EF4-FFF2-40B4-BE49-F238E27FC236}">
                <a16:creationId xmlns:a16="http://schemas.microsoft.com/office/drawing/2014/main" id="{9DBC32DB-F39E-76C1-8C61-5D38D04B9797}"/>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1845174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830A3-9EAE-5704-AEAC-8702BE5B7A0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8D8D8A9-189E-A55A-DF58-67E06E793E46}"/>
              </a:ext>
            </a:extLst>
          </p:cNvPr>
          <p:cNvSpPr txBox="1"/>
          <p:nvPr/>
        </p:nvSpPr>
        <p:spPr>
          <a:xfrm>
            <a:off x="444825" y="239824"/>
            <a:ext cx="9952794" cy="1254446"/>
          </a:xfrm>
          <a:prstGeom prst="rect">
            <a:avLst/>
          </a:prstGeom>
          <a:noFill/>
        </p:spPr>
        <p:txBody>
          <a:bodyPr wrap="square" rtlCol="0">
            <a:spAutoFit/>
          </a:bodyPr>
          <a:lstStyle/>
          <a:p>
            <a:pPr marL="457200" indent="-457200">
              <a:lnSpc>
                <a:spcPct val="200000"/>
              </a:lnSpc>
              <a:buAutoNum type="arabicPeriod"/>
            </a:pPr>
            <a:r>
              <a:rPr lang="en-IN" sz="2400" b="1" dirty="0">
                <a:solidFill>
                  <a:srgbClr val="FFC000"/>
                </a:solidFill>
              </a:rPr>
              <a:t>Top and Bottom Performing Cities</a:t>
            </a:r>
          </a:p>
          <a:p>
            <a:pPr>
              <a:lnSpc>
                <a:spcPct val="200000"/>
              </a:lnSpc>
            </a:pPr>
            <a:r>
              <a:rPr lang="en-IN" sz="1600" dirty="0">
                <a:solidFill>
                  <a:schemeClr val="accent4">
                    <a:lumMod val="75000"/>
                  </a:schemeClr>
                </a:solidFill>
              </a:rPr>
              <a:t>Identify the top 3 and bottom 3 cities by total trips over the entire analysis period</a:t>
            </a:r>
          </a:p>
        </p:txBody>
      </p:sp>
      <p:pic>
        <p:nvPicPr>
          <p:cNvPr id="5" name="Picture 4">
            <a:extLst>
              <a:ext uri="{FF2B5EF4-FFF2-40B4-BE49-F238E27FC236}">
                <a16:creationId xmlns:a16="http://schemas.microsoft.com/office/drawing/2014/main" id="{8254EE85-0066-EF94-2138-242EBD649E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421" y="2518941"/>
            <a:ext cx="4096322" cy="2212258"/>
          </a:xfrm>
          <a:prstGeom prst="rect">
            <a:avLst/>
          </a:prstGeom>
        </p:spPr>
      </p:pic>
      <p:pic>
        <p:nvPicPr>
          <p:cNvPr id="10" name="Picture 9">
            <a:extLst>
              <a:ext uri="{FF2B5EF4-FFF2-40B4-BE49-F238E27FC236}">
                <a16:creationId xmlns:a16="http://schemas.microsoft.com/office/drawing/2014/main" id="{7339D7CD-9E02-9650-E1E2-52A218B867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3679" y="2468080"/>
            <a:ext cx="3696923" cy="2313980"/>
          </a:xfrm>
          <a:prstGeom prst="rect">
            <a:avLst/>
          </a:prstGeom>
        </p:spPr>
      </p:pic>
      <p:cxnSp>
        <p:nvCxnSpPr>
          <p:cNvPr id="4" name="Straight Connector 3">
            <a:extLst>
              <a:ext uri="{FF2B5EF4-FFF2-40B4-BE49-F238E27FC236}">
                <a16:creationId xmlns:a16="http://schemas.microsoft.com/office/drawing/2014/main" id="{FAB6A915-2791-CFBC-9410-655171928E95}"/>
              </a:ext>
            </a:extLst>
          </p:cNvPr>
          <p:cNvCxnSpPr>
            <a:cxnSpLocks/>
          </p:cNvCxnSpPr>
          <p:nvPr/>
        </p:nvCxnSpPr>
        <p:spPr>
          <a:xfrm>
            <a:off x="8373372" y="2023032"/>
            <a:ext cx="0" cy="4515420"/>
          </a:xfrm>
          <a:prstGeom prst="line">
            <a:avLst/>
          </a:prstGeom>
          <a:ln>
            <a:solidFill>
              <a:schemeClr val="bg1">
                <a:lumMod val="7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6" name="Rectangle 1">
            <a:extLst>
              <a:ext uri="{FF2B5EF4-FFF2-40B4-BE49-F238E27FC236}">
                <a16:creationId xmlns:a16="http://schemas.microsoft.com/office/drawing/2014/main" id="{83EA9FE7-4103-F339-4AD4-DA50A2730CBC}"/>
              </a:ext>
            </a:extLst>
          </p:cNvPr>
          <p:cNvSpPr>
            <a:spLocks noChangeArrowheads="1"/>
          </p:cNvSpPr>
          <p:nvPr/>
        </p:nvSpPr>
        <p:spPr bwMode="auto">
          <a:xfrm>
            <a:off x="8740237" y="2387916"/>
            <a:ext cx="358876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600" i="0" u="none" strike="noStrike" cap="none" normalizeH="0" baseline="0" dirty="0">
                <a:ln>
                  <a:noFill/>
                </a:ln>
                <a:solidFill>
                  <a:srgbClr val="00B050"/>
                </a:solidFill>
                <a:effectLst/>
                <a:latin typeface="Calibri" panose="020F0502020204030204" pitchFamily="34" charset="0"/>
                <a:ea typeface="Calibri" panose="020F0502020204030204" pitchFamily="34" charset="0"/>
                <a:cs typeface="Calibri" panose="020F0502020204030204" pitchFamily="34" charset="0"/>
              </a:rPr>
              <a:t>Top Performing Cities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Jaipur, Lucknow and Surat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Indicates strong  demand in this cities.</a:t>
            </a:r>
          </a:p>
          <a:p>
            <a:pPr marR="0" lvl="0" algn="l" defTabSz="914400" rtl="0" eaLnBrk="0" fontAlgn="base" latinLnBrk="0" hangingPunct="0">
              <a:lnSpc>
                <a:spcPct val="100000"/>
              </a:lnSpc>
              <a:spcBef>
                <a:spcPct val="0"/>
              </a:spcBef>
              <a:spcAft>
                <a:spcPct val="0"/>
              </a:spcAft>
              <a:buClrTx/>
              <a:buSzTx/>
              <a:tabLst/>
            </a:pPr>
            <a:endParaRPr lang="en-US" altLang="en-US" sz="1600" dirty="0"/>
          </a:p>
          <a:p>
            <a:pPr eaLnBrk="0" fontAlgn="base" hangingPunct="0">
              <a:spcBef>
                <a:spcPct val="0"/>
              </a:spcBef>
              <a:spcAft>
                <a:spcPct val="0"/>
              </a:spcAft>
            </a:pPr>
            <a:r>
              <a:rPr kumimoji="0" lang="en-US" altLang="en-US" sz="1600" i="0" u="none" strike="noStrike" cap="none" normalizeH="0" baseline="0" dirty="0">
                <a:ln>
                  <a:noFill/>
                </a:ln>
                <a:solidFill>
                  <a:schemeClr val="accent2">
                    <a:lumMod val="75000"/>
                  </a:schemeClr>
                </a:solidFill>
                <a:effectLst/>
                <a:latin typeface="Calibri" panose="020F0502020204030204" pitchFamily="34" charset="0"/>
                <a:ea typeface="Calibri" panose="020F0502020204030204" pitchFamily="34" charset="0"/>
                <a:cs typeface="Calibri" panose="020F0502020204030204" pitchFamily="34" charset="0"/>
              </a:rPr>
              <a:t>Bottom Performing Cities :</a:t>
            </a:r>
          </a:p>
          <a:p>
            <a:pPr marL="285750" indent="-285750" eaLnBrk="0" fontAlgn="base" hangingPunct="0">
              <a:spcBef>
                <a:spcPct val="0"/>
              </a:spcBef>
              <a:spcAft>
                <a:spcPct val="0"/>
              </a:spcAft>
              <a:buFont typeface="Arial" panose="020B0604020202020204" pitchFamily="34" charset="0"/>
              <a:buChar char="•"/>
            </a:pPr>
            <a:r>
              <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Mysore, Coimbatore and Visakhapatnam</a:t>
            </a:r>
          </a:p>
          <a:p>
            <a:pPr marL="285750" indent="-285750" eaLnBrk="0" fontAlgn="base" hangingPunct="0">
              <a:spcBef>
                <a:spcPct val="0"/>
              </a:spcBef>
              <a:spcAft>
                <a:spcPct val="0"/>
              </a:spcAft>
              <a:buFont typeface="Arial" panose="020B0604020202020204" pitchFamily="34" charset="0"/>
              <a:buChar char="•"/>
            </a:pPr>
            <a:r>
              <a:rPr kumimoji="0" lang="en-US"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Potential issues may be </a:t>
            </a:r>
          </a:p>
          <a:p>
            <a:pPr marL="342900" indent="-342900" eaLnBrk="0" fontAlgn="base" hangingPunct="0">
              <a:spcBef>
                <a:spcPct val="0"/>
              </a:spcBef>
              <a:spcAft>
                <a:spcPct val="0"/>
              </a:spcAft>
              <a:buFont typeface="+mj-lt"/>
              <a:buAutoNum type="arabicPeriod"/>
            </a:pPr>
            <a:r>
              <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Well developed public transport</a:t>
            </a:r>
          </a:p>
          <a:p>
            <a:pPr marL="342900" indent="-342900" eaLnBrk="0" fontAlgn="base" hangingPunct="0">
              <a:spcBef>
                <a:spcPct val="0"/>
              </a:spcBef>
              <a:spcAft>
                <a:spcPct val="0"/>
              </a:spcAft>
              <a:buFont typeface="+mj-lt"/>
              <a:buAutoNum type="arabicPeriod"/>
            </a:pPr>
            <a:r>
              <a:rPr kumimoji="0" lang="en-US"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Price sensitivity</a:t>
            </a:r>
          </a:p>
          <a:p>
            <a:pPr marL="342900" indent="-342900" eaLnBrk="0" fontAlgn="base" hangingPunct="0">
              <a:spcBef>
                <a:spcPct val="0"/>
              </a:spcBef>
              <a:spcAft>
                <a:spcPct val="0"/>
              </a:spcAft>
              <a:buFont typeface="+mj-lt"/>
              <a:buAutoNum type="arabicPeriod"/>
            </a:pPr>
            <a:r>
              <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Limited fleet availability </a:t>
            </a:r>
          </a:p>
          <a:p>
            <a:pPr marL="342900" indent="-342900" eaLnBrk="0" fontAlgn="base" hangingPunct="0">
              <a:spcBef>
                <a:spcPct val="0"/>
              </a:spcBef>
              <a:spcAft>
                <a:spcPct val="0"/>
              </a:spcAft>
              <a:buFont typeface="+mj-lt"/>
              <a:buAutoNum type="arabicPeriod"/>
            </a:pPr>
            <a:r>
              <a:rPr kumimoji="0" lang="en-US"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Poor App Experience</a:t>
            </a:r>
          </a:p>
          <a:p>
            <a:pPr marL="342900" indent="-342900" eaLnBrk="0" fontAlgn="base" hangingPunct="0">
              <a:spcBef>
                <a:spcPct val="0"/>
              </a:spcBef>
              <a:spcAft>
                <a:spcPct val="0"/>
              </a:spcAft>
              <a:buFont typeface="+mj-lt"/>
              <a:buAutoNum type="arabicPeriod"/>
            </a:pPr>
            <a:endParaRPr kumimoji="0" lang="en-US"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tabLst/>
            </a:pPr>
            <a:endParaRPr lang="en-US" altLang="en-US" sz="1600" dirty="0"/>
          </a:p>
        </p:txBody>
      </p:sp>
      <p:sp>
        <p:nvSpPr>
          <p:cNvPr id="8" name="TextBox 7">
            <a:extLst>
              <a:ext uri="{FF2B5EF4-FFF2-40B4-BE49-F238E27FC236}">
                <a16:creationId xmlns:a16="http://schemas.microsoft.com/office/drawing/2014/main" id="{D8DCD4A4-8282-51B5-C947-FEB25BFB24FE}"/>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863452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A09DB-CA80-11A3-A1D2-0BFA07A9903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301DDD-E1CB-7179-9BD1-B847C2E34B5C}"/>
              </a:ext>
            </a:extLst>
          </p:cNvPr>
          <p:cNvSpPr txBox="1"/>
          <p:nvPr/>
        </p:nvSpPr>
        <p:spPr>
          <a:xfrm>
            <a:off x="363793" y="141810"/>
            <a:ext cx="11464413" cy="1323439"/>
          </a:xfrm>
          <a:prstGeom prst="rect">
            <a:avLst/>
          </a:prstGeom>
          <a:noFill/>
        </p:spPr>
        <p:txBody>
          <a:bodyPr wrap="square" rtlCol="0">
            <a:spAutoFit/>
          </a:bodyPr>
          <a:lstStyle/>
          <a:p>
            <a:pPr>
              <a:lnSpc>
                <a:spcPct val="200000"/>
              </a:lnSpc>
            </a:pPr>
            <a:r>
              <a:rPr lang="en-IN" sz="2400" b="1" dirty="0">
                <a:solidFill>
                  <a:srgbClr val="FFC000"/>
                </a:solidFill>
              </a:rPr>
              <a:t>2. Average Fare per Trip per City</a:t>
            </a:r>
          </a:p>
          <a:p>
            <a:r>
              <a:rPr lang="en-IN" sz="1600" dirty="0">
                <a:solidFill>
                  <a:schemeClr val="accent4">
                    <a:lumMod val="75000"/>
                  </a:schemeClr>
                </a:solidFill>
              </a:rPr>
              <a:t>Calculate the average fare per trip for each city and compare it with city’s average trip distance. Identify the cities with the highest and lowest average fare per trip to access pricing efficiency across locations</a:t>
            </a:r>
            <a:r>
              <a:rPr lang="en-IN" sz="1600" dirty="0">
                <a:solidFill>
                  <a:schemeClr val="bg1">
                    <a:lumMod val="95000"/>
                  </a:schemeClr>
                </a:solidFill>
              </a:rPr>
              <a:t>.</a:t>
            </a:r>
          </a:p>
        </p:txBody>
      </p:sp>
      <p:pic>
        <p:nvPicPr>
          <p:cNvPr id="4" name="Picture 3">
            <a:extLst>
              <a:ext uri="{FF2B5EF4-FFF2-40B4-BE49-F238E27FC236}">
                <a16:creationId xmlns:a16="http://schemas.microsoft.com/office/drawing/2014/main" id="{2726E182-C271-BB00-1C6E-E734D79952D3}"/>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a14:imgEffect>
                  </a14:imgLayer>
                </a14:imgProps>
              </a:ext>
            </a:extLst>
          </a:blip>
          <a:stretch>
            <a:fillRect/>
          </a:stretch>
        </p:blipFill>
        <p:spPr>
          <a:xfrm>
            <a:off x="196646" y="2133600"/>
            <a:ext cx="6888695" cy="4149213"/>
          </a:xfrm>
          <a:prstGeom prst="rect">
            <a:avLst/>
          </a:prstGeom>
        </p:spPr>
      </p:pic>
      <p:sp>
        <p:nvSpPr>
          <p:cNvPr id="3" name="Rectangle 1">
            <a:extLst>
              <a:ext uri="{FF2B5EF4-FFF2-40B4-BE49-F238E27FC236}">
                <a16:creationId xmlns:a16="http://schemas.microsoft.com/office/drawing/2014/main" id="{79314E81-94ED-2341-B421-07C905387125}"/>
              </a:ext>
            </a:extLst>
          </p:cNvPr>
          <p:cNvSpPr>
            <a:spLocks noChangeArrowheads="1"/>
          </p:cNvSpPr>
          <p:nvPr/>
        </p:nvSpPr>
        <p:spPr bwMode="auto">
          <a:xfrm>
            <a:off x="7435598" y="2930933"/>
            <a:ext cx="4559756"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Jaipur tops in both trip revenue (₹484) and avg. distance (30 km) due to strong tourism demand.</a:t>
            </a:r>
          </a:p>
          <a:p>
            <a:pPr marR="0" lvl="0" algn="l" defTabSz="914400" rtl="0" eaLnBrk="0" fontAlgn="base" latinLnBrk="0" hangingPunct="0">
              <a:lnSpc>
                <a:spcPct val="100000"/>
              </a:lnSpc>
              <a:spcBef>
                <a:spcPct val="0"/>
              </a:spcBef>
              <a:spcAft>
                <a:spcPct val="0"/>
              </a:spcAft>
              <a:buClrTx/>
              <a:buSzTx/>
              <a:tabLst/>
            </a:pPr>
            <a:endParaRPr kumimoji="0" lang="en-US"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Kochi, Chandigarh, Visakhapatnam show healthy revenue (₹283–₹335) with longer travel, driven by mixed demand (tourism + business).</a:t>
            </a:r>
          </a:p>
          <a:p>
            <a:pPr marR="0" lvl="0" algn="l" defTabSz="914400" rtl="0" eaLnBrk="0" fontAlgn="base" latinLnBrk="0" hangingPunct="0">
              <a:lnSpc>
                <a:spcPct val="100000"/>
              </a:lnSpc>
              <a:spcBef>
                <a:spcPct val="0"/>
              </a:spcBef>
              <a:spcAft>
                <a:spcPct val="0"/>
              </a:spcAft>
              <a:buClrTx/>
              <a:buSzTx/>
              <a:tabLst/>
            </a:pPr>
            <a:endParaRPr kumimoji="0" lang="en-US"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Surat, Vadodara, Lucknow have lower trip counts and shorter distances (11–12.5 km), resulting in less revenue per trip (₹117–₹147).</a:t>
            </a:r>
          </a:p>
        </p:txBody>
      </p:sp>
      <p:cxnSp>
        <p:nvCxnSpPr>
          <p:cNvPr id="5" name="Straight Connector 4">
            <a:extLst>
              <a:ext uri="{FF2B5EF4-FFF2-40B4-BE49-F238E27FC236}">
                <a16:creationId xmlns:a16="http://schemas.microsoft.com/office/drawing/2014/main" id="{1D8FC8A6-E779-00EC-BFBB-E261635FF92B}"/>
              </a:ext>
            </a:extLst>
          </p:cNvPr>
          <p:cNvCxnSpPr>
            <a:cxnSpLocks/>
          </p:cNvCxnSpPr>
          <p:nvPr/>
        </p:nvCxnSpPr>
        <p:spPr>
          <a:xfrm>
            <a:off x="7188489" y="1895212"/>
            <a:ext cx="0" cy="4771059"/>
          </a:xfrm>
          <a:prstGeom prst="line">
            <a:avLst/>
          </a:prstGeom>
          <a:ln>
            <a:solidFill>
              <a:schemeClr val="bg1">
                <a:lumMod val="7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D5D08E6-A4D7-5C7D-0347-9BED5E32A648}"/>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867133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D55AE-82D3-B89C-58EB-8BD9D82ED9C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20DFE72-5186-504A-E2E6-61A5D70914FA}"/>
              </a:ext>
            </a:extLst>
          </p:cNvPr>
          <p:cNvSpPr txBox="1"/>
          <p:nvPr/>
        </p:nvSpPr>
        <p:spPr>
          <a:xfrm>
            <a:off x="511276" y="191729"/>
            <a:ext cx="11464413" cy="1323439"/>
          </a:xfrm>
          <a:prstGeom prst="rect">
            <a:avLst/>
          </a:prstGeom>
          <a:noFill/>
        </p:spPr>
        <p:txBody>
          <a:bodyPr wrap="square" rtlCol="0">
            <a:spAutoFit/>
          </a:bodyPr>
          <a:lstStyle/>
          <a:p>
            <a:pPr>
              <a:lnSpc>
                <a:spcPct val="200000"/>
              </a:lnSpc>
            </a:pPr>
            <a:r>
              <a:rPr lang="en-IN" sz="2400" b="1" dirty="0">
                <a:solidFill>
                  <a:srgbClr val="FFC000"/>
                </a:solidFill>
              </a:rPr>
              <a:t>3. Average Rating by City and Passenger Type</a:t>
            </a:r>
          </a:p>
          <a:p>
            <a:r>
              <a:rPr lang="en-IN" sz="1600" dirty="0">
                <a:solidFill>
                  <a:schemeClr val="accent4">
                    <a:lumMod val="75000"/>
                  </a:schemeClr>
                </a:solidFill>
              </a:rPr>
              <a:t>Calculate the average passenger and driver ratings for each city segmented by passenger type (new vs repeated). Identify cities with the highest and lowest average ratings.</a:t>
            </a:r>
          </a:p>
        </p:txBody>
      </p:sp>
      <p:pic>
        <p:nvPicPr>
          <p:cNvPr id="5" name="Picture 4">
            <a:extLst>
              <a:ext uri="{FF2B5EF4-FFF2-40B4-BE49-F238E27FC236}">
                <a16:creationId xmlns:a16="http://schemas.microsoft.com/office/drawing/2014/main" id="{D73A6A7F-A099-125D-F281-C7E0B3193EA1}"/>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a14:imgEffect>
                  </a14:imgLayer>
                </a14:imgProps>
              </a:ext>
            </a:extLst>
          </a:blip>
          <a:stretch>
            <a:fillRect/>
          </a:stretch>
        </p:blipFill>
        <p:spPr>
          <a:xfrm>
            <a:off x="363793" y="2114829"/>
            <a:ext cx="6283262" cy="4008467"/>
          </a:xfrm>
          <a:prstGeom prst="rect">
            <a:avLst/>
          </a:prstGeom>
        </p:spPr>
      </p:pic>
      <p:cxnSp>
        <p:nvCxnSpPr>
          <p:cNvPr id="3" name="Straight Connector 2">
            <a:extLst>
              <a:ext uri="{FF2B5EF4-FFF2-40B4-BE49-F238E27FC236}">
                <a16:creationId xmlns:a16="http://schemas.microsoft.com/office/drawing/2014/main" id="{30306734-7EF4-E837-0DB9-1A39EE77833D}"/>
              </a:ext>
            </a:extLst>
          </p:cNvPr>
          <p:cNvCxnSpPr>
            <a:cxnSpLocks/>
          </p:cNvCxnSpPr>
          <p:nvPr/>
        </p:nvCxnSpPr>
        <p:spPr>
          <a:xfrm>
            <a:off x="7188489" y="1895212"/>
            <a:ext cx="0" cy="4771059"/>
          </a:xfrm>
          <a:prstGeom prst="line">
            <a:avLst/>
          </a:prstGeom>
          <a:ln>
            <a:solidFill>
              <a:schemeClr val="bg1">
                <a:lumMod val="7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1AD636E4-A150-A6EA-1E7A-C2F527F4A6B4}"/>
              </a:ext>
            </a:extLst>
          </p:cNvPr>
          <p:cNvSpPr>
            <a:spLocks noChangeArrowheads="1"/>
          </p:cNvSpPr>
          <p:nvPr/>
        </p:nvSpPr>
        <p:spPr bwMode="auto">
          <a:xfrm>
            <a:off x="7415933" y="2714626"/>
            <a:ext cx="4559756"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Tourist cities (Jaipur, Mysore) shows overall rating of 9</a:t>
            </a:r>
            <a:r>
              <a:rPr kumimoji="0" lang="en-IN"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 passengers and driver rating, indicates high service quality.</a:t>
            </a:r>
            <a:endParaRPr kumimoji="0" lang="en-US"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Business Cities (Surat, Vadodara) shows 7.5/10 for new passengers but for repeated passengers the drivers rating is 6.5 indicates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IN"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Inconsistency in service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IN"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Lack  of Passengers Engagement</a:t>
            </a:r>
            <a:endPar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3F02E69-B9E1-5311-B30A-C455E59AF282}"/>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2172450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6FB53-C63B-DDC5-03B0-8187EA07927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456566E-008A-ED61-FF3A-9724FBB95C87}"/>
              </a:ext>
            </a:extLst>
          </p:cNvPr>
          <p:cNvSpPr txBox="1"/>
          <p:nvPr/>
        </p:nvSpPr>
        <p:spPr>
          <a:xfrm>
            <a:off x="363792" y="136469"/>
            <a:ext cx="11464413" cy="1323439"/>
          </a:xfrm>
          <a:prstGeom prst="rect">
            <a:avLst/>
          </a:prstGeom>
          <a:noFill/>
        </p:spPr>
        <p:txBody>
          <a:bodyPr wrap="square" rtlCol="0">
            <a:spAutoFit/>
          </a:bodyPr>
          <a:lstStyle/>
          <a:p>
            <a:pPr>
              <a:lnSpc>
                <a:spcPct val="200000"/>
              </a:lnSpc>
            </a:pPr>
            <a:r>
              <a:rPr lang="en-IN" sz="2400" b="1" dirty="0">
                <a:solidFill>
                  <a:srgbClr val="FFC000"/>
                </a:solidFill>
              </a:rPr>
              <a:t>4. Peak and Low Demand Months by City</a:t>
            </a:r>
          </a:p>
          <a:p>
            <a:r>
              <a:rPr lang="en-IN" sz="1600" dirty="0">
                <a:solidFill>
                  <a:schemeClr val="accent4">
                    <a:lumMod val="75000"/>
                  </a:schemeClr>
                </a:solidFill>
              </a:rPr>
              <a:t>For each city Identify the month with the highest total trips (peak demand) and month with lowest trips (low demand). This analysis will help good cabs understand seasonal patterns and adjust resource accordingly.</a:t>
            </a:r>
          </a:p>
        </p:txBody>
      </p:sp>
      <p:pic>
        <p:nvPicPr>
          <p:cNvPr id="4" name="Picture 3">
            <a:extLst>
              <a:ext uri="{FF2B5EF4-FFF2-40B4-BE49-F238E27FC236}">
                <a16:creationId xmlns:a16="http://schemas.microsoft.com/office/drawing/2014/main" id="{6A1198B2-3E19-FEF6-1984-AD3EA1536096}"/>
              </a:ext>
            </a:extLst>
          </p:cNvPr>
          <p:cNvPicPr>
            <a:picLocks noChangeAspect="1"/>
          </p:cNvPicPr>
          <p:nvPr/>
        </p:nvPicPr>
        <p:blipFill>
          <a:blip r:embed="rId3"/>
          <a:stretch>
            <a:fillRect/>
          </a:stretch>
        </p:blipFill>
        <p:spPr>
          <a:xfrm>
            <a:off x="619140" y="2001672"/>
            <a:ext cx="6676395" cy="4856328"/>
          </a:xfrm>
          <a:prstGeom prst="rect">
            <a:avLst/>
          </a:prstGeom>
        </p:spPr>
      </p:pic>
      <p:sp>
        <p:nvSpPr>
          <p:cNvPr id="6" name="Rectangle: Rounded Corners 5">
            <a:extLst>
              <a:ext uri="{FF2B5EF4-FFF2-40B4-BE49-F238E27FC236}">
                <a16:creationId xmlns:a16="http://schemas.microsoft.com/office/drawing/2014/main" id="{4C86BAE5-DD61-15BE-1579-C3C4107AE8DA}"/>
              </a:ext>
            </a:extLst>
          </p:cNvPr>
          <p:cNvSpPr/>
          <p:nvPr/>
        </p:nvSpPr>
        <p:spPr>
          <a:xfrm>
            <a:off x="3018502" y="2713703"/>
            <a:ext cx="737419" cy="334297"/>
          </a:xfrm>
          <a:prstGeom prst="round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6630F18B-293A-42C1-10E6-C4B0B1EF0551}"/>
              </a:ext>
            </a:extLst>
          </p:cNvPr>
          <p:cNvSpPr/>
          <p:nvPr/>
        </p:nvSpPr>
        <p:spPr>
          <a:xfrm>
            <a:off x="3839496" y="3094703"/>
            <a:ext cx="1312607" cy="334297"/>
          </a:xfrm>
          <a:prstGeom prst="round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AA7FD0CD-94C8-994F-30CA-93CC578C7A59}"/>
              </a:ext>
            </a:extLst>
          </p:cNvPr>
          <p:cNvSpPr/>
          <p:nvPr/>
        </p:nvSpPr>
        <p:spPr>
          <a:xfrm>
            <a:off x="5358581" y="3515032"/>
            <a:ext cx="629264" cy="334297"/>
          </a:xfrm>
          <a:prstGeom prst="round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8F58952A-3882-5FE0-034A-C186527E064E}"/>
              </a:ext>
            </a:extLst>
          </p:cNvPr>
          <p:cNvSpPr/>
          <p:nvPr/>
        </p:nvSpPr>
        <p:spPr>
          <a:xfrm>
            <a:off x="3072579" y="3849329"/>
            <a:ext cx="629264" cy="334297"/>
          </a:xfrm>
          <a:prstGeom prst="round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9C1EEA5F-D15C-1592-D590-470C8598F299}"/>
              </a:ext>
            </a:extLst>
          </p:cNvPr>
          <p:cNvSpPr/>
          <p:nvPr/>
        </p:nvSpPr>
        <p:spPr>
          <a:xfrm>
            <a:off x="5358581" y="4262687"/>
            <a:ext cx="629264" cy="334297"/>
          </a:xfrm>
          <a:prstGeom prst="round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24DF7FDD-76C3-6402-73B3-DED342851DD7}"/>
              </a:ext>
            </a:extLst>
          </p:cNvPr>
          <p:cNvSpPr/>
          <p:nvPr/>
        </p:nvSpPr>
        <p:spPr>
          <a:xfrm>
            <a:off x="3072579" y="4658500"/>
            <a:ext cx="629264" cy="334297"/>
          </a:xfrm>
          <a:prstGeom prst="round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318B89AB-879B-B5CD-671E-59EA8616D249}"/>
              </a:ext>
            </a:extLst>
          </p:cNvPr>
          <p:cNvSpPr/>
          <p:nvPr/>
        </p:nvSpPr>
        <p:spPr>
          <a:xfrm>
            <a:off x="5358581" y="5022668"/>
            <a:ext cx="629264" cy="334297"/>
          </a:xfrm>
          <a:prstGeom prst="round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AB0B751F-7A9A-097C-03E4-0D02CF9C1F16}"/>
              </a:ext>
            </a:extLst>
          </p:cNvPr>
          <p:cNvSpPr/>
          <p:nvPr/>
        </p:nvSpPr>
        <p:spPr>
          <a:xfrm>
            <a:off x="4522838" y="5435288"/>
            <a:ext cx="1573161" cy="334297"/>
          </a:xfrm>
          <a:prstGeom prst="round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63090BDC-F928-9971-D06D-6506D30A7023}"/>
              </a:ext>
            </a:extLst>
          </p:cNvPr>
          <p:cNvSpPr/>
          <p:nvPr/>
        </p:nvSpPr>
        <p:spPr>
          <a:xfrm>
            <a:off x="4594122" y="5819894"/>
            <a:ext cx="629264" cy="334297"/>
          </a:xfrm>
          <a:prstGeom prst="round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EA865EDE-AFBD-CD7F-D160-6EE964CF9154}"/>
              </a:ext>
            </a:extLst>
          </p:cNvPr>
          <p:cNvSpPr/>
          <p:nvPr/>
        </p:nvSpPr>
        <p:spPr>
          <a:xfrm>
            <a:off x="3957337" y="6204500"/>
            <a:ext cx="1312606" cy="334297"/>
          </a:xfrm>
          <a:prstGeom prst="roundRect">
            <a:avLst/>
          </a:prstGeom>
          <a:noFill/>
          <a:ln w="2857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FEB10EEA-B6A9-3532-4193-1A8DD9FAAD86}"/>
              </a:ext>
            </a:extLst>
          </p:cNvPr>
          <p:cNvSpPr/>
          <p:nvPr/>
        </p:nvSpPr>
        <p:spPr>
          <a:xfrm>
            <a:off x="4559708" y="2735251"/>
            <a:ext cx="737419" cy="334297"/>
          </a:xfrm>
          <a:prstGeom prst="roundRect">
            <a:avLst/>
          </a:prstGeom>
          <a:noFill/>
          <a:ln w="28575">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D3D9A4CA-E117-D834-FBE5-4D0DF12F07E4}"/>
              </a:ext>
            </a:extLst>
          </p:cNvPr>
          <p:cNvSpPr/>
          <p:nvPr/>
        </p:nvSpPr>
        <p:spPr>
          <a:xfrm>
            <a:off x="6095999" y="3094702"/>
            <a:ext cx="737419" cy="334297"/>
          </a:xfrm>
          <a:prstGeom prst="roundRect">
            <a:avLst/>
          </a:prstGeom>
          <a:noFill/>
          <a:ln w="28575">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AA24B03F-6EAF-A697-A2CC-E76E02FF30F2}"/>
              </a:ext>
            </a:extLst>
          </p:cNvPr>
          <p:cNvSpPr/>
          <p:nvPr/>
        </p:nvSpPr>
        <p:spPr>
          <a:xfrm>
            <a:off x="6100917" y="3515032"/>
            <a:ext cx="737419" cy="334297"/>
          </a:xfrm>
          <a:prstGeom prst="roundRect">
            <a:avLst/>
          </a:prstGeom>
          <a:noFill/>
          <a:ln w="28575">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BF22A8E5-3A9B-459C-BD54-A2DD768547AC}"/>
              </a:ext>
            </a:extLst>
          </p:cNvPr>
          <p:cNvSpPr/>
          <p:nvPr/>
        </p:nvSpPr>
        <p:spPr>
          <a:xfrm>
            <a:off x="6115662" y="3849329"/>
            <a:ext cx="737419" cy="334297"/>
          </a:xfrm>
          <a:prstGeom prst="roundRect">
            <a:avLst/>
          </a:prstGeom>
          <a:noFill/>
          <a:ln w="28575">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6B0631EB-EE2B-1F8B-ACC3-1434BFC90D2B}"/>
              </a:ext>
            </a:extLst>
          </p:cNvPr>
          <p:cNvSpPr/>
          <p:nvPr/>
        </p:nvSpPr>
        <p:spPr>
          <a:xfrm>
            <a:off x="6115662" y="4250461"/>
            <a:ext cx="737419" cy="334297"/>
          </a:xfrm>
          <a:prstGeom prst="roundRect">
            <a:avLst/>
          </a:prstGeom>
          <a:noFill/>
          <a:ln w="28575">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Rounded Corners 20">
            <a:extLst>
              <a:ext uri="{FF2B5EF4-FFF2-40B4-BE49-F238E27FC236}">
                <a16:creationId xmlns:a16="http://schemas.microsoft.com/office/drawing/2014/main" id="{B09B6053-66B3-631B-2C2D-62E7E4E68312}"/>
              </a:ext>
            </a:extLst>
          </p:cNvPr>
          <p:cNvSpPr/>
          <p:nvPr/>
        </p:nvSpPr>
        <p:spPr>
          <a:xfrm>
            <a:off x="5358581" y="4649209"/>
            <a:ext cx="737419" cy="334297"/>
          </a:xfrm>
          <a:prstGeom prst="roundRect">
            <a:avLst/>
          </a:prstGeom>
          <a:noFill/>
          <a:ln w="28575">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Rounded Corners 21">
            <a:extLst>
              <a:ext uri="{FF2B5EF4-FFF2-40B4-BE49-F238E27FC236}">
                <a16:creationId xmlns:a16="http://schemas.microsoft.com/office/drawing/2014/main" id="{1CCFDBD3-0FB1-8A65-59EB-72BA2DC2435D}"/>
              </a:ext>
            </a:extLst>
          </p:cNvPr>
          <p:cNvSpPr/>
          <p:nvPr/>
        </p:nvSpPr>
        <p:spPr>
          <a:xfrm>
            <a:off x="2281083" y="5022668"/>
            <a:ext cx="737419" cy="334297"/>
          </a:xfrm>
          <a:prstGeom prst="roundRect">
            <a:avLst/>
          </a:prstGeom>
          <a:noFill/>
          <a:ln w="28575">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Rounded Corners 23">
            <a:extLst>
              <a:ext uri="{FF2B5EF4-FFF2-40B4-BE49-F238E27FC236}">
                <a16:creationId xmlns:a16="http://schemas.microsoft.com/office/drawing/2014/main" id="{EEFF465E-3F49-AB66-0410-DE770DCCFFBC}"/>
              </a:ext>
            </a:extLst>
          </p:cNvPr>
          <p:cNvSpPr/>
          <p:nvPr/>
        </p:nvSpPr>
        <p:spPr>
          <a:xfrm>
            <a:off x="2281082" y="5384846"/>
            <a:ext cx="737419" cy="334297"/>
          </a:xfrm>
          <a:prstGeom prst="roundRect">
            <a:avLst/>
          </a:prstGeom>
          <a:noFill/>
          <a:ln w="28575">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Rounded Corners 24">
            <a:extLst>
              <a:ext uri="{FF2B5EF4-FFF2-40B4-BE49-F238E27FC236}">
                <a16:creationId xmlns:a16="http://schemas.microsoft.com/office/drawing/2014/main" id="{C5B27DA3-C3B1-75E2-35C8-C81622C8CD49}"/>
              </a:ext>
            </a:extLst>
          </p:cNvPr>
          <p:cNvSpPr/>
          <p:nvPr/>
        </p:nvSpPr>
        <p:spPr>
          <a:xfrm>
            <a:off x="6115662" y="5778708"/>
            <a:ext cx="737419" cy="334297"/>
          </a:xfrm>
          <a:prstGeom prst="roundRect">
            <a:avLst/>
          </a:prstGeom>
          <a:noFill/>
          <a:ln w="28575">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Rounded Corners 25">
            <a:extLst>
              <a:ext uri="{FF2B5EF4-FFF2-40B4-BE49-F238E27FC236}">
                <a16:creationId xmlns:a16="http://schemas.microsoft.com/office/drawing/2014/main" id="{F2D087FB-5AAA-8F71-AF03-768E855D354F}"/>
              </a:ext>
            </a:extLst>
          </p:cNvPr>
          <p:cNvSpPr/>
          <p:nvPr/>
        </p:nvSpPr>
        <p:spPr>
          <a:xfrm>
            <a:off x="6125491" y="6154191"/>
            <a:ext cx="737419" cy="334297"/>
          </a:xfrm>
          <a:prstGeom prst="roundRect">
            <a:avLst/>
          </a:prstGeom>
          <a:noFill/>
          <a:ln w="28575">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FCDBBC27-F3C8-9DE2-210D-1C6AE4149A13}"/>
              </a:ext>
            </a:extLst>
          </p:cNvPr>
          <p:cNvSpPr/>
          <p:nvPr/>
        </p:nvSpPr>
        <p:spPr>
          <a:xfrm>
            <a:off x="2281082" y="6152792"/>
            <a:ext cx="737419" cy="334297"/>
          </a:xfrm>
          <a:prstGeom prst="roundRect">
            <a:avLst/>
          </a:prstGeom>
          <a:noFill/>
          <a:ln w="28575">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 name="Straight Connector 2">
            <a:extLst>
              <a:ext uri="{FF2B5EF4-FFF2-40B4-BE49-F238E27FC236}">
                <a16:creationId xmlns:a16="http://schemas.microsoft.com/office/drawing/2014/main" id="{8E5E7307-D3C0-A3B5-4542-22B0E4988F7E}"/>
              </a:ext>
            </a:extLst>
          </p:cNvPr>
          <p:cNvCxnSpPr>
            <a:cxnSpLocks/>
          </p:cNvCxnSpPr>
          <p:nvPr/>
        </p:nvCxnSpPr>
        <p:spPr>
          <a:xfrm>
            <a:off x="7276979" y="1939457"/>
            <a:ext cx="0" cy="4771059"/>
          </a:xfrm>
          <a:prstGeom prst="line">
            <a:avLst/>
          </a:prstGeom>
          <a:ln>
            <a:solidFill>
              <a:schemeClr val="bg1">
                <a:lumMod val="7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5" name="Rectangle 1">
            <a:extLst>
              <a:ext uri="{FF2B5EF4-FFF2-40B4-BE49-F238E27FC236}">
                <a16:creationId xmlns:a16="http://schemas.microsoft.com/office/drawing/2014/main" id="{729521F7-9E48-18AB-9BDF-7AC07DC1EA52}"/>
              </a:ext>
            </a:extLst>
          </p:cNvPr>
          <p:cNvSpPr>
            <a:spLocks noChangeArrowheads="1"/>
          </p:cNvSpPr>
          <p:nvPr/>
        </p:nvSpPr>
        <p:spPr bwMode="auto">
          <a:xfrm>
            <a:off x="7565922" y="2780913"/>
            <a:ext cx="4559756"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IN" altLang="en-US" sz="1600" i="0" u="none" strike="noStrike" cap="none" normalizeH="0" baseline="0" dirty="0">
                <a:ln>
                  <a:noFill/>
                </a:ln>
                <a:solidFill>
                  <a:srgbClr val="00B0F0"/>
                </a:solidFill>
                <a:effectLst/>
                <a:latin typeface="Calibri" panose="020F0502020204030204" pitchFamily="34" charset="0"/>
                <a:ea typeface="Calibri" panose="020F0502020204030204" pitchFamily="34" charset="0"/>
                <a:cs typeface="Calibri" panose="020F0502020204030204" pitchFamily="34" charset="0"/>
              </a:rPr>
              <a:t>Peak Demand Months : </a:t>
            </a:r>
          </a:p>
          <a:p>
            <a:pPr marL="342900" marR="0" lvl="0" indent="-342900" algn="l" defTabSz="914400" rtl="0" eaLnBrk="0" fontAlgn="base" latinLnBrk="0" hangingPunct="0">
              <a:lnSpc>
                <a:spcPct val="100000"/>
              </a:lnSpc>
              <a:spcBef>
                <a:spcPct val="0"/>
              </a:spcBef>
              <a:spcAft>
                <a:spcPct val="0"/>
              </a:spcAft>
              <a:buClrTx/>
              <a:buSzTx/>
              <a:buAutoNum type="arabicPeriod"/>
              <a:tabLst/>
            </a:pPr>
            <a:r>
              <a:rPr kumimoji="0" lang="en-IN"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February : Festival and Wedding season</a:t>
            </a:r>
          </a:p>
          <a:p>
            <a:pPr marL="342900" marR="0" lvl="0" indent="-342900" algn="l" defTabSz="914400" rtl="0" eaLnBrk="0" fontAlgn="base" latinLnBrk="0" hangingPunct="0">
              <a:lnSpc>
                <a:spcPct val="100000"/>
              </a:lnSpc>
              <a:spcBef>
                <a:spcPct val="0"/>
              </a:spcBef>
              <a:spcAft>
                <a:spcPct val="0"/>
              </a:spcAft>
              <a:buClrTx/>
              <a:buSzTx/>
              <a:buAutoNum type="arabicPeriod"/>
              <a:tabLst/>
            </a:pPr>
            <a:r>
              <a:rPr lang="en-IN"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April and May :  Summer vacation starts</a:t>
            </a:r>
            <a:endParaRPr kumimoji="0" lang="en-IN"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IN"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IN" altLang="en-US" sz="1600" i="0" u="none" strike="noStrike" cap="none" normalizeH="0" baseline="0" dirty="0">
                <a:ln>
                  <a:noFill/>
                </a:ln>
                <a:solidFill>
                  <a:schemeClr val="accent2">
                    <a:lumMod val="75000"/>
                  </a:schemeClr>
                </a:solidFill>
                <a:effectLst/>
                <a:latin typeface="Calibri" panose="020F0502020204030204" pitchFamily="34" charset="0"/>
                <a:ea typeface="Calibri" panose="020F0502020204030204" pitchFamily="34" charset="0"/>
                <a:cs typeface="Calibri" panose="020F0502020204030204" pitchFamily="34" charset="0"/>
              </a:rPr>
              <a:t>Low Demand Months </a:t>
            </a:r>
            <a:r>
              <a:rPr kumimoji="0" lang="en-IN" altLang="en-US" sz="1600" i="0" u="none" strike="noStrike" cap="none" normalizeH="0" baseline="0" dirty="0">
                <a:ln>
                  <a:noFill/>
                </a:ln>
                <a:solidFill>
                  <a:schemeClr val="bg1">
                    <a:lumMod val="85000"/>
                  </a:schemeClr>
                </a:solidFill>
                <a:effectLst/>
                <a:latin typeface="Calibri" panose="020F0502020204030204" pitchFamily="34" charset="0"/>
                <a:ea typeface="Calibri" panose="020F0502020204030204" pitchFamily="34" charset="0"/>
                <a:cs typeface="Calibri" panose="020F0502020204030204" pitchFamily="34" charset="0"/>
              </a:rPr>
              <a:t>:</a:t>
            </a:r>
          </a:p>
          <a:p>
            <a:pPr marL="342900" marR="0" lvl="0" indent="-342900" algn="l" defTabSz="914400" rtl="0" eaLnBrk="0" fontAlgn="base" latinLnBrk="0" hangingPunct="0">
              <a:lnSpc>
                <a:spcPct val="100000"/>
              </a:lnSpc>
              <a:spcBef>
                <a:spcPct val="0"/>
              </a:spcBef>
              <a:spcAft>
                <a:spcPct val="0"/>
              </a:spcAft>
              <a:buClrTx/>
              <a:buSzTx/>
              <a:buAutoNum type="arabicPeriod"/>
              <a:tabLst/>
            </a:pPr>
            <a:r>
              <a:rPr lang="en-IN"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January: Post-Holiday month</a:t>
            </a:r>
          </a:p>
          <a:p>
            <a:pPr marL="342900" marR="0" lvl="0" indent="-342900" algn="l" defTabSz="914400" rtl="0" eaLnBrk="0" fontAlgn="base" latinLnBrk="0" hangingPunct="0">
              <a:lnSpc>
                <a:spcPct val="100000"/>
              </a:lnSpc>
              <a:spcBef>
                <a:spcPct val="0"/>
              </a:spcBef>
              <a:spcAft>
                <a:spcPct val="0"/>
              </a:spcAft>
              <a:buClrTx/>
              <a:buSzTx/>
              <a:buAutoNum type="arabicPeriod"/>
              <a:tabLst/>
            </a:pPr>
            <a:r>
              <a:rPr lang="en-IN"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June : Monsoon Onset for travel disruptions</a:t>
            </a:r>
            <a:endParaRPr kumimoji="0" lang="en-IN"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IN"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6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1600" i="0" u="none" strike="noStrike" cap="none" normalizeH="0" baseline="0" dirty="0">
              <a:ln>
                <a:noFill/>
              </a:ln>
              <a:solidFill>
                <a:schemeClr val="bg1">
                  <a:lumMod val="85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4E6FF530-7998-A99C-77C8-D8B3E8B1EB87}"/>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6936594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E8B4F-5040-0F3D-C133-7571D139C32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B3D1DC8-CE3D-AD07-D889-996DC0307720}"/>
              </a:ext>
            </a:extLst>
          </p:cNvPr>
          <p:cNvSpPr txBox="1"/>
          <p:nvPr/>
        </p:nvSpPr>
        <p:spPr>
          <a:xfrm>
            <a:off x="363793" y="149442"/>
            <a:ext cx="11464413" cy="1323439"/>
          </a:xfrm>
          <a:prstGeom prst="rect">
            <a:avLst/>
          </a:prstGeom>
          <a:noFill/>
        </p:spPr>
        <p:txBody>
          <a:bodyPr wrap="square" rtlCol="0">
            <a:spAutoFit/>
          </a:bodyPr>
          <a:lstStyle/>
          <a:p>
            <a:pPr>
              <a:lnSpc>
                <a:spcPct val="200000"/>
              </a:lnSpc>
            </a:pPr>
            <a:r>
              <a:rPr lang="en-IN" sz="2400" b="1" dirty="0">
                <a:solidFill>
                  <a:srgbClr val="FFC000"/>
                </a:solidFill>
              </a:rPr>
              <a:t>5. Weekend vs Weekday Trip Demand</a:t>
            </a:r>
          </a:p>
          <a:p>
            <a:r>
              <a:rPr lang="en-IN" sz="1600" dirty="0">
                <a:solidFill>
                  <a:schemeClr val="accent4">
                    <a:lumMod val="75000"/>
                  </a:schemeClr>
                </a:solidFill>
              </a:rPr>
              <a:t>Compare the total trips taken on weekdays vs weekends for each city over the period of six months. Identify cities with Strong preference for either weekend or weekday trips to understand demand variations</a:t>
            </a:r>
          </a:p>
        </p:txBody>
      </p:sp>
      <p:pic>
        <p:nvPicPr>
          <p:cNvPr id="5" name="Picture 4">
            <a:extLst>
              <a:ext uri="{FF2B5EF4-FFF2-40B4-BE49-F238E27FC236}">
                <a16:creationId xmlns:a16="http://schemas.microsoft.com/office/drawing/2014/main" id="{B423CBBE-26CF-D7E4-423E-4C13919F4BA8}"/>
              </a:ext>
            </a:extLst>
          </p:cNvPr>
          <p:cNvPicPr>
            <a:picLocks noChangeAspect="1"/>
          </p:cNvPicPr>
          <p:nvPr/>
        </p:nvPicPr>
        <p:blipFill>
          <a:blip r:embed="rId3"/>
          <a:stretch>
            <a:fillRect/>
          </a:stretch>
        </p:blipFill>
        <p:spPr>
          <a:xfrm>
            <a:off x="508267" y="2249971"/>
            <a:ext cx="6624241" cy="3796867"/>
          </a:xfrm>
          <a:prstGeom prst="rect">
            <a:avLst/>
          </a:prstGeom>
        </p:spPr>
      </p:pic>
      <p:cxnSp>
        <p:nvCxnSpPr>
          <p:cNvPr id="6" name="Straight Connector 5">
            <a:extLst>
              <a:ext uri="{FF2B5EF4-FFF2-40B4-BE49-F238E27FC236}">
                <a16:creationId xmlns:a16="http://schemas.microsoft.com/office/drawing/2014/main" id="{0CF055FE-5510-D971-D6B0-C4FF6359401B}"/>
              </a:ext>
            </a:extLst>
          </p:cNvPr>
          <p:cNvCxnSpPr>
            <a:cxnSpLocks/>
          </p:cNvCxnSpPr>
          <p:nvPr/>
        </p:nvCxnSpPr>
        <p:spPr>
          <a:xfrm>
            <a:off x="7276979" y="1939457"/>
            <a:ext cx="0" cy="4771059"/>
          </a:xfrm>
          <a:prstGeom prst="line">
            <a:avLst/>
          </a:prstGeom>
          <a:ln>
            <a:solidFill>
              <a:schemeClr val="bg1">
                <a:lumMod val="7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7" name="Rectangle 1">
            <a:extLst>
              <a:ext uri="{FF2B5EF4-FFF2-40B4-BE49-F238E27FC236}">
                <a16:creationId xmlns:a16="http://schemas.microsoft.com/office/drawing/2014/main" id="{96A0D605-9FA5-E116-BED6-DFF426598F59}"/>
              </a:ext>
            </a:extLst>
          </p:cNvPr>
          <p:cNvSpPr>
            <a:spLocks noChangeArrowheads="1"/>
          </p:cNvSpPr>
          <p:nvPr/>
        </p:nvSpPr>
        <p:spPr bwMode="auto">
          <a:xfrm>
            <a:off x="7506928" y="2678643"/>
            <a:ext cx="4559756"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600" b="1"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Tourist Cities </a:t>
            </a:r>
            <a:r>
              <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like Jaipur(58%) and Mysore (60%) shows higher demand during </a:t>
            </a:r>
            <a:r>
              <a:rPr lang="en-US" altLang="en-US" sz="1600" u="sng"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Weekend</a:t>
            </a:r>
            <a:r>
              <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600" b="1"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Business centric cities </a:t>
            </a:r>
            <a:r>
              <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like Lucknow(77%), Surat(69%) and Vadodara (63%)shows clear preference for </a:t>
            </a:r>
            <a:r>
              <a:rPr lang="en-US" altLang="en-US" sz="1600" u="sng"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weekday</a:t>
            </a:r>
            <a:r>
              <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 demands.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600" b="1"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Mixed cities </a:t>
            </a:r>
            <a:r>
              <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like Indore(50-50),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Chandigarh(51-49) and Kochi(45-55) have </a:t>
            </a:r>
            <a:r>
              <a:rPr lang="en-US" altLang="en-US" sz="1600" u="sng"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balanced demand </a:t>
            </a:r>
            <a:r>
              <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between weekday and weekends.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160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4B24911C-FAE3-D4D4-42E8-DC231B8CF202}"/>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32898161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16737-98D2-564C-D6F1-530F3633B28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0B47088-01D9-540F-F1B1-F2B09BC87129}"/>
              </a:ext>
            </a:extLst>
          </p:cNvPr>
          <p:cNvSpPr txBox="1"/>
          <p:nvPr/>
        </p:nvSpPr>
        <p:spPr>
          <a:xfrm>
            <a:off x="363793" y="122815"/>
            <a:ext cx="11464413" cy="1077218"/>
          </a:xfrm>
          <a:prstGeom prst="rect">
            <a:avLst/>
          </a:prstGeom>
          <a:noFill/>
        </p:spPr>
        <p:txBody>
          <a:bodyPr wrap="square" rtlCol="0">
            <a:spAutoFit/>
          </a:bodyPr>
          <a:lstStyle/>
          <a:p>
            <a:pPr>
              <a:lnSpc>
                <a:spcPct val="200000"/>
              </a:lnSpc>
            </a:pPr>
            <a:r>
              <a:rPr lang="en-IN" sz="2400" b="1" dirty="0">
                <a:solidFill>
                  <a:srgbClr val="FFC000"/>
                </a:solidFill>
              </a:rPr>
              <a:t>6. Repeat Passengers Frequency and City Contribution Analysis</a:t>
            </a:r>
          </a:p>
          <a:p>
            <a:r>
              <a:rPr lang="en-IN" sz="1600" dirty="0">
                <a:solidFill>
                  <a:schemeClr val="accent4">
                    <a:lumMod val="75000"/>
                  </a:schemeClr>
                </a:solidFill>
              </a:rPr>
              <a:t>Analyse the frequency of Trips taken by repeat passengers in each city.</a:t>
            </a:r>
          </a:p>
        </p:txBody>
      </p:sp>
      <p:pic>
        <p:nvPicPr>
          <p:cNvPr id="5" name="Picture 4">
            <a:extLst>
              <a:ext uri="{FF2B5EF4-FFF2-40B4-BE49-F238E27FC236}">
                <a16:creationId xmlns:a16="http://schemas.microsoft.com/office/drawing/2014/main" id="{E21A6CB6-26A9-408C-7817-0B44F4CF91B5}"/>
              </a:ext>
            </a:extLst>
          </p:cNvPr>
          <p:cNvPicPr>
            <a:picLocks noChangeAspect="1"/>
          </p:cNvPicPr>
          <p:nvPr/>
        </p:nvPicPr>
        <p:blipFill>
          <a:blip r:embed="rId3"/>
          <a:stretch>
            <a:fillRect/>
          </a:stretch>
        </p:blipFill>
        <p:spPr>
          <a:xfrm>
            <a:off x="245807" y="1415845"/>
            <a:ext cx="7069394" cy="3028337"/>
          </a:xfrm>
          <a:prstGeom prst="rect">
            <a:avLst/>
          </a:prstGeom>
        </p:spPr>
      </p:pic>
      <p:pic>
        <p:nvPicPr>
          <p:cNvPr id="4" name="Picture 3">
            <a:extLst>
              <a:ext uri="{FF2B5EF4-FFF2-40B4-BE49-F238E27FC236}">
                <a16:creationId xmlns:a16="http://schemas.microsoft.com/office/drawing/2014/main" id="{8238122F-C814-11FF-A644-FD36F2EB7889}"/>
              </a:ext>
            </a:extLst>
          </p:cNvPr>
          <p:cNvPicPr>
            <a:picLocks noChangeAspect="1"/>
          </p:cNvPicPr>
          <p:nvPr/>
        </p:nvPicPr>
        <p:blipFill>
          <a:blip r:embed="rId4"/>
          <a:stretch>
            <a:fillRect/>
          </a:stretch>
        </p:blipFill>
        <p:spPr>
          <a:xfrm>
            <a:off x="245807" y="4247535"/>
            <a:ext cx="7069394" cy="2610465"/>
          </a:xfrm>
          <a:prstGeom prst="rect">
            <a:avLst/>
          </a:prstGeom>
        </p:spPr>
      </p:pic>
      <p:cxnSp>
        <p:nvCxnSpPr>
          <p:cNvPr id="6" name="Straight Connector 5">
            <a:extLst>
              <a:ext uri="{FF2B5EF4-FFF2-40B4-BE49-F238E27FC236}">
                <a16:creationId xmlns:a16="http://schemas.microsoft.com/office/drawing/2014/main" id="{55DDF895-AE1C-4236-6A20-7CD100BDC8AD}"/>
              </a:ext>
            </a:extLst>
          </p:cNvPr>
          <p:cNvCxnSpPr>
            <a:cxnSpLocks/>
          </p:cNvCxnSpPr>
          <p:nvPr/>
        </p:nvCxnSpPr>
        <p:spPr>
          <a:xfrm>
            <a:off x="7895303" y="1862005"/>
            <a:ext cx="0" cy="4771059"/>
          </a:xfrm>
          <a:prstGeom prst="line">
            <a:avLst/>
          </a:prstGeom>
          <a:ln>
            <a:solidFill>
              <a:schemeClr val="bg1">
                <a:lumMod val="7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7" name="Rectangle 1">
            <a:extLst>
              <a:ext uri="{FF2B5EF4-FFF2-40B4-BE49-F238E27FC236}">
                <a16:creationId xmlns:a16="http://schemas.microsoft.com/office/drawing/2014/main" id="{95DDCE40-C9A2-B276-203F-8D86C8BA6DE0}"/>
              </a:ext>
            </a:extLst>
          </p:cNvPr>
          <p:cNvSpPr>
            <a:spLocks noChangeArrowheads="1"/>
          </p:cNvSpPr>
          <p:nvPr/>
        </p:nvSpPr>
        <p:spPr bwMode="auto">
          <a:xfrm>
            <a:off x="8073490" y="2108487"/>
            <a:ext cx="3872703"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600" b="1"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Tourist Cities </a:t>
            </a:r>
            <a:r>
              <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like Jaipur and Mysore have lower repeat passengers’ frequency (&lt;20%)</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600" b="1"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Business centric cities </a:t>
            </a:r>
            <a:r>
              <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 shows higher RPR value due to the frequent travelling (43-23%)</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Mixed cities shows are good distribution of RPR (37-21%).</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lang="en-US" altLang="en-US" sz="16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lang="en-US" altLang="en-US" sz="16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lang="en-US" altLang="en-US" sz="16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lang="en-US" altLang="en-US" sz="16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1600" i="0" u="none" strike="noStrike" cap="none" normalizeH="0" baseline="0" dirty="0">
              <a:ln>
                <a:noFill/>
              </a:ln>
              <a:solidFill>
                <a:schemeClr val="bg1">
                  <a:lumMod val="85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040405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7B590-EA80-7542-7C9E-F85C6A9B685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632D206-51F0-AE9F-C0C1-F507E88791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4302" y="2002725"/>
            <a:ext cx="1286185" cy="953365"/>
          </a:xfrm>
          <a:prstGeom prst="rect">
            <a:avLst/>
          </a:prstGeom>
          <a:ln>
            <a:noFill/>
          </a:ln>
        </p:spPr>
      </p:pic>
      <p:sp>
        <p:nvSpPr>
          <p:cNvPr id="5" name="TextBox 4">
            <a:extLst>
              <a:ext uri="{FF2B5EF4-FFF2-40B4-BE49-F238E27FC236}">
                <a16:creationId xmlns:a16="http://schemas.microsoft.com/office/drawing/2014/main" id="{06A4E0DD-2A2C-B7BF-613D-C3494E1FD46C}"/>
              </a:ext>
            </a:extLst>
          </p:cNvPr>
          <p:cNvSpPr txBox="1"/>
          <p:nvPr/>
        </p:nvSpPr>
        <p:spPr>
          <a:xfrm>
            <a:off x="1669974" y="3105834"/>
            <a:ext cx="9094839" cy="646331"/>
          </a:xfrm>
          <a:prstGeom prst="rect">
            <a:avLst/>
          </a:prstGeom>
          <a:noFill/>
        </p:spPr>
        <p:txBody>
          <a:bodyPr wrap="square" rtlCol="0">
            <a:spAutoFit/>
          </a:bodyPr>
          <a:lstStyle/>
          <a:p>
            <a:pPr algn="ctr"/>
            <a:r>
              <a:rPr lang="en-IN" sz="3600" b="1" dirty="0">
                <a:solidFill>
                  <a:srgbClr val="FFC000"/>
                </a:solidFill>
              </a:rPr>
              <a:t>Monthly Target Analysis for Key Metrics</a:t>
            </a:r>
          </a:p>
        </p:txBody>
      </p:sp>
      <p:sp>
        <p:nvSpPr>
          <p:cNvPr id="2" name="TextBox 1">
            <a:extLst>
              <a:ext uri="{FF2B5EF4-FFF2-40B4-BE49-F238E27FC236}">
                <a16:creationId xmlns:a16="http://schemas.microsoft.com/office/drawing/2014/main" id="{52505222-4B9E-0A60-0319-362189F7484F}"/>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4533846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F405B-3A38-B9A1-228C-0149667CBF19}"/>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06B805C-5144-1298-83BA-14E0530BAC3D}"/>
              </a:ext>
            </a:extLst>
          </p:cNvPr>
          <p:cNvSpPr txBox="1"/>
          <p:nvPr/>
        </p:nvSpPr>
        <p:spPr>
          <a:xfrm>
            <a:off x="2221480" y="427702"/>
            <a:ext cx="7453834" cy="621709"/>
          </a:xfrm>
          <a:prstGeom prst="rect">
            <a:avLst/>
          </a:prstGeom>
          <a:noFill/>
        </p:spPr>
        <p:txBody>
          <a:bodyPr wrap="square" rtlCol="0">
            <a:spAutoFit/>
          </a:bodyPr>
          <a:lstStyle/>
          <a:p>
            <a:pPr algn="ctr">
              <a:lnSpc>
                <a:spcPct val="200000"/>
              </a:lnSpc>
            </a:pPr>
            <a:r>
              <a:rPr lang="en-IN" sz="2000" b="1" u="sng" dirty="0">
                <a:solidFill>
                  <a:srgbClr val="FFC000"/>
                </a:solidFill>
              </a:rPr>
              <a:t>Total Trips</a:t>
            </a:r>
          </a:p>
        </p:txBody>
      </p:sp>
      <p:pic>
        <p:nvPicPr>
          <p:cNvPr id="3" name="Picture 2">
            <a:extLst>
              <a:ext uri="{FF2B5EF4-FFF2-40B4-BE49-F238E27FC236}">
                <a16:creationId xmlns:a16="http://schemas.microsoft.com/office/drawing/2014/main" id="{74632F48-A141-F3BD-72D3-3668510541CD}"/>
              </a:ext>
            </a:extLst>
          </p:cNvPr>
          <p:cNvPicPr>
            <a:picLocks noChangeAspect="1"/>
          </p:cNvPicPr>
          <p:nvPr/>
        </p:nvPicPr>
        <p:blipFill>
          <a:blip r:embed="rId3"/>
          <a:stretch>
            <a:fillRect/>
          </a:stretch>
        </p:blipFill>
        <p:spPr>
          <a:xfrm>
            <a:off x="2221480" y="1381040"/>
            <a:ext cx="7355140" cy="4862443"/>
          </a:xfrm>
          <a:prstGeom prst="rect">
            <a:avLst/>
          </a:prstGeom>
        </p:spPr>
      </p:pic>
      <p:sp>
        <p:nvSpPr>
          <p:cNvPr id="10" name="TextBox 9">
            <a:extLst>
              <a:ext uri="{FF2B5EF4-FFF2-40B4-BE49-F238E27FC236}">
                <a16:creationId xmlns:a16="http://schemas.microsoft.com/office/drawing/2014/main" id="{F0DF1308-3A8C-3DEA-A73C-30ABBC7DED95}"/>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3657959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4D825-8A21-6171-C0F9-C3BBDD785F8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3F0DE2A-14C4-98D0-0673-3CFD55F23715}"/>
              </a:ext>
            </a:extLst>
          </p:cNvPr>
          <p:cNvSpPr txBox="1"/>
          <p:nvPr/>
        </p:nvSpPr>
        <p:spPr>
          <a:xfrm>
            <a:off x="2570618" y="329380"/>
            <a:ext cx="7340297" cy="621709"/>
          </a:xfrm>
          <a:prstGeom prst="rect">
            <a:avLst/>
          </a:prstGeom>
          <a:noFill/>
        </p:spPr>
        <p:txBody>
          <a:bodyPr wrap="square" rtlCol="0">
            <a:spAutoFit/>
          </a:bodyPr>
          <a:lstStyle/>
          <a:p>
            <a:pPr algn="ctr">
              <a:lnSpc>
                <a:spcPct val="200000"/>
              </a:lnSpc>
            </a:pPr>
            <a:r>
              <a:rPr lang="en-IN" sz="2000" b="1" u="sng" dirty="0">
                <a:solidFill>
                  <a:srgbClr val="FFC000"/>
                </a:solidFill>
              </a:rPr>
              <a:t>New Passengers</a:t>
            </a:r>
          </a:p>
        </p:txBody>
      </p:sp>
      <p:pic>
        <p:nvPicPr>
          <p:cNvPr id="3" name="Picture 2">
            <a:extLst>
              <a:ext uri="{FF2B5EF4-FFF2-40B4-BE49-F238E27FC236}">
                <a16:creationId xmlns:a16="http://schemas.microsoft.com/office/drawing/2014/main" id="{6E22C7E8-139B-6578-4E69-F38AA0485661}"/>
              </a:ext>
            </a:extLst>
          </p:cNvPr>
          <p:cNvPicPr>
            <a:picLocks noChangeAspect="1"/>
          </p:cNvPicPr>
          <p:nvPr/>
        </p:nvPicPr>
        <p:blipFill>
          <a:blip r:embed="rId3"/>
          <a:stretch>
            <a:fillRect/>
          </a:stretch>
        </p:blipFill>
        <p:spPr>
          <a:xfrm>
            <a:off x="2356239" y="1401317"/>
            <a:ext cx="7479522" cy="4901161"/>
          </a:xfrm>
          <a:prstGeom prst="rect">
            <a:avLst/>
          </a:prstGeom>
        </p:spPr>
      </p:pic>
      <p:sp>
        <p:nvSpPr>
          <p:cNvPr id="4" name="TextBox 3">
            <a:extLst>
              <a:ext uri="{FF2B5EF4-FFF2-40B4-BE49-F238E27FC236}">
                <a16:creationId xmlns:a16="http://schemas.microsoft.com/office/drawing/2014/main" id="{21DC1857-B59A-E63D-FB14-E9FAF6EFAE39}"/>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21461050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53E26-8033-38B4-141D-891E7E4C0B0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2186147-91A4-09C9-8C8D-EDD534C4CE82}"/>
              </a:ext>
            </a:extLst>
          </p:cNvPr>
          <p:cNvSpPr txBox="1"/>
          <p:nvPr/>
        </p:nvSpPr>
        <p:spPr>
          <a:xfrm>
            <a:off x="2290916" y="401983"/>
            <a:ext cx="7403690" cy="621709"/>
          </a:xfrm>
          <a:prstGeom prst="rect">
            <a:avLst/>
          </a:prstGeom>
          <a:noFill/>
        </p:spPr>
        <p:txBody>
          <a:bodyPr wrap="square" rtlCol="0">
            <a:spAutoFit/>
          </a:bodyPr>
          <a:lstStyle/>
          <a:p>
            <a:pPr algn="ctr">
              <a:lnSpc>
                <a:spcPct val="200000"/>
              </a:lnSpc>
            </a:pPr>
            <a:r>
              <a:rPr lang="en-IN" sz="2000" b="1" u="sng" dirty="0">
                <a:solidFill>
                  <a:srgbClr val="FFC000"/>
                </a:solidFill>
              </a:rPr>
              <a:t>Average Passenger Rating</a:t>
            </a:r>
          </a:p>
        </p:txBody>
      </p:sp>
      <p:pic>
        <p:nvPicPr>
          <p:cNvPr id="3" name="Picture 2">
            <a:extLst>
              <a:ext uri="{FF2B5EF4-FFF2-40B4-BE49-F238E27FC236}">
                <a16:creationId xmlns:a16="http://schemas.microsoft.com/office/drawing/2014/main" id="{CD17A1EB-B469-E01E-B84A-78D0E70138BA}"/>
              </a:ext>
            </a:extLst>
          </p:cNvPr>
          <p:cNvPicPr>
            <a:picLocks noChangeAspect="1"/>
          </p:cNvPicPr>
          <p:nvPr/>
        </p:nvPicPr>
        <p:blipFill>
          <a:blip r:embed="rId3"/>
          <a:stretch>
            <a:fillRect/>
          </a:stretch>
        </p:blipFill>
        <p:spPr>
          <a:xfrm>
            <a:off x="2261419" y="1615283"/>
            <a:ext cx="7669161" cy="4840734"/>
          </a:xfrm>
          <a:prstGeom prst="rect">
            <a:avLst/>
          </a:prstGeom>
        </p:spPr>
      </p:pic>
      <p:sp>
        <p:nvSpPr>
          <p:cNvPr id="5" name="TextBox 4">
            <a:extLst>
              <a:ext uri="{FF2B5EF4-FFF2-40B4-BE49-F238E27FC236}">
                <a16:creationId xmlns:a16="http://schemas.microsoft.com/office/drawing/2014/main" id="{1B0D9168-F7C2-AF21-25FD-8A9E44F0CB74}"/>
              </a:ext>
            </a:extLst>
          </p:cNvPr>
          <p:cNvSpPr txBox="1"/>
          <p:nvPr/>
        </p:nvSpPr>
        <p:spPr>
          <a:xfrm>
            <a:off x="4973116" y="6185642"/>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37145376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B9A11-75B9-F3E8-7BB6-D8AFCE9A84F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32D6BE7-19A2-3A87-7477-223EE9A66C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4302" y="2002725"/>
            <a:ext cx="1286185" cy="953365"/>
          </a:xfrm>
          <a:prstGeom prst="rect">
            <a:avLst/>
          </a:prstGeom>
          <a:ln>
            <a:noFill/>
          </a:ln>
        </p:spPr>
      </p:pic>
      <p:sp>
        <p:nvSpPr>
          <p:cNvPr id="5" name="TextBox 4">
            <a:extLst>
              <a:ext uri="{FF2B5EF4-FFF2-40B4-BE49-F238E27FC236}">
                <a16:creationId xmlns:a16="http://schemas.microsoft.com/office/drawing/2014/main" id="{364A7891-A06D-7A96-485F-07EB4A5CCD4F}"/>
              </a:ext>
            </a:extLst>
          </p:cNvPr>
          <p:cNvSpPr txBox="1"/>
          <p:nvPr/>
        </p:nvSpPr>
        <p:spPr>
          <a:xfrm>
            <a:off x="1758464" y="3105834"/>
            <a:ext cx="9094839" cy="646331"/>
          </a:xfrm>
          <a:prstGeom prst="rect">
            <a:avLst/>
          </a:prstGeom>
          <a:noFill/>
        </p:spPr>
        <p:txBody>
          <a:bodyPr wrap="square" rtlCol="0">
            <a:spAutoFit/>
          </a:bodyPr>
          <a:lstStyle/>
          <a:p>
            <a:pPr algn="ctr"/>
            <a:r>
              <a:rPr lang="en-IN" sz="3600" b="1" dirty="0">
                <a:solidFill>
                  <a:srgbClr val="FFC000"/>
                </a:solidFill>
              </a:rPr>
              <a:t>Further Analysis and Recommendations</a:t>
            </a:r>
          </a:p>
        </p:txBody>
      </p:sp>
      <p:sp>
        <p:nvSpPr>
          <p:cNvPr id="2" name="TextBox 1">
            <a:extLst>
              <a:ext uri="{FF2B5EF4-FFF2-40B4-BE49-F238E27FC236}">
                <a16:creationId xmlns:a16="http://schemas.microsoft.com/office/drawing/2014/main" id="{9E27CD01-29F5-46B5-2335-B4070814330F}"/>
              </a:ext>
            </a:extLst>
          </p:cNvPr>
          <p:cNvSpPr txBox="1"/>
          <p:nvPr/>
        </p:nvSpPr>
        <p:spPr>
          <a:xfrm>
            <a:off x="5022277" y="6323294"/>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4651242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DE7C5-64F2-80AF-49E1-17AA50F7E527}"/>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A4298FB9-8699-372A-A262-F9EA18190FFB}"/>
              </a:ext>
            </a:extLst>
          </p:cNvPr>
          <p:cNvSpPr/>
          <p:nvPr/>
        </p:nvSpPr>
        <p:spPr>
          <a:xfrm>
            <a:off x="189341" y="3833420"/>
            <a:ext cx="3831579" cy="2728144"/>
          </a:xfrm>
          <a:prstGeom prst="roundRect">
            <a:avLst/>
          </a:prstGeom>
          <a:solidFill>
            <a:srgbClr val="181818"/>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5EC63766-8F38-2595-DFC5-32BFFDF7D00D}"/>
              </a:ext>
            </a:extLst>
          </p:cNvPr>
          <p:cNvSpPr txBox="1"/>
          <p:nvPr/>
        </p:nvSpPr>
        <p:spPr>
          <a:xfrm>
            <a:off x="105901" y="69975"/>
            <a:ext cx="11980197" cy="1138773"/>
          </a:xfrm>
          <a:prstGeom prst="rect">
            <a:avLst/>
          </a:prstGeom>
          <a:noFill/>
        </p:spPr>
        <p:txBody>
          <a:bodyPr wrap="square" rtlCol="0">
            <a:spAutoFit/>
          </a:bodyPr>
          <a:lstStyle/>
          <a:p>
            <a:pPr marL="457200" indent="-457200">
              <a:lnSpc>
                <a:spcPct val="150000"/>
              </a:lnSpc>
              <a:buAutoNum type="arabicPeriod"/>
            </a:pPr>
            <a:r>
              <a:rPr lang="en-IN" sz="2400" b="1" dirty="0">
                <a:solidFill>
                  <a:schemeClr val="accent4">
                    <a:lumMod val="60000"/>
                    <a:lumOff val="40000"/>
                  </a:schemeClr>
                </a:solidFill>
              </a:rPr>
              <a:t>Factors Influencing Repeat Passengers Rate(RPR)</a:t>
            </a:r>
          </a:p>
          <a:p>
            <a:r>
              <a:rPr lang="en-IN" sz="1600" dirty="0">
                <a:solidFill>
                  <a:schemeClr val="accent4">
                    <a:lumMod val="75000"/>
                  </a:schemeClr>
                </a:solidFill>
              </a:rPr>
              <a:t>What factors contribute for higher and lower RPR in different cities ? Are there any correlations with socioeconomic or lifestyle patterns in these cities</a:t>
            </a:r>
          </a:p>
        </p:txBody>
      </p:sp>
      <p:sp>
        <p:nvSpPr>
          <p:cNvPr id="11" name="TextBox 10">
            <a:extLst>
              <a:ext uri="{FF2B5EF4-FFF2-40B4-BE49-F238E27FC236}">
                <a16:creationId xmlns:a16="http://schemas.microsoft.com/office/drawing/2014/main" id="{BB022539-8B87-8CF1-0B5C-7FA438D4610D}"/>
              </a:ext>
            </a:extLst>
          </p:cNvPr>
          <p:cNvSpPr txBox="1"/>
          <p:nvPr/>
        </p:nvSpPr>
        <p:spPr>
          <a:xfrm>
            <a:off x="811354" y="3988640"/>
            <a:ext cx="3110888" cy="369332"/>
          </a:xfrm>
          <a:prstGeom prst="rect">
            <a:avLst/>
          </a:prstGeom>
          <a:noFill/>
        </p:spPr>
        <p:txBody>
          <a:bodyPr wrap="square" rtlCol="0">
            <a:spAutoFit/>
          </a:bodyPr>
          <a:lstStyle/>
          <a:p>
            <a:pPr algn="ctr"/>
            <a:r>
              <a:rPr lang="en-IN" dirty="0">
                <a:solidFill>
                  <a:schemeClr val="accent4">
                    <a:lumMod val="75000"/>
                  </a:schemeClr>
                </a:solidFill>
              </a:rPr>
              <a:t>Service Quality Factors</a:t>
            </a:r>
          </a:p>
        </p:txBody>
      </p:sp>
      <p:sp>
        <p:nvSpPr>
          <p:cNvPr id="13" name="TextBox 12">
            <a:extLst>
              <a:ext uri="{FF2B5EF4-FFF2-40B4-BE49-F238E27FC236}">
                <a16:creationId xmlns:a16="http://schemas.microsoft.com/office/drawing/2014/main" id="{E2F77E2E-38AC-FC43-4C9C-559C87F3B2B2}"/>
              </a:ext>
            </a:extLst>
          </p:cNvPr>
          <p:cNvSpPr txBox="1"/>
          <p:nvPr/>
        </p:nvSpPr>
        <p:spPr>
          <a:xfrm>
            <a:off x="888822" y="4608478"/>
            <a:ext cx="3328504" cy="1323439"/>
          </a:xfrm>
          <a:prstGeom prst="rect">
            <a:avLst/>
          </a:prstGeom>
          <a:noFill/>
        </p:spPr>
        <p:txBody>
          <a:bodyPr wrap="square" rtlCol="0">
            <a:spAutoFit/>
          </a:bodyPr>
          <a:lstStyle/>
          <a:p>
            <a:pPr marL="342900" indent="-342900">
              <a:buAutoNum type="arabicPeriod"/>
            </a:pPr>
            <a:r>
              <a:rPr lang="en-IN" sz="1600" dirty="0">
                <a:solidFill>
                  <a:schemeClr val="bg1">
                    <a:lumMod val="75000"/>
                  </a:schemeClr>
                </a:solidFill>
              </a:rPr>
              <a:t>Consistent arrival time</a:t>
            </a:r>
          </a:p>
          <a:p>
            <a:pPr marL="342900" indent="-342900">
              <a:buAutoNum type="arabicPeriod"/>
            </a:pPr>
            <a:endParaRPr lang="en-IN" sz="1600" dirty="0">
              <a:solidFill>
                <a:schemeClr val="bg1">
                  <a:lumMod val="75000"/>
                </a:schemeClr>
              </a:solidFill>
            </a:endParaRPr>
          </a:p>
          <a:p>
            <a:pPr marL="342900" indent="-342900">
              <a:buAutoNum type="arabicPeriod"/>
            </a:pPr>
            <a:r>
              <a:rPr lang="en-IN" sz="1600" dirty="0">
                <a:solidFill>
                  <a:schemeClr val="bg1">
                    <a:lumMod val="75000"/>
                  </a:schemeClr>
                </a:solidFill>
              </a:rPr>
              <a:t>Vehicle maintenance</a:t>
            </a:r>
          </a:p>
          <a:p>
            <a:pPr marL="342900" indent="-342900">
              <a:buAutoNum type="arabicPeriod"/>
            </a:pPr>
            <a:endParaRPr lang="en-IN" sz="1600" dirty="0">
              <a:solidFill>
                <a:schemeClr val="bg1">
                  <a:lumMod val="75000"/>
                </a:schemeClr>
              </a:solidFill>
            </a:endParaRPr>
          </a:p>
          <a:p>
            <a:pPr marL="342900" indent="-342900">
              <a:buAutoNum type="arabicPeriod"/>
            </a:pPr>
            <a:r>
              <a:rPr lang="en-IN" sz="1600" dirty="0">
                <a:solidFill>
                  <a:schemeClr val="bg1">
                    <a:lumMod val="75000"/>
                  </a:schemeClr>
                </a:solidFill>
              </a:rPr>
              <a:t>Driver professionalism</a:t>
            </a:r>
          </a:p>
        </p:txBody>
      </p:sp>
      <p:sp>
        <p:nvSpPr>
          <p:cNvPr id="15" name="Rectangle: Rounded Corners 14">
            <a:extLst>
              <a:ext uri="{FF2B5EF4-FFF2-40B4-BE49-F238E27FC236}">
                <a16:creationId xmlns:a16="http://schemas.microsoft.com/office/drawing/2014/main" id="{A46A8051-D505-471B-302E-BE277BE0797F}"/>
              </a:ext>
            </a:extLst>
          </p:cNvPr>
          <p:cNvSpPr/>
          <p:nvPr/>
        </p:nvSpPr>
        <p:spPr>
          <a:xfrm>
            <a:off x="4254063" y="3763050"/>
            <a:ext cx="3704538" cy="2793358"/>
          </a:xfrm>
          <a:prstGeom prst="roundRect">
            <a:avLst/>
          </a:prstGeom>
          <a:solidFill>
            <a:srgbClr val="181818"/>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Rectangle: Rounded Corners 15">
            <a:extLst>
              <a:ext uri="{FF2B5EF4-FFF2-40B4-BE49-F238E27FC236}">
                <a16:creationId xmlns:a16="http://schemas.microsoft.com/office/drawing/2014/main" id="{8A355EC7-B373-1226-4A84-98C2F111FB84}"/>
              </a:ext>
            </a:extLst>
          </p:cNvPr>
          <p:cNvSpPr/>
          <p:nvPr/>
        </p:nvSpPr>
        <p:spPr>
          <a:xfrm>
            <a:off x="8269763" y="3721761"/>
            <a:ext cx="3674454" cy="2793358"/>
          </a:xfrm>
          <a:prstGeom prst="roundRect">
            <a:avLst/>
          </a:prstGeom>
          <a:solidFill>
            <a:srgbClr val="181818"/>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29D48ED3-4850-102A-12CD-04AA89C217F5}"/>
              </a:ext>
            </a:extLst>
          </p:cNvPr>
          <p:cNvSpPr txBox="1"/>
          <p:nvPr/>
        </p:nvSpPr>
        <p:spPr>
          <a:xfrm>
            <a:off x="5081451" y="3963121"/>
            <a:ext cx="2564763" cy="369332"/>
          </a:xfrm>
          <a:prstGeom prst="rect">
            <a:avLst/>
          </a:prstGeom>
          <a:noFill/>
        </p:spPr>
        <p:txBody>
          <a:bodyPr wrap="square" rtlCol="0">
            <a:spAutoFit/>
          </a:bodyPr>
          <a:lstStyle/>
          <a:p>
            <a:pPr algn="ctr"/>
            <a:r>
              <a:rPr lang="en-IN" dirty="0">
                <a:solidFill>
                  <a:schemeClr val="accent4">
                    <a:lumMod val="75000"/>
                  </a:schemeClr>
                </a:solidFill>
              </a:rPr>
              <a:t>Technological Solutions</a:t>
            </a:r>
          </a:p>
        </p:txBody>
      </p:sp>
      <p:sp>
        <p:nvSpPr>
          <p:cNvPr id="20" name="TextBox 19">
            <a:extLst>
              <a:ext uri="{FF2B5EF4-FFF2-40B4-BE49-F238E27FC236}">
                <a16:creationId xmlns:a16="http://schemas.microsoft.com/office/drawing/2014/main" id="{5D121775-C321-6BCE-3755-6BD735C04433}"/>
              </a:ext>
            </a:extLst>
          </p:cNvPr>
          <p:cNvSpPr txBox="1"/>
          <p:nvPr/>
        </p:nvSpPr>
        <p:spPr>
          <a:xfrm>
            <a:off x="4670640" y="4436133"/>
            <a:ext cx="3476245" cy="1569660"/>
          </a:xfrm>
          <a:prstGeom prst="rect">
            <a:avLst/>
          </a:prstGeom>
          <a:noFill/>
        </p:spPr>
        <p:txBody>
          <a:bodyPr wrap="square" rtlCol="0">
            <a:spAutoFit/>
          </a:bodyPr>
          <a:lstStyle/>
          <a:p>
            <a:pPr marL="342900" indent="-342900">
              <a:buAutoNum type="arabicPeriod"/>
            </a:pPr>
            <a:r>
              <a:rPr lang="en-IN" sz="1600" dirty="0">
                <a:solidFill>
                  <a:schemeClr val="bg1">
                    <a:lumMod val="75000"/>
                  </a:schemeClr>
                </a:solidFill>
              </a:rPr>
              <a:t>Seamless booking</a:t>
            </a:r>
          </a:p>
          <a:p>
            <a:pPr marL="342900" indent="-342900">
              <a:buAutoNum type="arabicPeriod"/>
            </a:pPr>
            <a:endParaRPr lang="en-IN" sz="1600" dirty="0">
              <a:solidFill>
                <a:schemeClr val="bg1">
                  <a:lumMod val="75000"/>
                </a:schemeClr>
              </a:solidFill>
            </a:endParaRPr>
          </a:p>
          <a:p>
            <a:pPr marL="342900" indent="-342900">
              <a:buAutoNum type="arabicPeriod"/>
            </a:pPr>
            <a:r>
              <a:rPr lang="en-IN" sz="1600" dirty="0">
                <a:solidFill>
                  <a:schemeClr val="bg1">
                    <a:lumMod val="75000"/>
                  </a:schemeClr>
                </a:solidFill>
              </a:rPr>
              <a:t>Personalized user experience</a:t>
            </a:r>
          </a:p>
          <a:p>
            <a:pPr marL="342900" indent="-342900">
              <a:buAutoNum type="arabicPeriod"/>
            </a:pPr>
            <a:endParaRPr lang="en-IN" sz="1600" dirty="0">
              <a:solidFill>
                <a:schemeClr val="bg1">
                  <a:lumMod val="75000"/>
                </a:schemeClr>
              </a:solidFill>
            </a:endParaRPr>
          </a:p>
          <a:p>
            <a:pPr marL="342900" indent="-342900">
              <a:buAutoNum type="arabicPeriod"/>
            </a:pPr>
            <a:r>
              <a:rPr lang="en-IN" sz="1600" dirty="0">
                <a:solidFill>
                  <a:schemeClr val="bg1">
                    <a:lumMod val="75000"/>
                  </a:schemeClr>
                </a:solidFill>
              </a:rPr>
              <a:t>Reliable ETA (est. time of arrival) predictions</a:t>
            </a:r>
          </a:p>
        </p:txBody>
      </p:sp>
      <p:sp>
        <p:nvSpPr>
          <p:cNvPr id="24" name="TextBox 23">
            <a:extLst>
              <a:ext uri="{FF2B5EF4-FFF2-40B4-BE49-F238E27FC236}">
                <a16:creationId xmlns:a16="http://schemas.microsoft.com/office/drawing/2014/main" id="{8A1A546D-1F1B-1ADC-ACD1-9F1E234849F1}"/>
              </a:ext>
            </a:extLst>
          </p:cNvPr>
          <p:cNvSpPr txBox="1"/>
          <p:nvPr/>
        </p:nvSpPr>
        <p:spPr>
          <a:xfrm>
            <a:off x="8809551" y="3854872"/>
            <a:ext cx="3095257" cy="369332"/>
          </a:xfrm>
          <a:prstGeom prst="rect">
            <a:avLst/>
          </a:prstGeom>
          <a:noFill/>
        </p:spPr>
        <p:txBody>
          <a:bodyPr wrap="square" rtlCol="0">
            <a:spAutoFit/>
          </a:bodyPr>
          <a:lstStyle/>
          <a:p>
            <a:pPr algn="ctr"/>
            <a:r>
              <a:rPr lang="en-IN" dirty="0">
                <a:solidFill>
                  <a:schemeClr val="accent4">
                    <a:lumMod val="75000"/>
                  </a:schemeClr>
                </a:solidFill>
              </a:rPr>
              <a:t>Socioeconomics Correlation</a:t>
            </a:r>
          </a:p>
        </p:txBody>
      </p:sp>
      <p:sp>
        <p:nvSpPr>
          <p:cNvPr id="25" name="TextBox 24">
            <a:extLst>
              <a:ext uri="{FF2B5EF4-FFF2-40B4-BE49-F238E27FC236}">
                <a16:creationId xmlns:a16="http://schemas.microsoft.com/office/drawing/2014/main" id="{E6029D6F-CCFF-9273-FB0B-7D59E4B9F521}"/>
              </a:ext>
            </a:extLst>
          </p:cNvPr>
          <p:cNvSpPr txBox="1"/>
          <p:nvPr/>
        </p:nvSpPr>
        <p:spPr>
          <a:xfrm>
            <a:off x="8712891" y="4436133"/>
            <a:ext cx="3289768" cy="1323439"/>
          </a:xfrm>
          <a:prstGeom prst="rect">
            <a:avLst/>
          </a:prstGeom>
          <a:noFill/>
        </p:spPr>
        <p:txBody>
          <a:bodyPr wrap="square" rtlCol="0">
            <a:spAutoFit/>
          </a:bodyPr>
          <a:lstStyle/>
          <a:p>
            <a:pPr marL="342900" indent="-342900">
              <a:buAutoNum type="arabicPeriod"/>
            </a:pPr>
            <a:r>
              <a:rPr lang="en-IN" sz="1600" dirty="0">
                <a:solidFill>
                  <a:schemeClr val="bg1">
                    <a:lumMod val="75000"/>
                  </a:schemeClr>
                </a:solidFill>
              </a:rPr>
              <a:t>Upper/Middle income areas</a:t>
            </a:r>
          </a:p>
          <a:p>
            <a:pPr marL="342900" indent="-342900">
              <a:buAutoNum type="arabicPeriod"/>
            </a:pPr>
            <a:endParaRPr lang="en-IN" sz="1600" dirty="0">
              <a:solidFill>
                <a:schemeClr val="bg1">
                  <a:lumMod val="75000"/>
                </a:schemeClr>
              </a:solidFill>
            </a:endParaRPr>
          </a:p>
          <a:p>
            <a:pPr marL="342900" indent="-342900">
              <a:buAutoNum type="arabicPeriod"/>
            </a:pPr>
            <a:r>
              <a:rPr lang="en-IN" sz="1600" dirty="0">
                <a:solidFill>
                  <a:schemeClr val="bg1">
                    <a:lumMod val="75000"/>
                  </a:schemeClr>
                </a:solidFill>
              </a:rPr>
              <a:t>Entertainment zones</a:t>
            </a:r>
          </a:p>
          <a:p>
            <a:pPr marL="342900" indent="-342900">
              <a:buAutoNum type="arabicPeriod"/>
            </a:pPr>
            <a:endParaRPr lang="en-IN" sz="1600" dirty="0">
              <a:solidFill>
                <a:schemeClr val="bg1">
                  <a:lumMod val="75000"/>
                </a:schemeClr>
              </a:solidFill>
            </a:endParaRPr>
          </a:p>
          <a:p>
            <a:pPr marL="342900" indent="-342900">
              <a:buAutoNum type="arabicPeriod"/>
            </a:pPr>
            <a:r>
              <a:rPr lang="en-IN" sz="1600" dirty="0">
                <a:solidFill>
                  <a:schemeClr val="bg1">
                    <a:lumMod val="75000"/>
                  </a:schemeClr>
                </a:solidFill>
              </a:rPr>
              <a:t>Age demographics: 20-45</a:t>
            </a:r>
          </a:p>
        </p:txBody>
      </p:sp>
      <p:sp>
        <p:nvSpPr>
          <p:cNvPr id="28" name="Rectangle: Rounded Corners 27">
            <a:extLst>
              <a:ext uri="{FF2B5EF4-FFF2-40B4-BE49-F238E27FC236}">
                <a16:creationId xmlns:a16="http://schemas.microsoft.com/office/drawing/2014/main" id="{F60272EF-54F7-B89D-9C2D-00C59AAD678C}"/>
              </a:ext>
            </a:extLst>
          </p:cNvPr>
          <p:cNvSpPr/>
          <p:nvPr/>
        </p:nvSpPr>
        <p:spPr>
          <a:xfrm>
            <a:off x="105900" y="1495357"/>
            <a:ext cx="11980196" cy="1529224"/>
          </a:xfrm>
          <a:prstGeom prst="roundRect">
            <a:avLst/>
          </a:prstGeom>
          <a:solidFill>
            <a:srgbClr val="181818"/>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 name="Picture 29">
            <a:extLst>
              <a:ext uri="{FF2B5EF4-FFF2-40B4-BE49-F238E27FC236}">
                <a16:creationId xmlns:a16="http://schemas.microsoft.com/office/drawing/2014/main" id="{EC1B91C7-C051-9A0F-6113-DF7E7D03EA76}"/>
              </a:ext>
            </a:extLst>
          </p:cNvPr>
          <p:cNvPicPr>
            <a:picLocks noChangeAspect="1"/>
          </p:cNvPicPr>
          <p:nvPr/>
        </p:nvPicPr>
        <p:blipFill>
          <a:blip r:embed="rId3">
            <a:duotone>
              <a:schemeClr val="accent4">
                <a:shade val="45000"/>
                <a:satMod val="135000"/>
              </a:schemeClr>
              <a:prstClr val="white"/>
            </a:duotone>
          </a:blip>
          <a:stretch>
            <a:fillRect/>
          </a:stretch>
        </p:blipFill>
        <p:spPr>
          <a:xfrm>
            <a:off x="670857" y="2193546"/>
            <a:ext cx="667413" cy="667413"/>
          </a:xfrm>
          <a:prstGeom prst="rect">
            <a:avLst/>
          </a:prstGeom>
          <a:ln>
            <a:noFill/>
          </a:ln>
          <a:effectLst>
            <a:outerShdw blurRad="50800" dist="38100" dir="13500000" algn="br" rotWithShape="0">
              <a:prstClr val="black">
                <a:alpha val="40000"/>
              </a:prstClr>
            </a:outerShdw>
          </a:effectLst>
        </p:spPr>
      </p:pic>
      <p:sp>
        <p:nvSpPr>
          <p:cNvPr id="31" name="TextBox 30">
            <a:extLst>
              <a:ext uri="{FF2B5EF4-FFF2-40B4-BE49-F238E27FC236}">
                <a16:creationId xmlns:a16="http://schemas.microsoft.com/office/drawing/2014/main" id="{B45C95D7-6EFE-4315-C6BF-FF0F7022F996}"/>
              </a:ext>
            </a:extLst>
          </p:cNvPr>
          <p:cNvSpPr txBox="1"/>
          <p:nvPr/>
        </p:nvSpPr>
        <p:spPr>
          <a:xfrm>
            <a:off x="1470541" y="2243546"/>
            <a:ext cx="2272621" cy="615553"/>
          </a:xfrm>
          <a:prstGeom prst="rect">
            <a:avLst/>
          </a:prstGeom>
          <a:noFill/>
        </p:spPr>
        <p:txBody>
          <a:bodyPr wrap="square" rtlCol="0">
            <a:spAutoFit/>
          </a:bodyPr>
          <a:lstStyle/>
          <a:p>
            <a:r>
              <a:rPr lang="en-IN" dirty="0">
                <a:solidFill>
                  <a:schemeClr val="bg1">
                    <a:lumMod val="95000"/>
                  </a:schemeClr>
                </a:solidFill>
              </a:rPr>
              <a:t>Tourist-Centric</a:t>
            </a:r>
          </a:p>
          <a:p>
            <a:r>
              <a:rPr lang="en-IN" sz="1600" dirty="0">
                <a:solidFill>
                  <a:schemeClr val="bg1">
                    <a:lumMod val="65000"/>
                  </a:schemeClr>
                </a:solidFill>
              </a:rPr>
              <a:t>Low RPR (Jaipur, Mysore)</a:t>
            </a:r>
          </a:p>
        </p:txBody>
      </p:sp>
      <p:pic>
        <p:nvPicPr>
          <p:cNvPr id="34" name="Picture 33">
            <a:extLst>
              <a:ext uri="{FF2B5EF4-FFF2-40B4-BE49-F238E27FC236}">
                <a16:creationId xmlns:a16="http://schemas.microsoft.com/office/drawing/2014/main" id="{26938EE2-770D-B6E1-B4CC-E97321E6E373}"/>
              </a:ext>
            </a:extLst>
          </p:cNvPr>
          <p:cNvPicPr>
            <a:picLocks noChangeAspect="1"/>
          </p:cNvPicPr>
          <p:nvPr/>
        </p:nvPicPr>
        <p:blipFill>
          <a:blip r:embed="rId4">
            <a:duotone>
              <a:schemeClr val="accent4">
                <a:shade val="45000"/>
                <a:satMod val="135000"/>
              </a:schemeClr>
              <a:prstClr val="white"/>
            </a:duotone>
          </a:blip>
          <a:stretch>
            <a:fillRect/>
          </a:stretch>
        </p:blipFill>
        <p:spPr>
          <a:xfrm>
            <a:off x="4336249" y="2218322"/>
            <a:ext cx="666000" cy="666000"/>
          </a:xfrm>
          <a:prstGeom prst="rect">
            <a:avLst/>
          </a:prstGeom>
          <a:effectLst>
            <a:outerShdw blurRad="50800" dist="38100" dir="16200000" rotWithShape="0">
              <a:prstClr val="black">
                <a:alpha val="40000"/>
              </a:prstClr>
            </a:outerShdw>
          </a:effectLst>
        </p:spPr>
      </p:pic>
      <p:sp>
        <p:nvSpPr>
          <p:cNvPr id="35" name="TextBox 34">
            <a:extLst>
              <a:ext uri="{FF2B5EF4-FFF2-40B4-BE49-F238E27FC236}">
                <a16:creationId xmlns:a16="http://schemas.microsoft.com/office/drawing/2014/main" id="{E1D577AF-ADE2-4812-08BD-C2D72A4E0987}"/>
              </a:ext>
            </a:extLst>
          </p:cNvPr>
          <p:cNvSpPr txBox="1"/>
          <p:nvPr/>
        </p:nvSpPr>
        <p:spPr>
          <a:xfrm>
            <a:off x="5136411" y="2216583"/>
            <a:ext cx="3010474" cy="615553"/>
          </a:xfrm>
          <a:prstGeom prst="rect">
            <a:avLst/>
          </a:prstGeom>
          <a:noFill/>
        </p:spPr>
        <p:txBody>
          <a:bodyPr wrap="square" rtlCol="0">
            <a:spAutoFit/>
          </a:bodyPr>
          <a:lstStyle/>
          <a:p>
            <a:r>
              <a:rPr lang="en-IN" dirty="0">
                <a:solidFill>
                  <a:schemeClr val="bg1">
                    <a:lumMod val="95000"/>
                  </a:schemeClr>
                </a:solidFill>
              </a:rPr>
              <a:t>Commuter-Heavy</a:t>
            </a:r>
          </a:p>
          <a:p>
            <a:r>
              <a:rPr lang="en-IN" sz="1600" dirty="0">
                <a:solidFill>
                  <a:schemeClr val="bg1">
                    <a:lumMod val="65000"/>
                  </a:schemeClr>
                </a:solidFill>
              </a:rPr>
              <a:t>High RPR (Surat, Vadodara)</a:t>
            </a:r>
          </a:p>
        </p:txBody>
      </p:sp>
      <p:pic>
        <p:nvPicPr>
          <p:cNvPr id="38" name="Picture 37">
            <a:extLst>
              <a:ext uri="{FF2B5EF4-FFF2-40B4-BE49-F238E27FC236}">
                <a16:creationId xmlns:a16="http://schemas.microsoft.com/office/drawing/2014/main" id="{A3259C1B-84B5-B6F2-7E61-D25974F5E187}"/>
              </a:ext>
            </a:extLst>
          </p:cNvPr>
          <p:cNvPicPr>
            <a:picLocks noChangeAspect="1"/>
          </p:cNvPicPr>
          <p:nvPr/>
        </p:nvPicPr>
        <p:blipFill>
          <a:blip r:embed="rId5">
            <a:duotone>
              <a:schemeClr val="accent4">
                <a:shade val="45000"/>
                <a:satMod val="135000"/>
              </a:schemeClr>
              <a:prstClr val="white"/>
            </a:duotone>
          </a:blip>
          <a:stretch>
            <a:fillRect/>
          </a:stretch>
        </p:blipFill>
        <p:spPr>
          <a:xfrm>
            <a:off x="8125507" y="2255714"/>
            <a:ext cx="666000" cy="555337"/>
          </a:xfrm>
          <a:prstGeom prst="rect">
            <a:avLst/>
          </a:prstGeom>
          <a:effectLst>
            <a:outerShdw blurRad="50800" dist="38100" dir="13500000" algn="br" rotWithShape="0">
              <a:prstClr val="black">
                <a:alpha val="40000"/>
              </a:prstClr>
            </a:outerShdw>
          </a:effectLst>
        </p:spPr>
      </p:pic>
      <p:sp>
        <p:nvSpPr>
          <p:cNvPr id="39" name="TextBox 38">
            <a:extLst>
              <a:ext uri="{FF2B5EF4-FFF2-40B4-BE49-F238E27FC236}">
                <a16:creationId xmlns:a16="http://schemas.microsoft.com/office/drawing/2014/main" id="{85A08602-3372-EF4C-5F87-1918BAF2F413}"/>
              </a:ext>
            </a:extLst>
          </p:cNvPr>
          <p:cNvSpPr txBox="1"/>
          <p:nvPr/>
        </p:nvSpPr>
        <p:spPr>
          <a:xfrm>
            <a:off x="8927779" y="2236247"/>
            <a:ext cx="3010474" cy="615553"/>
          </a:xfrm>
          <a:prstGeom prst="rect">
            <a:avLst/>
          </a:prstGeom>
          <a:noFill/>
        </p:spPr>
        <p:txBody>
          <a:bodyPr wrap="square" rtlCol="0">
            <a:spAutoFit/>
          </a:bodyPr>
          <a:lstStyle/>
          <a:p>
            <a:r>
              <a:rPr lang="en-IN" dirty="0">
                <a:solidFill>
                  <a:schemeClr val="bg1">
                    <a:lumMod val="95000"/>
                  </a:schemeClr>
                </a:solidFill>
              </a:rPr>
              <a:t>Mixed Usage</a:t>
            </a:r>
          </a:p>
          <a:p>
            <a:r>
              <a:rPr lang="en-IN" sz="1600" dirty="0">
                <a:solidFill>
                  <a:schemeClr val="bg1">
                    <a:lumMod val="65000"/>
                  </a:schemeClr>
                </a:solidFill>
              </a:rPr>
              <a:t>Variable RPR (Kochi, Lucknow )</a:t>
            </a:r>
          </a:p>
        </p:txBody>
      </p:sp>
      <p:sp>
        <p:nvSpPr>
          <p:cNvPr id="40" name="TextBox 39">
            <a:extLst>
              <a:ext uri="{FF2B5EF4-FFF2-40B4-BE49-F238E27FC236}">
                <a16:creationId xmlns:a16="http://schemas.microsoft.com/office/drawing/2014/main" id="{C62BE692-2020-6395-DACE-5FD60752156C}"/>
              </a:ext>
            </a:extLst>
          </p:cNvPr>
          <p:cNvSpPr txBox="1"/>
          <p:nvPr/>
        </p:nvSpPr>
        <p:spPr>
          <a:xfrm>
            <a:off x="462114" y="1587802"/>
            <a:ext cx="11267767" cy="400110"/>
          </a:xfrm>
          <a:prstGeom prst="rect">
            <a:avLst/>
          </a:prstGeom>
          <a:noFill/>
        </p:spPr>
        <p:txBody>
          <a:bodyPr wrap="square" rtlCol="0">
            <a:spAutoFit/>
          </a:bodyPr>
          <a:lstStyle/>
          <a:p>
            <a:r>
              <a:rPr lang="en-IN" sz="2000" dirty="0">
                <a:solidFill>
                  <a:schemeClr val="bg1">
                    <a:lumMod val="95000"/>
                  </a:schemeClr>
                </a:solidFill>
              </a:rPr>
              <a:t>City Classification Impact</a:t>
            </a:r>
          </a:p>
        </p:txBody>
      </p:sp>
      <p:pic>
        <p:nvPicPr>
          <p:cNvPr id="42" name="Picture 41">
            <a:extLst>
              <a:ext uri="{FF2B5EF4-FFF2-40B4-BE49-F238E27FC236}">
                <a16:creationId xmlns:a16="http://schemas.microsoft.com/office/drawing/2014/main" id="{2BDBE099-F585-1537-3588-D1FBB07D3947}"/>
              </a:ext>
            </a:extLst>
          </p:cNvPr>
          <p:cNvPicPr>
            <a:picLocks noChangeAspect="1"/>
          </p:cNvPicPr>
          <p:nvPr/>
        </p:nvPicPr>
        <p:blipFill>
          <a:blip r:embed="rId6">
            <a:duotone>
              <a:schemeClr val="accent4">
                <a:shade val="45000"/>
                <a:satMod val="135000"/>
              </a:schemeClr>
              <a:prstClr val="white"/>
            </a:duotone>
          </a:blip>
          <a:stretch>
            <a:fillRect/>
          </a:stretch>
        </p:blipFill>
        <p:spPr>
          <a:xfrm>
            <a:off x="670857" y="4018086"/>
            <a:ext cx="431678" cy="431678"/>
          </a:xfrm>
          <a:prstGeom prst="rect">
            <a:avLst/>
          </a:prstGeom>
          <a:effectLst>
            <a:outerShdw blurRad="50800" dist="38100" dir="16200000" rotWithShape="0">
              <a:prstClr val="black">
                <a:alpha val="40000"/>
              </a:prstClr>
            </a:outerShdw>
          </a:effectLst>
        </p:spPr>
      </p:pic>
      <p:pic>
        <p:nvPicPr>
          <p:cNvPr id="46" name="Picture 45">
            <a:extLst>
              <a:ext uri="{FF2B5EF4-FFF2-40B4-BE49-F238E27FC236}">
                <a16:creationId xmlns:a16="http://schemas.microsoft.com/office/drawing/2014/main" id="{81F76FB3-EFF2-89D7-4C3F-7BDAD8CE545B}"/>
              </a:ext>
            </a:extLst>
          </p:cNvPr>
          <p:cNvPicPr>
            <a:picLocks noChangeAspect="1"/>
          </p:cNvPicPr>
          <p:nvPr/>
        </p:nvPicPr>
        <p:blipFill>
          <a:blip r:embed="rId7">
            <a:duotone>
              <a:schemeClr val="accent4">
                <a:shade val="45000"/>
                <a:satMod val="135000"/>
              </a:schemeClr>
              <a:prstClr val="white"/>
            </a:duotone>
          </a:blip>
          <a:stretch>
            <a:fillRect/>
          </a:stretch>
        </p:blipFill>
        <p:spPr>
          <a:xfrm>
            <a:off x="4771791" y="3934446"/>
            <a:ext cx="371556" cy="371556"/>
          </a:xfrm>
          <a:prstGeom prst="rect">
            <a:avLst/>
          </a:prstGeom>
        </p:spPr>
      </p:pic>
      <p:pic>
        <p:nvPicPr>
          <p:cNvPr id="48" name="Picture 47">
            <a:extLst>
              <a:ext uri="{FF2B5EF4-FFF2-40B4-BE49-F238E27FC236}">
                <a16:creationId xmlns:a16="http://schemas.microsoft.com/office/drawing/2014/main" id="{DD1EF17C-FD5B-FD9E-3679-3F51DB8B2ACF}"/>
              </a:ext>
            </a:extLst>
          </p:cNvPr>
          <p:cNvPicPr>
            <a:picLocks noChangeAspect="1"/>
          </p:cNvPicPr>
          <p:nvPr/>
        </p:nvPicPr>
        <p:blipFill>
          <a:blip r:embed="rId8">
            <a:duotone>
              <a:schemeClr val="accent4">
                <a:shade val="45000"/>
                <a:satMod val="135000"/>
              </a:schemeClr>
              <a:prstClr val="white"/>
            </a:duotone>
          </a:blip>
          <a:stretch>
            <a:fillRect/>
          </a:stretch>
        </p:blipFill>
        <p:spPr>
          <a:xfrm>
            <a:off x="8674528" y="3832478"/>
            <a:ext cx="253251" cy="334640"/>
          </a:xfrm>
          <a:prstGeom prst="rect">
            <a:avLst/>
          </a:prstGeom>
        </p:spPr>
      </p:pic>
      <p:sp>
        <p:nvSpPr>
          <p:cNvPr id="49" name="Rectangle: Rounded Corners 48">
            <a:extLst>
              <a:ext uri="{FF2B5EF4-FFF2-40B4-BE49-F238E27FC236}">
                <a16:creationId xmlns:a16="http://schemas.microsoft.com/office/drawing/2014/main" id="{DBC398B8-66EE-72DC-1655-FB96D14C337E}"/>
              </a:ext>
            </a:extLst>
          </p:cNvPr>
          <p:cNvSpPr/>
          <p:nvPr/>
        </p:nvSpPr>
        <p:spPr>
          <a:xfrm>
            <a:off x="655591" y="6110025"/>
            <a:ext cx="2898253" cy="325181"/>
          </a:xfrm>
          <a:prstGeom prst="roundRect">
            <a:avLst/>
          </a:prstGeom>
          <a:solidFill>
            <a:schemeClr val="tx1">
              <a:lumMod val="95000"/>
              <a:lumOff val="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bg1">
                    <a:lumMod val="65000"/>
                  </a:schemeClr>
                </a:solidFill>
              </a:rPr>
              <a:t>Impact on RPR : +15-20%</a:t>
            </a:r>
          </a:p>
        </p:txBody>
      </p:sp>
      <p:sp>
        <p:nvSpPr>
          <p:cNvPr id="50" name="Rectangle: Rounded Corners 49">
            <a:extLst>
              <a:ext uri="{FF2B5EF4-FFF2-40B4-BE49-F238E27FC236}">
                <a16:creationId xmlns:a16="http://schemas.microsoft.com/office/drawing/2014/main" id="{25DA0889-BD20-C987-69C1-C6FF8DE0A7A7}"/>
              </a:ext>
            </a:extLst>
          </p:cNvPr>
          <p:cNvSpPr/>
          <p:nvPr/>
        </p:nvSpPr>
        <p:spPr>
          <a:xfrm>
            <a:off x="4669249" y="6099691"/>
            <a:ext cx="2898253" cy="325181"/>
          </a:xfrm>
          <a:prstGeom prst="roundRect">
            <a:avLst/>
          </a:prstGeom>
          <a:solidFill>
            <a:schemeClr val="tx1">
              <a:lumMod val="95000"/>
              <a:lumOff val="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bg1">
                    <a:lumMod val="65000"/>
                  </a:schemeClr>
                </a:solidFill>
              </a:rPr>
              <a:t>Impact on RPR : +25-30%</a:t>
            </a:r>
          </a:p>
        </p:txBody>
      </p:sp>
      <p:sp>
        <p:nvSpPr>
          <p:cNvPr id="51" name="Rectangle: Rounded Corners 50">
            <a:extLst>
              <a:ext uri="{FF2B5EF4-FFF2-40B4-BE49-F238E27FC236}">
                <a16:creationId xmlns:a16="http://schemas.microsoft.com/office/drawing/2014/main" id="{AE193F68-4A12-6305-F4F4-8B74993DF9FB}"/>
              </a:ext>
            </a:extLst>
          </p:cNvPr>
          <p:cNvSpPr/>
          <p:nvPr/>
        </p:nvSpPr>
        <p:spPr>
          <a:xfrm>
            <a:off x="8712891" y="6111843"/>
            <a:ext cx="2898253" cy="325181"/>
          </a:xfrm>
          <a:prstGeom prst="roundRect">
            <a:avLst/>
          </a:prstGeom>
          <a:solidFill>
            <a:schemeClr val="tx1">
              <a:lumMod val="95000"/>
              <a:lumOff val="5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bg1">
                    <a:lumMod val="65000"/>
                  </a:schemeClr>
                </a:solidFill>
              </a:rPr>
              <a:t>Impact on RPR : +10-35%</a:t>
            </a:r>
          </a:p>
        </p:txBody>
      </p:sp>
      <p:sp>
        <p:nvSpPr>
          <p:cNvPr id="52" name="TextBox 51">
            <a:extLst>
              <a:ext uri="{FF2B5EF4-FFF2-40B4-BE49-F238E27FC236}">
                <a16:creationId xmlns:a16="http://schemas.microsoft.com/office/drawing/2014/main" id="{75727057-E9F7-5DD1-191A-29CE669938DE}"/>
              </a:ext>
            </a:extLst>
          </p:cNvPr>
          <p:cNvSpPr txBox="1"/>
          <p:nvPr/>
        </p:nvSpPr>
        <p:spPr>
          <a:xfrm>
            <a:off x="392811" y="3289119"/>
            <a:ext cx="11267767" cy="400110"/>
          </a:xfrm>
          <a:prstGeom prst="rect">
            <a:avLst/>
          </a:prstGeom>
          <a:noFill/>
        </p:spPr>
        <p:txBody>
          <a:bodyPr wrap="square" rtlCol="0">
            <a:spAutoFit/>
          </a:bodyPr>
          <a:lstStyle/>
          <a:p>
            <a:r>
              <a:rPr lang="en-IN" sz="2000" b="1" dirty="0">
                <a:solidFill>
                  <a:schemeClr val="bg1">
                    <a:lumMod val="75000"/>
                  </a:schemeClr>
                </a:solidFill>
              </a:rPr>
              <a:t>Factors Influencing RPR</a:t>
            </a:r>
          </a:p>
        </p:txBody>
      </p:sp>
      <p:sp>
        <p:nvSpPr>
          <p:cNvPr id="54" name="TextBox 53">
            <a:extLst>
              <a:ext uri="{FF2B5EF4-FFF2-40B4-BE49-F238E27FC236}">
                <a16:creationId xmlns:a16="http://schemas.microsoft.com/office/drawing/2014/main" id="{6CEBEB9B-48B9-1877-030C-82D00A72C156}"/>
              </a:ext>
            </a:extLst>
          </p:cNvPr>
          <p:cNvSpPr txBox="1"/>
          <p:nvPr/>
        </p:nvSpPr>
        <p:spPr>
          <a:xfrm>
            <a:off x="5240798" y="6530040"/>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40007835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3B20B-0EBA-6B32-4472-B8FFB4599F76}"/>
            </a:ext>
          </a:extLst>
        </p:cNvPr>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9EF1080E-68BE-763D-11D0-858E724C47A1}"/>
              </a:ext>
            </a:extLst>
          </p:cNvPr>
          <p:cNvSpPr/>
          <p:nvPr/>
        </p:nvSpPr>
        <p:spPr>
          <a:xfrm>
            <a:off x="6244969" y="4009347"/>
            <a:ext cx="5634362" cy="2705729"/>
          </a:xfrm>
          <a:prstGeom prst="roundRect">
            <a:avLst/>
          </a:prstGeom>
          <a:solidFill>
            <a:srgbClr val="181818"/>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2C657E55-3A12-4A25-4B6D-AAD3BB41F065}"/>
              </a:ext>
            </a:extLst>
          </p:cNvPr>
          <p:cNvSpPr/>
          <p:nvPr/>
        </p:nvSpPr>
        <p:spPr>
          <a:xfrm>
            <a:off x="422543" y="4009348"/>
            <a:ext cx="5556915" cy="2705729"/>
          </a:xfrm>
          <a:prstGeom prst="roundRect">
            <a:avLst/>
          </a:prstGeom>
          <a:solidFill>
            <a:srgbClr val="181818"/>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6BCB555B-B62C-978F-D047-7C19B6D79866}"/>
              </a:ext>
            </a:extLst>
          </p:cNvPr>
          <p:cNvSpPr txBox="1"/>
          <p:nvPr/>
        </p:nvSpPr>
        <p:spPr>
          <a:xfrm>
            <a:off x="107675" y="-14749"/>
            <a:ext cx="11771656" cy="1138773"/>
          </a:xfrm>
          <a:prstGeom prst="rect">
            <a:avLst/>
          </a:prstGeom>
          <a:noFill/>
        </p:spPr>
        <p:txBody>
          <a:bodyPr wrap="square" rtlCol="0">
            <a:spAutoFit/>
          </a:bodyPr>
          <a:lstStyle/>
          <a:p>
            <a:pPr>
              <a:lnSpc>
                <a:spcPct val="150000"/>
              </a:lnSpc>
            </a:pPr>
            <a:r>
              <a:rPr lang="en-IN" sz="2400" b="1" dirty="0">
                <a:solidFill>
                  <a:srgbClr val="FFC000"/>
                </a:solidFill>
              </a:rPr>
              <a:t>2.  Tourism vs Business Demand Impact</a:t>
            </a:r>
          </a:p>
          <a:p>
            <a:r>
              <a:rPr lang="en-IN" sz="1600" dirty="0">
                <a:solidFill>
                  <a:schemeClr val="accent4">
                    <a:lumMod val="75000"/>
                  </a:schemeClr>
                </a:solidFill>
              </a:rPr>
              <a:t>How tourism and business or local events (festivals, conferences) impact GoodCabs demand pattern? Would tailoring marketing efforts to these events increase trip volume in tourism- oriented cities ?</a:t>
            </a:r>
          </a:p>
        </p:txBody>
      </p:sp>
      <p:graphicFrame>
        <p:nvGraphicFramePr>
          <p:cNvPr id="4" name="Table 3">
            <a:extLst>
              <a:ext uri="{FF2B5EF4-FFF2-40B4-BE49-F238E27FC236}">
                <a16:creationId xmlns:a16="http://schemas.microsoft.com/office/drawing/2014/main" id="{E05CF315-51C0-8A02-58CE-64269CA03E5B}"/>
              </a:ext>
            </a:extLst>
          </p:cNvPr>
          <p:cNvGraphicFramePr>
            <a:graphicFrameLocks noGrp="1"/>
          </p:cNvGraphicFramePr>
          <p:nvPr>
            <p:extLst>
              <p:ext uri="{D42A27DB-BD31-4B8C-83A1-F6EECF244321}">
                <p14:modId xmlns:p14="http://schemas.microsoft.com/office/powerpoint/2010/main" val="2521133301"/>
              </p:ext>
            </p:extLst>
          </p:nvPr>
        </p:nvGraphicFramePr>
        <p:xfrm>
          <a:off x="539084" y="1386826"/>
          <a:ext cx="10836840" cy="1981200"/>
        </p:xfrm>
        <a:graphic>
          <a:graphicData uri="http://schemas.openxmlformats.org/drawingml/2006/table">
            <a:tbl>
              <a:tblPr>
                <a:tableStyleId>{616DA210-FB5B-4158-B5E0-FEB733F419BA}</a:tableStyleId>
              </a:tblPr>
              <a:tblGrid>
                <a:gridCol w="3612280">
                  <a:extLst>
                    <a:ext uri="{9D8B030D-6E8A-4147-A177-3AD203B41FA5}">
                      <a16:colId xmlns:a16="http://schemas.microsoft.com/office/drawing/2014/main" val="1802534426"/>
                    </a:ext>
                  </a:extLst>
                </a:gridCol>
                <a:gridCol w="3612280">
                  <a:extLst>
                    <a:ext uri="{9D8B030D-6E8A-4147-A177-3AD203B41FA5}">
                      <a16:colId xmlns:a16="http://schemas.microsoft.com/office/drawing/2014/main" val="3201730357"/>
                    </a:ext>
                  </a:extLst>
                </a:gridCol>
                <a:gridCol w="3612280">
                  <a:extLst>
                    <a:ext uri="{9D8B030D-6E8A-4147-A177-3AD203B41FA5}">
                      <a16:colId xmlns:a16="http://schemas.microsoft.com/office/drawing/2014/main" val="1284741639"/>
                    </a:ext>
                  </a:extLst>
                </a:gridCol>
              </a:tblGrid>
              <a:tr h="290480">
                <a:tc>
                  <a:txBody>
                    <a:bodyPr/>
                    <a:lstStyle/>
                    <a:p>
                      <a:r>
                        <a:rPr lang="en-IN" sz="1600" b="0" dirty="0">
                          <a:solidFill>
                            <a:schemeClr val="bg1">
                              <a:lumMod val="75000"/>
                            </a:schemeClr>
                          </a:solidFill>
                        </a:rPr>
                        <a:t>Factor</a:t>
                      </a:r>
                    </a:p>
                  </a:txBody>
                  <a:tcPr anchor="ctr">
                    <a:solidFill>
                      <a:srgbClr val="18202A"/>
                    </a:solidFill>
                  </a:tcPr>
                </a:tc>
                <a:tc>
                  <a:txBody>
                    <a:bodyPr/>
                    <a:lstStyle/>
                    <a:p>
                      <a:pPr algn="ctr"/>
                      <a:r>
                        <a:rPr lang="en-US" sz="1600" b="1" dirty="0">
                          <a:solidFill>
                            <a:schemeClr val="accent4">
                              <a:lumMod val="75000"/>
                            </a:schemeClr>
                          </a:solidFill>
                        </a:rPr>
                        <a:t>Tourist Cities </a:t>
                      </a:r>
                    </a:p>
                    <a:p>
                      <a:pPr algn="ctr"/>
                      <a:r>
                        <a:rPr lang="en-US" sz="1400" b="0" dirty="0">
                          <a:solidFill>
                            <a:schemeClr val="accent4">
                              <a:lumMod val="75000"/>
                            </a:schemeClr>
                          </a:solidFill>
                        </a:rPr>
                        <a:t>(e.g., Jaipur, Mysore)</a:t>
                      </a:r>
                    </a:p>
                  </a:txBody>
                  <a:tcPr anchor="ctr">
                    <a:solidFill>
                      <a:srgbClr val="18202A"/>
                    </a:solidFill>
                  </a:tcPr>
                </a:tc>
                <a:tc>
                  <a:txBody>
                    <a:bodyPr/>
                    <a:lstStyle/>
                    <a:p>
                      <a:pPr algn="ctr"/>
                      <a:r>
                        <a:rPr lang="en-US" sz="1600" b="1" dirty="0">
                          <a:solidFill>
                            <a:schemeClr val="accent4">
                              <a:lumMod val="75000"/>
                            </a:schemeClr>
                          </a:solidFill>
                        </a:rPr>
                        <a:t>Business Cities</a:t>
                      </a:r>
                    </a:p>
                    <a:p>
                      <a:pPr algn="ctr"/>
                      <a:r>
                        <a:rPr lang="en-US" sz="1400" b="0" dirty="0">
                          <a:solidFill>
                            <a:schemeClr val="accent4">
                              <a:lumMod val="75000"/>
                            </a:schemeClr>
                          </a:solidFill>
                        </a:rPr>
                        <a:t> (e.g., Lucknow, Surat)</a:t>
                      </a:r>
                    </a:p>
                  </a:txBody>
                  <a:tcPr anchor="ctr">
                    <a:solidFill>
                      <a:srgbClr val="18202A"/>
                    </a:solidFill>
                  </a:tcPr>
                </a:tc>
                <a:extLst>
                  <a:ext uri="{0D108BD9-81ED-4DB2-BD59-A6C34878D82A}">
                    <a16:rowId xmlns:a16="http://schemas.microsoft.com/office/drawing/2014/main" val="4015364941"/>
                  </a:ext>
                </a:extLst>
              </a:tr>
              <a:tr h="501739">
                <a:tc>
                  <a:txBody>
                    <a:bodyPr/>
                    <a:lstStyle/>
                    <a:p>
                      <a:r>
                        <a:rPr lang="en-IN" sz="1400" b="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 Trip Timing</a:t>
                      </a:r>
                    </a:p>
                  </a:txBody>
                  <a:tcPr anchor="ctr">
                    <a:solidFill>
                      <a:srgbClr val="18202A"/>
                    </a:solidFill>
                  </a:tcPr>
                </a:tc>
                <a:tc>
                  <a:txBody>
                    <a:bodyPr/>
                    <a:lstStyle/>
                    <a:p>
                      <a:pPr marL="285750" indent="-285750">
                        <a:buFont typeface="Arial" panose="020B0604020202020204" pitchFamily="34" charset="0"/>
                        <a:buChar char="•"/>
                      </a:pPr>
                      <a:r>
                        <a:rPr lang="en-US" sz="1400" b="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Peak on weekends, holidays, festive seasons</a:t>
                      </a:r>
                    </a:p>
                  </a:txBody>
                  <a:tcPr anchor="ctr">
                    <a:solidFill>
                      <a:srgbClr val="18202A"/>
                    </a:solidFill>
                  </a:tcPr>
                </a:tc>
                <a:tc>
                  <a:txBody>
                    <a:bodyPr/>
                    <a:lstStyle/>
                    <a:p>
                      <a:pPr marL="285750" indent="-285750">
                        <a:buFont typeface="Arial" panose="020B0604020202020204" pitchFamily="34" charset="0"/>
                        <a:buChar char="•"/>
                      </a:pPr>
                      <a:r>
                        <a:rPr lang="en-US" sz="1400" b="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Higher on weekdays, office hours</a:t>
                      </a:r>
                    </a:p>
                  </a:txBody>
                  <a:tcPr anchor="ctr">
                    <a:solidFill>
                      <a:srgbClr val="18202A"/>
                    </a:solidFill>
                  </a:tcPr>
                </a:tc>
                <a:extLst>
                  <a:ext uri="{0D108BD9-81ED-4DB2-BD59-A6C34878D82A}">
                    <a16:rowId xmlns:a16="http://schemas.microsoft.com/office/drawing/2014/main" val="3586654470"/>
                  </a:ext>
                </a:extLst>
              </a:tr>
              <a:tr h="290480">
                <a:tc>
                  <a:txBody>
                    <a:bodyPr/>
                    <a:lstStyle/>
                    <a:p>
                      <a:r>
                        <a:rPr lang="en-IN" sz="1400" b="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 Trip Volume Variability</a:t>
                      </a:r>
                    </a:p>
                  </a:txBody>
                  <a:tcPr anchor="ctr">
                    <a:solidFill>
                      <a:srgbClr val="18202A"/>
                    </a:solidFill>
                  </a:tcPr>
                </a:tc>
                <a:tc>
                  <a:txBody>
                    <a:bodyPr/>
                    <a:lstStyle/>
                    <a:p>
                      <a:pPr marL="285750" indent="-285750">
                        <a:buFont typeface="Arial" panose="020B0604020202020204" pitchFamily="34" charset="0"/>
                        <a:buChar char="•"/>
                      </a:pPr>
                      <a:r>
                        <a:rPr lang="en-IN" sz="1400" b="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Seasonal spikes (holidays, festivals)</a:t>
                      </a:r>
                    </a:p>
                  </a:txBody>
                  <a:tcPr anchor="ctr">
                    <a:solidFill>
                      <a:srgbClr val="18202A"/>
                    </a:solidFill>
                  </a:tcPr>
                </a:tc>
                <a:tc>
                  <a:txBody>
                    <a:bodyPr/>
                    <a:lstStyle/>
                    <a:p>
                      <a:pPr marL="285750" indent="-285750">
                        <a:buFont typeface="Arial" panose="020B0604020202020204" pitchFamily="34" charset="0"/>
                        <a:buChar char="•"/>
                      </a:pPr>
                      <a:r>
                        <a:rPr lang="en-IN" sz="1400" b="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Consistent demand year-round</a:t>
                      </a:r>
                    </a:p>
                  </a:txBody>
                  <a:tcPr anchor="ctr">
                    <a:solidFill>
                      <a:srgbClr val="18202A"/>
                    </a:solidFill>
                  </a:tcPr>
                </a:tc>
                <a:extLst>
                  <a:ext uri="{0D108BD9-81ED-4DB2-BD59-A6C34878D82A}">
                    <a16:rowId xmlns:a16="http://schemas.microsoft.com/office/drawing/2014/main" val="1157310842"/>
                  </a:ext>
                </a:extLst>
              </a:tr>
              <a:tr h="290480">
                <a:tc>
                  <a:txBody>
                    <a:bodyPr/>
                    <a:lstStyle/>
                    <a:p>
                      <a:r>
                        <a:rPr lang="en-IN" sz="1400" b="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 Passenger Type</a:t>
                      </a:r>
                    </a:p>
                  </a:txBody>
                  <a:tcPr anchor="ctr">
                    <a:solidFill>
                      <a:srgbClr val="18202A"/>
                    </a:solidFill>
                  </a:tcPr>
                </a:tc>
                <a:tc>
                  <a:txBody>
                    <a:bodyPr/>
                    <a:lstStyle/>
                    <a:p>
                      <a:pPr marL="285750" indent="-285750">
                        <a:buFont typeface="Arial" panose="020B0604020202020204" pitchFamily="34" charset="0"/>
                        <a:buChar char="•"/>
                      </a:pPr>
                      <a:r>
                        <a:rPr lang="fr-FR" sz="1400" b="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Families, solo tourists, leisure groups</a:t>
                      </a:r>
                    </a:p>
                  </a:txBody>
                  <a:tcPr anchor="ctr">
                    <a:solidFill>
                      <a:srgbClr val="18202A"/>
                    </a:solidFill>
                  </a:tcPr>
                </a:tc>
                <a:tc>
                  <a:txBody>
                    <a:bodyPr/>
                    <a:lstStyle/>
                    <a:p>
                      <a:pPr marL="285750" indent="-285750">
                        <a:buFont typeface="Arial" panose="020B0604020202020204" pitchFamily="34" charset="0"/>
                        <a:buChar char="•"/>
                      </a:pPr>
                      <a:r>
                        <a:rPr lang="en-IN" sz="1400" b="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Working professionals, daily commuters</a:t>
                      </a:r>
                    </a:p>
                  </a:txBody>
                  <a:tcPr anchor="ctr">
                    <a:solidFill>
                      <a:srgbClr val="18202A"/>
                    </a:solidFill>
                  </a:tcPr>
                </a:tc>
                <a:extLst>
                  <a:ext uri="{0D108BD9-81ED-4DB2-BD59-A6C34878D82A}">
                    <a16:rowId xmlns:a16="http://schemas.microsoft.com/office/drawing/2014/main" val="369874717"/>
                  </a:ext>
                </a:extLst>
              </a:tr>
              <a:tr h="290480">
                <a:tc>
                  <a:txBody>
                    <a:bodyPr/>
                    <a:lstStyle/>
                    <a:p>
                      <a:r>
                        <a:rPr lang="en-IN" sz="1400" b="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 Repeat Rate (RPR)</a:t>
                      </a:r>
                    </a:p>
                  </a:txBody>
                  <a:tcPr anchor="ctr">
                    <a:solidFill>
                      <a:srgbClr val="18202A"/>
                    </a:solidFill>
                  </a:tcPr>
                </a:tc>
                <a:tc>
                  <a:txBody>
                    <a:bodyPr/>
                    <a:lstStyle/>
                    <a:p>
                      <a:pPr marL="285750" indent="-285750">
                        <a:buFont typeface="Arial" panose="020B0604020202020204" pitchFamily="34" charset="0"/>
                        <a:buChar char="•"/>
                      </a:pPr>
                      <a:r>
                        <a:rPr lang="en-US" sz="1400" b="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Lower → One-time or occasional users</a:t>
                      </a:r>
                    </a:p>
                  </a:txBody>
                  <a:tcPr anchor="ctr">
                    <a:solidFill>
                      <a:srgbClr val="18202A"/>
                    </a:solidFill>
                  </a:tcPr>
                </a:tc>
                <a:tc>
                  <a:txBody>
                    <a:bodyPr/>
                    <a:lstStyle/>
                    <a:p>
                      <a:pPr marL="285750" indent="-285750">
                        <a:buFont typeface="Arial" panose="020B0604020202020204" pitchFamily="34" charset="0"/>
                        <a:buChar char="•"/>
                      </a:pPr>
                      <a:r>
                        <a:rPr lang="en-IN" sz="1400" b="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Higher → Frequent office commutes</a:t>
                      </a:r>
                    </a:p>
                  </a:txBody>
                  <a:tcPr anchor="ctr">
                    <a:solidFill>
                      <a:srgbClr val="18202A"/>
                    </a:solidFill>
                  </a:tcPr>
                </a:tc>
                <a:extLst>
                  <a:ext uri="{0D108BD9-81ED-4DB2-BD59-A6C34878D82A}">
                    <a16:rowId xmlns:a16="http://schemas.microsoft.com/office/drawing/2014/main" val="1038291390"/>
                  </a:ext>
                </a:extLst>
              </a:tr>
            </a:tbl>
          </a:graphicData>
        </a:graphic>
      </p:graphicFrame>
      <p:sp>
        <p:nvSpPr>
          <p:cNvPr id="10" name="TextBox 9">
            <a:extLst>
              <a:ext uri="{FF2B5EF4-FFF2-40B4-BE49-F238E27FC236}">
                <a16:creationId xmlns:a16="http://schemas.microsoft.com/office/drawing/2014/main" id="{867C2006-9F22-79CF-4B13-C95D05CC3D55}"/>
              </a:ext>
            </a:extLst>
          </p:cNvPr>
          <p:cNvSpPr txBox="1"/>
          <p:nvPr/>
        </p:nvSpPr>
        <p:spPr>
          <a:xfrm>
            <a:off x="0" y="3561026"/>
            <a:ext cx="12192000" cy="400110"/>
          </a:xfrm>
          <a:prstGeom prst="rect">
            <a:avLst/>
          </a:prstGeom>
          <a:noFill/>
        </p:spPr>
        <p:txBody>
          <a:bodyPr wrap="square">
            <a:spAutoFit/>
          </a:bodyPr>
          <a:lstStyle/>
          <a:p>
            <a:pPr algn="ctr"/>
            <a:r>
              <a:rPr lang="en-IN" sz="2000" dirty="0">
                <a:solidFill>
                  <a:schemeClr val="bg1"/>
                </a:solidFill>
              </a:rPr>
              <a:t>Impact of Targeted Marketing</a:t>
            </a:r>
          </a:p>
        </p:txBody>
      </p:sp>
      <p:pic>
        <p:nvPicPr>
          <p:cNvPr id="14" name="Picture 13">
            <a:extLst>
              <a:ext uri="{FF2B5EF4-FFF2-40B4-BE49-F238E27FC236}">
                <a16:creationId xmlns:a16="http://schemas.microsoft.com/office/drawing/2014/main" id="{417A45C2-B039-FC44-0025-E46711C870CF}"/>
              </a:ext>
            </a:extLst>
          </p:cNvPr>
          <p:cNvPicPr>
            <a:picLocks noChangeAspect="1"/>
          </p:cNvPicPr>
          <p:nvPr/>
        </p:nvPicPr>
        <p:blipFill>
          <a:blip r:embed="rId3">
            <a:duotone>
              <a:schemeClr val="accent4">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Lst>
          </a:blip>
          <a:stretch>
            <a:fillRect/>
          </a:stretch>
        </p:blipFill>
        <p:spPr>
          <a:xfrm>
            <a:off x="653234" y="4822604"/>
            <a:ext cx="646291" cy="835931"/>
          </a:xfrm>
          <a:prstGeom prst="rect">
            <a:avLst/>
          </a:prstGeom>
          <a:effectLst/>
        </p:spPr>
      </p:pic>
      <p:sp>
        <p:nvSpPr>
          <p:cNvPr id="15" name="TextBox 14">
            <a:extLst>
              <a:ext uri="{FF2B5EF4-FFF2-40B4-BE49-F238E27FC236}">
                <a16:creationId xmlns:a16="http://schemas.microsoft.com/office/drawing/2014/main" id="{226718E0-C9D4-545B-A752-17908014AE55}"/>
              </a:ext>
            </a:extLst>
          </p:cNvPr>
          <p:cNvSpPr txBox="1"/>
          <p:nvPr/>
        </p:nvSpPr>
        <p:spPr>
          <a:xfrm>
            <a:off x="539084" y="4081977"/>
            <a:ext cx="5252116" cy="369332"/>
          </a:xfrm>
          <a:prstGeom prst="rect">
            <a:avLst/>
          </a:prstGeom>
          <a:noFill/>
        </p:spPr>
        <p:txBody>
          <a:bodyPr wrap="square">
            <a:spAutoFit/>
          </a:bodyPr>
          <a:lstStyle/>
          <a:p>
            <a:pPr algn="ctr"/>
            <a:r>
              <a:rPr lang="en-IN" dirty="0">
                <a:solidFill>
                  <a:srgbClr val="FFC000"/>
                </a:solidFill>
                <a:latin typeface="Calibri" panose="020F0502020204030204" pitchFamily="34" charset="0"/>
                <a:ea typeface="Calibri" panose="020F0502020204030204" pitchFamily="34" charset="0"/>
                <a:cs typeface="Calibri" panose="020F0502020204030204" pitchFamily="34" charset="0"/>
              </a:rPr>
              <a:t>Tourist City Strategies </a:t>
            </a:r>
          </a:p>
        </p:txBody>
      </p:sp>
      <p:sp>
        <p:nvSpPr>
          <p:cNvPr id="16" name="TextBox 15">
            <a:extLst>
              <a:ext uri="{FF2B5EF4-FFF2-40B4-BE49-F238E27FC236}">
                <a16:creationId xmlns:a16="http://schemas.microsoft.com/office/drawing/2014/main" id="{9D883AA7-6DD2-5C6E-E403-3D10E6E2B878}"/>
              </a:ext>
            </a:extLst>
          </p:cNvPr>
          <p:cNvSpPr txBox="1"/>
          <p:nvPr/>
        </p:nvSpPr>
        <p:spPr>
          <a:xfrm>
            <a:off x="1671484" y="6089155"/>
            <a:ext cx="4119716" cy="523220"/>
          </a:xfrm>
          <a:prstGeom prst="rect">
            <a:avLst/>
          </a:prstGeom>
          <a:noFill/>
        </p:spPr>
        <p:txBody>
          <a:bodyPr wrap="square" rtlCol="0">
            <a:spAutoFit/>
          </a:bodyPr>
          <a:lstStyle/>
          <a:p>
            <a:pPr marL="285750" indent="-285750">
              <a:buFont typeface="Arial" panose="020B0604020202020204" pitchFamily="34" charset="0"/>
              <a:buChar char="•"/>
            </a:pPr>
            <a:r>
              <a:rPr lang="en-IN" sz="14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Align promotions with festival calendars</a:t>
            </a:r>
          </a:p>
          <a:p>
            <a:pPr marL="285750" indent="-285750">
              <a:buFont typeface="Arial" panose="020B0604020202020204" pitchFamily="34" charset="0"/>
              <a:buChar char="•"/>
            </a:pPr>
            <a:r>
              <a:rPr lang="en-IN" sz="14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Offer event-based trip packages</a:t>
            </a:r>
          </a:p>
        </p:txBody>
      </p:sp>
      <p:sp>
        <p:nvSpPr>
          <p:cNvPr id="19" name="TextBox 18">
            <a:extLst>
              <a:ext uri="{FF2B5EF4-FFF2-40B4-BE49-F238E27FC236}">
                <a16:creationId xmlns:a16="http://schemas.microsoft.com/office/drawing/2014/main" id="{AA9D48BA-EE6B-7703-E67B-267C088A04A3}"/>
              </a:ext>
            </a:extLst>
          </p:cNvPr>
          <p:cNvSpPr txBox="1"/>
          <p:nvPr/>
        </p:nvSpPr>
        <p:spPr>
          <a:xfrm>
            <a:off x="6383492" y="4063955"/>
            <a:ext cx="5327204" cy="369332"/>
          </a:xfrm>
          <a:prstGeom prst="rect">
            <a:avLst/>
          </a:prstGeom>
          <a:noFill/>
        </p:spPr>
        <p:txBody>
          <a:bodyPr wrap="square">
            <a:spAutoFit/>
          </a:bodyPr>
          <a:lstStyle/>
          <a:p>
            <a:pPr algn="ctr"/>
            <a:r>
              <a:rPr lang="en-IN" dirty="0">
                <a:solidFill>
                  <a:srgbClr val="FFC000"/>
                </a:solidFill>
                <a:latin typeface="Calibri" panose="020F0502020204030204" pitchFamily="34" charset="0"/>
                <a:ea typeface="Calibri" panose="020F0502020204030204" pitchFamily="34" charset="0"/>
                <a:cs typeface="Calibri" panose="020F0502020204030204" pitchFamily="34" charset="0"/>
              </a:rPr>
              <a:t>Business City Strategies </a:t>
            </a:r>
          </a:p>
        </p:txBody>
      </p:sp>
      <p:pic>
        <p:nvPicPr>
          <p:cNvPr id="21" name="Picture 20">
            <a:extLst>
              <a:ext uri="{FF2B5EF4-FFF2-40B4-BE49-F238E27FC236}">
                <a16:creationId xmlns:a16="http://schemas.microsoft.com/office/drawing/2014/main" id="{757BA210-67FD-875B-0C1B-3B939F8B6E48}"/>
              </a:ext>
            </a:extLst>
          </p:cNvPr>
          <p:cNvPicPr>
            <a:picLocks noChangeAspect="1"/>
          </p:cNvPicPr>
          <p:nvPr/>
        </p:nvPicPr>
        <p:blipFill>
          <a:blip r:embed="rId5">
            <a:duotone>
              <a:schemeClr val="accent4">
                <a:shade val="45000"/>
                <a:satMod val="135000"/>
              </a:schemeClr>
              <a:prstClr val="white"/>
            </a:duotone>
            <a:extLst>
              <a:ext uri="{BEBA8EAE-BF5A-486C-A8C5-ECC9F3942E4B}">
                <a14:imgProps xmlns:a14="http://schemas.microsoft.com/office/drawing/2010/main">
                  <a14:imgLayer r:embed="rId6">
                    <a14:imgEffect>
                      <a14:brightnessContrast bright="-40000" contrast="-20000"/>
                    </a14:imgEffect>
                  </a14:imgLayer>
                </a14:imgProps>
              </a:ext>
            </a:extLst>
          </a:blip>
          <a:stretch>
            <a:fillRect/>
          </a:stretch>
        </p:blipFill>
        <p:spPr>
          <a:xfrm>
            <a:off x="6505495" y="4793066"/>
            <a:ext cx="820134" cy="820134"/>
          </a:xfrm>
          <a:prstGeom prst="rect">
            <a:avLst/>
          </a:prstGeom>
        </p:spPr>
      </p:pic>
      <p:sp>
        <p:nvSpPr>
          <p:cNvPr id="22" name="TextBox 21">
            <a:extLst>
              <a:ext uri="{FF2B5EF4-FFF2-40B4-BE49-F238E27FC236}">
                <a16:creationId xmlns:a16="http://schemas.microsoft.com/office/drawing/2014/main" id="{AE261B3E-32C5-291F-DC1A-6CF381D5072D}"/>
              </a:ext>
            </a:extLst>
          </p:cNvPr>
          <p:cNvSpPr txBox="1"/>
          <p:nvPr/>
        </p:nvSpPr>
        <p:spPr>
          <a:xfrm>
            <a:off x="7228399" y="6031206"/>
            <a:ext cx="4747808" cy="523220"/>
          </a:xfrm>
          <a:prstGeom prst="rect">
            <a:avLst/>
          </a:prstGeom>
          <a:noFill/>
        </p:spPr>
        <p:txBody>
          <a:bodyPr wrap="square" rtlCol="0">
            <a:spAutoFit/>
          </a:bodyPr>
          <a:lstStyle/>
          <a:p>
            <a:pPr marL="285750" indent="-285750">
              <a:buFont typeface="Arial" panose="020B0604020202020204" pitchFamily="34" charset="0"/>
              <a:buChar char="•"/>
            </a:pPr>
            <a:r>
              <a:rPr lang="en-IN" sz="14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Conference venue partnership</a:t>
            </a:r>
          </a:p>
          <a:p>
            <a:pPr marL="285750" indent="-285750">
              <a:buFont typeface="Arial" panose="020B0604020202020204" pitchFamily="34" charset="0"/>
              <a:buChar char="•"/>
            </a:pPr>
            <a:r>
              <a:rPr lang="en-IN" sz="14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Promote cooperate tie-ups and loyalty programs</a:t>
            </a:r>
          </a:p>
        </p:txBody>
      </p:sp>
      <p:sp>
        <p:nvSpPr>
          <p:cNvPr id="49" name="Rectangle: Rounded Corners 48">
            <a:extLst>
              <a:ext uri="{FF2B5EF4-FFF2-40B4-BE49-F238E27FC236}">
                <a16:creationId xmlns:a16="http://schemas.microsoft.com/office/drawing/2014/main" id="{9B6DB46E-ABA5-8290-5739-FA7520CDA600}"/>
              </a:ext>
            </a:extLst>
          </p:cNvPr>
          <p:cNvSpPr/>
          <p:nvPr/>
        </p:nvSpPr>
        <p:spPr>
          <a:xfrm>
            <a:off x="1459041" y="4719016"/>
            <a:ext cx="3971412" cy="1264878"/>
          </a:xfrm>
          <a:prstGeom prst="round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30">
            <a:extLst>
              <a:ext uri="{FF2B5EF4-FFF2-40B4-BE49-F238E27FC236}">
                <a16:creationId xmlns:a16="http://schemas.microsoft.com/office/drawing/2014/main" id="{C5294458-E091-6CDE-B368-4A2B01D8575F}"/>
              </a:ext>
            </a:extLst>
          </p:cNvPr>
          <p:cNvSpPr/>
          <p:nvPr/>
        </p:nvSpPr>
        <p:spPr>
          <a:xfrm>
            <a:off x="1799461" y="5505191"/>
            <a:ext cx="921789" cy="270152"/>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31">
            <a:extLst>
              <a:ext uri="{FF2B5EF4-FFF2-40B4-BE49-F238E27FC236}">
                <a16:creationId xmlns:a16="http://schemas.microsoft.com/office/drawing/2014/main" id="{4A00ACC0-B326-9833-A6CF-DE294EF2962F}"/>
              </a:ext>
            </a:extLst>
          </p:cNvPr>
          <p:cNvSpPr/>
          <p:nvPr/>
        </p:nvSpPr>
        <p:spPr>
          <a:xfrm>
            <a:off x="2915145" y="5153304"/>
            <a:ext cx="921789" cy="622039"/>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le 33">
            <a:extLst>
              <a:ext uri="{FF2B5EF4-FFF2-40B4-BE49-F238E27FC236}">
                <a16:creationId xmlns:a16="http://schemas.microsoft.com/office/drawing/2014/main" id="{97B18B01-1EA6-530A-38FE-7E1B217EDB66}"/>
              </a:ext>
            </a:extLst>
          </p:cNvPr>
          <p:cNvSpPr/>
          <p:nvPr/>
        </p:nvSpPr>
        <p:spPr>
          <a:xfrm>
            <a:off x="4041895" y="4938614"/>
            <a:ext cx="921789" cy="825682"/>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TextBox 37">
            <a:extLst>
              <a:ext uri="{FF2B5EF4-FFF2-40B4-BE49-F238E27FC236}">
                <a16:creationId xmlns:a16="http://schemas.microsoft.com/office/drawing/2014/main" id="{C815C8CF-3DAD-9990-9832-EB3BB0D2C560}"/>
              </a:ext>
            </a:extLst>
          </p:cNvPr>
          <p:cNvSpPr txBox="1"/>
          <p:nvPr/>
        </p:nvSpPr>
        <p:spPr>
          <a:xfrm>
            <a:off x="1821533" y="5208364"/>
            <a:ext cx="888651" cy="316736"/>
          </a:xfrm>
          <a:prstGeom prst="rect">
            <a:avLst/>
          </a:prstGeom>
          <a:noFill/>
        </p:spPr>
        <p:txBody>
          <a:bodyPr wrap="square">
            <a:spAutoFit/>
          </a:bodyPr>
          <a:lstStyle/>
          <a:p>
            <a:pPr algn="ctr"/>
            <a:r>
              <a:rPr lang="en-IN" sz="14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Current</a:t>
            </a:r>
          </a:p>
        </p:txBody>
      </p:sp>
      <p:sp>
        <p:nvSpPr>
          <p:cNvPr id="42" name="TextBox 41">
            <a:extLst>
              <a:ext uri="{FF2B5EF4-FFF2-40B4-BE49-F238E27FC236}">
                <a16:creationId xmlns:a16="http://schemas.microsoft.com/office/drawing/2014/main" id="{5F4E3618-DEFC-8281-3210-665B1CF642C9}"/>
              </a:ext>
            </a:extLst>
          </p:cNvPr>
          <p:cNvSpPr txBox="1"/>
          <p:nvPr/>
        </p:nvSpPr>
        <p:spPr>
          <a:xfrm>
            <a:off x="2931713" y="4820698"/>
            <a:ext cx="888651" cy="316736"/>
          </a:xfrm>
          <a:prstGeom prst="rect">
            <a:avLst/>
          </a:prstGeom>
          <a:noFill/>
        </p:spPr>
        <p:txBody>
          <a:bodyPr wrap="square">
            <a:spAutoFit/>
          </a:bodyPr>
          <a:lstStyle/>
          <a:p>
            <a:pPr algn="ctr"/>
            <a:r>
              <a:rPr lang="en-IN" sz="14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Events</a:t>
            </a:r>
          </a:p>
        </p:txBody>
      </p:sp>
      <p:sp>
        <p:nvSpPr>
          <p:cNvPr id="43" name="TextBox 42">
            <a:extLst>
              <a:ext uri="{FF2B5EF4-FFF2-40B4-BE49-F238E27FC236}">
                <a16:creationId xmlns:a16="http://schemas.microsoft.com/office/drawing/2014/main" id="{082BE169-DC18-E0DE-CA65-89B2CF2C005F}"/>
              </a:ext>
            </a:extLst>
          </p:cNvPr>
          <p:cNvSpPr txBox="1"/>
          <p:nvPr/>
        </p:nvSpPr>
        <p:spPr>
          <a:xfrm>
            <a:off x="3851264" y="4650189"/>
            <a:ext cx="1375486" cy="307777"/>
          </a:xfrm>
          <a:prstGeom prst="rect">
            <a:avLst/>
          </a:prstGeom>
          <a:noFill/>
        </p:spPr>
        <p:txBody>
          <a:bodyPr wrap="square">
            <a:spAutoFit/>
          </a:bodyPr>
          <a:lstStyle/>
          <a:p>
            <a:pPr algn="ctr"/>
            <a:r>
              <a:rPr lang="en-IN" sz="14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Festival Focus</a:t>
            </a:r>
          </a:p>
        </p:txBody>
      </p:sp>
      <p:sp>
        <p:nvSpPr>
          <p:cNvPr id="44" name="TextBox 43">
            <a:extLst>
              <a:ext uri="{FF2B5EF4-FFF2-40B4-BE49-F238E27FC236}">
                <a16:creationId xmlns:a16="http://schemas.microsoft.com/office/drawing/2014/main" id="{7E094829-078F-1202-1473-1F1C7FE9F345}"/>
              </a:ext>
            </a:extLst>
          </p:cNvPr>
          <p:cNvSpPr txBox="1"/>
          <p:nvPr/>
        </p:nvSpPr>
        <p:spPr>
          <a:xfrm>
            <a:off x="2934801" y="5279975"/>
            <a:ext cx="888651" cy="316736"/>
          </a:xfrm>
          <a:prstGeom prst="rect">
            <a:avLst/>
          </a:prstGeom>
          <a:noFill/>
        </p:spPr>
        <p:txBody>
          <a:bodyPr wrap="square">
            <a:spAutoFit/>
          </a:bodyPr>
          <a:lstStyle/>
          <a:p>
            <a:pPr algn="ctr"/>
            <a:r>
              <a:rPr lang="en-IN" sz="1400" b="1"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+ 45%</a:t>
            </a:r>
          </a:p>
        </p:txBody>
      </p:sp>
      <p:sp>
        <p:nvSpPr>
          <p:cNvPr id="45" name="TextBox 44">
            <a:extLst>
              <a:ext uri="{FF2B5EF4-FFF2-40B4-BE49-F238E27FC236}">
                <a16:creationId xmlns:a16="http://schemas.microsoft.com/office/drawing/2014/main" id="{16FDFFFA-E072-51DB-2F17-E1CD057C6812}"/>
              </a:ext>
            </a:extLst>
          </p:cNvPr>
          <p:cNvSpPr txBox="1"/>
          <p:nvPr/>
        </p:nvSpPr>
        <p:spPr>
          <a:xfrm>
            <a:off x="4065998" y="5194723"/>
            <a:ext cx="888651" cy="316736"/>
          </a:xfrm>
          <a:prstGeom prst="rect">
            <a:avLst/>
          </a:prstGeom>
          <a:noFill/>
        </p:spPr>
        <p:txBody>
          <a:bodyPr wrap="square">
            <a:spAutoFit/>
          </a:bodyPr>
          <a:lstStyle/>
          <a:p>
            <a:pPr algn="ctr"/>
            <a:r>
              <a:rPr lang="en-IN" sz="1400" b="1"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+ 60%</a:t>
            </a:r>
          </a:p>
        </p:txBody>
      </p:sp>
      <p:sp>
        <p:nvSpPr>
          <p:cNvPr id="50" name="Rectangle: Rounded Corners 49">
            <a:extLst>
              <a:ext uri="{FF2B5EF4-FFF2-40B4-BE49-F238E27FC236}">
                <a16:creationId xmlns:a16="http://schemas.microsoft.com/office/drawing/2014/main" id="{9080CCFE-37C9-02C1-66A7-60BFB80DA625}"/>
              </a:ext>
            </a:extLst>
          </p:cNvPr>
          <p:cNvSpPr/>
          <p:nvPr/>
        </p:nvSpPr>
        <p:spPr>
          <a:xfrm>
            <a:off x="7475925" y="4598554"/>
            <a:ext cx="4062841" cy="1264878"/>
          </a:xfrm>
          <a:prstGeom prst="round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5" name="Rectangle 34">
            <a:extLst>
              <a:ext uri="{FF2B5EF4-FFF2-40B4-BE49-F238E27FC236}">
                <a16:creationId xmlns:a16="http://schemas.microsoft.com/office/drawing/2014/main" id="{36A9A98C-DA47-F9C3-3E7E-66CAACBC3B68}"/>
              </a:ext>
            </a:extLst>
          </p:cNvPr>
          <p:cNvSpPr/>
          <p:nvPr/>
        </p:nvSpPr>
        <p:spPr>
          <a:xfrm>
            <a:off x="7802537" y="5453841"/>
            <a:ext cx="921789" cy="270152"/>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35">
            <a:extLst>
              <a:ext uri="{FF2B5EF4-FFF2-40B4-BE49-F238E27FC236}">
                <a16:creationId xmlns:a16="http://schemas.microsoft.com/office/drawing/2014/main" id="{598729AA-01C6-6D51-3EFF-FB2AADDE20F2}"/>
              </a:ext>
            </a:extLst>
          </p:cNvPr>
          <p:cNvSpPr/>
          <p:nvPr/>
        </p:nvSpPr>
        <p:spPr>
          <a:xfrm>
            <a:off x="10259676" y="5142257"/>
            <a:ext cx="921789" cy="622039"/>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7" name="Rectangle 36">
            <a:extLst>
              <a:ext uri="{FF2B5EF4-FFF2-40B4-BE49-F238E27FC236}">
                <a16:creationId xmlns:a16="http://schemas.microsoft.com/office/drawing/2014/main" id="{7C75ADDF-3454-4467-AA78-6867FC363992}"/>
              </a:ext>
            </a:extLst>
          </p:cNvPr>
          <p:cNvSpPr/>
          <p:nvPr/>
        </p:nvSpPr>
        <p:spPr>
          <a:xfrm>
            <a:off x="9011275" y="4916614"/>
            <a:ext cx="921789" cy="825682"/>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9" name="TextBox 38">
            <a:extLst>
              <a:ext uri="{FF2B5EF4-FFF2-40B4-BE49-F238E27FC236}">
                <a16:creationId xmlns:a16="http://schemas.microsoft.com/office/drawing/2014/main" id="{F2523F7E-C546-FE1E-3FA8-70B364FC2281}"/>
              </a:ext>
            </a:extLst>
          </p:cNvPr>
          <p:cNvSpPr txBox="1"/>
          <p:nvPr/>
        </p:nvSpPr>
        <p:spPr>
          <a:xfrm>
            <a:off x="7852416" y="5118380"/>
            <a:ext cx="888651" cy="316736"/>
          </a:xfrm>
          <a:prstGeom prst="rect">
            <a:avLst/>
          </a:prstGeom>
          <a:noFill/>
        </p:spPr>
        <p:txBody>
          <a:bodyPr wrap="square">
            <a:spAutoFit/>
          </a:bodyPr>
          <a:lstStyle/>
          <a:p>
            <a:pPr algn="ctr"/>
            <a:r>
              <a:rPr lang="en-IN" sz="14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current</a:t>
            </a:r>
          </a:p>
        </p:txBody>
      </p:sp>
      <p:sp>
        <p:nvSpPr>
          <p:cNvPr id="40" name="TextBox 39">
            <a:extLst>
              <a:ext uri="{FF2B5EF4-FFF2-40B4-BE49-F238E27FC236}">
                <a16:creationId xmlns:a16="http://schemas.microsoft.com/office/drawing/2014/main" id="{51326E29-45D1-674B-8E11-429791EBFD53}"/>
              </a:ext>
            </a:extLst>
          </p:cNvPr>
          <p:cNvSpPr txBox="1"/>
          <p:nvPr/>
        </p:nvSpPr>
        <p:spPr>
          <a:xfrm>
            <a:off x="8796686" y="4602075"/>
            <a:ext cx="1278363" cy="307777"/>
          </a:xfrm>
          <a:prstGeom prst="rect">
            <a:avLst/>
          </a:prstGeom>
          <a:noFill/>
        </p:spPr>
        <p:txBody>
          <a:bodyPr wrap="square">
            <a:spAutoFit/>
          </a:bodyPr>
          <a:lstStyle/>
          <a:p>
            <a:pPr algn="ctr"/>
            <a:r>
              <a:rPr lang="en-IN" sz="14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Conferences</a:t>
            </a:r>
          </a:p>
        </p:txBody>
      </p:sp>
      <p:sp>
        <p:nvSpPr>
          <p:cNvPr id="41" name="TextBox 40">
            <a:extLst>
              <a:ext uri="{FF2B5EF4-FFF2-40B4-BE49-F238E27FC236}">
                <a16:creationId xmlns:a16="http://schemas.microsoft.com/office/drawing/2014/main" id="{95A96B5A-0779-E655-436E-429B0E1A7EA9}"/>
              </a:ext>
            </a:extLst>
          </p:cNvPr>
          <p:cNvSpPr txBox="1"/>
          <p:nvPr/>
        </p:nvSpPr>
        <p:spPr>
          <a:xfrm>
            <a:off x="10092580" y="4762945"/>
            <a:ext cx="1278363" cy="307777"/>
          </a:xfrm>
          <a:prstGeom prst="rect">
            <a:avLst/>
          </a:prstGeom>
          <a:noFill/>
        </p:spPr>
        <p:txBody>
          <a:bodyPr wrap="square">
            <a:spAutoFit/>
          </a:bodyPr>
          <a:lstStyle/>
          <a:p>
            <a:pPr algn="ctr"/>
            <a:r>
              <a:rPr lang="en-IN" sz="14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Corporate</a:t>
            </a:r>
          </a:p>
        </p:txBody>
      </p:sp>
      <p:sp>
        <p:nvSpPr>
          <p:cNvPr id="46" name="TextBox 45">
            <a:extLst>
              <a:ext uri="{FF2B5EF4-FFF2-40B4-BE49-F238E27FC236}">
                <a16:creationId xmlns:a16="http://schemas.microsoft.com/office/drawing/2014/main" id="{55253C41-D49B-978C-2461-27CDC40BA79A}"/>
              </a:ext>
            </a:extLst>
          </p:cNvPr>
          <p:cNvSpPr txBox="1"/>
          <p:nvPr/>
        </p:nvSpPr>
        <p:spPr>
          <a:xfrm>
            <a:off x="8975266" y="5134779"/>
            <a:ext cx="888651" cy="316736"/>
          </a:xfrm>
          <a:prstGeom prst="rect">
            <a:avLst/>
          </a:prstGeom>
          <a:noFill/>
        </p:spPr>
        <p:txBody>
          <a:bodyPr wrap="square">
            <a:spAutoFit/>
          </a:bodyPr>
          <a:lstStyle/>
          <a:p>
            <a:pPr algn="ctr"/>
            <a:r>
              <a:rPr lang="en-IN" sz="1400" b="1"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+ 70%</a:t>
            </a:r>
          </a:p>
        </p:txBody>
      </p:sp>
      <p:sp>
        <p:nvSpPr>
          <p:cNvPr id="47" name="TextBox 46">
            <a:extLst>
              <a:ext uri="{FF2B5EF4-FFF2-40B4-BE49-F238E27FC236}">
                <a16:creationId xmlns:a16="http://schemas.microsoft.com/office/drawing/2014/main" id="{578E26CB-C26D-72AA-05E1-DF765B4EE15E}"/>
              </a:ext>
            </a:extLst>
          </p:cNvPr>
          <p:cNvSpPr txBox="1"/>
          <p:nvPr/>
        </p:nvSpPr>
        <p:spPr>
          <a:xfrm>
            <a:off x="10240363" y="5296464"/>
            <a:ext cx="888651" cy="316736"/>
          </a:xfrm>
          <a:prstGeom prst="rect">
            <a:avLst/>
          </a:prstGeom>
          <a:noFill/>
        </p:spPr>
        <p:txBody>
          <a:bodyPr wrap="square">
            <a:spAutoFit/>
          </a:bodyPr>
          <a:lstStyle/>
          <a:p>
            <a:pPr algn="ctr"/>
            <a:r>
              <a:rPr lang="en-IN" sz="1400" b="1"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+ 35%</a:t>
            </a:r>
          </a:p>
        </p:txBody>
      </p:sp>
      <p:sp>
        <p:nvSpPr>
          <p:cNvPr id="51" name="TextBox 50">
            <a:extLst>
              <a:ext uri="{FF2B5EF4-FFF2-40B4-BE49-F238E27FC236}">
                <a16:creationId xmlns:a16="http://schemas.microsoft.com/office/drawing/2014/main" id="{AAB1F085-6CB9-C82A-2ABA-E19876836BEA}"/>
              </a:ext>
            </a:extLst>
          </p:cNvPr>
          <p:cNvSpPr txBox="1"/>
          <p:nvPr/>
        </p:nvSpPr>
        <p:spPr>
          <a:xfrm>
            <a:off x="5240798" y="6530040"/>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30129679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5116A-3EBC-1622-5DEA-3BBF4AB4F4EA}"/>
            </a:ext>
          </a:extLst>
        </p:cNvPr>
        <p:cNvGrpSpPr/>
        <p:nvPr/>
      </p:nvGrpSpPr>
      <p:grpSpPr>
        <a:xfrm>
          <a:off x="0" y="0"/>
          <a:ext cx="0" cy="0"/>
          <a:chOff x="0" y="0"/>
          <a:chExt cx="0" cy="0"/>
        </a:xfrm>
      </p:grpSpPr>
      <p:sp>
        <p:nvSpPr>
          <p:cNvPr id="35" name="Rectangle: Rounded Corners 34">
            <a:extLst>
              <a:ext uri="{FF2B5EF4-FFF2-40B4-BE49-F238E27FC236}">
                <a16:creationId xmlns:a16="http://schemas.microsoft.com/office/drawing/2014/main" id="{E3FCC2D4-9B4D-C846-39A6-F41BCE164B43}"/>
              </a:ext>
            </a:extLst>
          </p:cNvPr>
          <p:cNvSpPr/>
          <p:nvPr/>
        </p:nvSpPr>
        <p:spPr>
          <a:xfrm>
            <a:off x="6494054" y="1559666"/>
            <a:ext cx="5414557" cy="4732974"/>
          </a:xfrm>
          <a:prstGeom prst="roundRect">
            <a:avLst/>
          </a:prstGeom>
          <a:solidFill>
            <a:srgbClr val="181818"/>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Rounded Corners 21">
            <a:extLst>
              <a:ext uri="{FF2B5EF4-FFF2-40B4-BE49-F238E27FC236}">
                <a16:creationId xmlns:a16="http://schemas.microsoft.com/office/drawing/2014/main" id="{FAC4B20F-F1D9-7BB0-A32D-8FD2FE2AD0A9}"/>
              </a:ext>
            </a:extLst>
          </p:cNvPr>
          <p:cNvSpPr/>
          <p:nvPr/>
        </p:nvSpPr>
        <p:spPr>
          <a:xfrm>
            <a:off x="308731" y="1559668"/>
            <a:ext cx="5414557" cy="4732978"/>
          </a:xfrm>
          <a:prstGeom prst="roundRect">
            <a:avLst/>
          </a:prstGeom>
          <a:solidFill>
            <a:srgbClr val="181818"/>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TextBox 6">
            <a:extLst>
              <a:ext uri="{FF2B5EF4-FFF2-40B4-BE49-F238E27FC236}">
                <a16:creationId xmlns:a16="http://schemas.microsoft.com/office/drawing/2014/main" id="{3278F621-8CA1-4B63-69F3-A4C2FA9D955C}"/>
              </a:ext>
            </a:extLst>
          </p:cNvPr>
          <p:cNvSpPr txBox="1"/>
          <p:nvPr/>
        </p:nvSpPr>
        <p:spPr>
          <a:xfrm>
            <a:off x="181928" y="122587"/>
            <a:ext cx="11771656" cy="1046440"/>
          </a:xfrm>
          <a:prstGeom prst="rect">
            <a:avLst/>
          </a:prstGeom>
          <a:noFill/>
        </p:spPr>
        <p:txBody>
          <a:bodyPr wrap="square" rtlCol="0">
            <a:spAutoFit/>
          </a:bodyPr>
          <a:lstStyle/>
          <a:p>
            <a:pPr>
              <a:lnSpc>
                <a:spcPct val="150000"/>
              </a:lnSpc>
            </a:pPr>
            <a:r>
              <a:rPr lang="en-IN" sz="2000" b="1" dirty="0">
                <a:solidFill>
                  <a:srgbClr val="FFC000"/>
                </a:solidFill>
              </a:rPr>
              <a:t>3.  Emerging Mobility Trends and Goodcabs Adaption</a:t>
            </a:r>
          </a:p>
          <a:p>
            <a:r>
              <a:rPr lang="en-IN" sz="1600" dirty="0">
                <a:solidFill>
                  <a:schemeClr val="accent4">
                    <a:lumMod val="75000"/>
                  </a:schemeClr>
                </a:solidFill>
              </a:rPr>
              <a:t>What emerging trends (EV adoption, green energy use) are impacting the cab service market in tier-2 cities ? Should Goodcabs consider integrating EV or eco-friendly initiatives to stay competitive ? </a:t>
            </a:r>
          </a:p>
        </p:txBody>
      </p:sp>
      <p:sp>
        <p:nvSpPr>
          <p:cNvPr id="8" name="TextBox 7">
            <a:extLst>
              <a:ext uri="{FF2B5EF4-FFF2-40B4-BE49-F238E27FC236}">
                <a16:creationId xmlns:a16="http://schemas.microsoft.com/office/drawing/2014/main" id="{5C82720D-5C6C-7C79-1F2A-6F1CBF1E4BF1}"/>
              </a:ext>
            </a:extLst>
          </p:cNvPr>
          <p:cNvSpPr txBox="1"/>
          <p:nvPr/>
        </p:nvSpPr>
        <p:spPr>
          <a:xfrm>
            <a:off x="548288" y="1670502"/>
            <a:ext cx="4758813" cy="369332"/>
          </a:xfrm>
          <a:prstGeom prst="rect">
            <a:avLst/>
          </a:prstGeom>
          <a:noFill/>
        </p:spPr>
        <p:txBody>
          <a:bodyPr wrap="square">
            <a:spAutoFit/>
          </a:bodyPr>
          <a:lstStyle/>
          <a:p>
            <a:pPr algn="ctr"/>
            <a:r>
              <a:rPr lang="en-IN" b="1"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Tier-2 Cities : EV Market Trends</a:t>
            </a:r>
          </a:p>
        </p:txBody>
      </p:sp>
      <p:sp>
        <p:nvSpPr>
          <p:cNvPr id="11" name="TextBox 10">
            <a:extLst>
              <a:ext uri="{FF2B5EF4-FFF2-40B4-BE49-F238E27FC236}">
                <a16:creationId xmlns:a16="http://schemas.microsoft.com/office/drawing/2014/main" id="{C3BDE2E4-BCB4-28DC-8662-BC684A364CF3}"/>
              </a:ext>
            </a:extLst>
          </p:cNvPr>
          <p:cNvSpPr txBox="1"/>
          <p:nvPr/>
        </p:nvSpPr>
        <p:spPr>
          <a:xfrm>
            <a:off x="451643" y="4889199"/>
            <a:ext cx="5128732" cy="1169551"/>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bg1">
                  <a:lumMod val="85000"/>
                </a:schemeClr>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bg1">
                    <a:lumMod val="85000"/>
                  </a:schemeClr>
                </a:solidFill>
                <a:effectLst/>
                <a:latin typeface="Calibri" panose="020F0502020204030204" pitchFamily="34" charset="0"/>
                <a:ea typeface="Calibri" panose="020F0502020204030204" pitchFamily="34" charset="0"/>
                <a:cs typeface="Calibri" panose="020F0502020204030204" pitchFamily="34" charset="0"/>
              </a:rPr>
              <a:t>Lower charging infrastructure density (3.8x gap vs tier-1 cities) </a:t>
            </a:r>
          </a:p>
          <a:p>
            <a:pPr marR="0" lvl="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bg1">
                  <a:lumMod val="85000"/>
                </a:schemeClr>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chemeClr val="bg1">
                    <a:lumMod val="85000"/>
                  </a:schemeClr>
                </a:solidFill>
                <a:effectLst/>
                <a:latin typeface="Calibri" panose="020F0502020204030204" pitchFamily="34" charset="0"/>
                <a:ea typeface="Calibri" panose="020F0502020204030204" pitchFamily="34" charset="0"/>
                <a:cs typeface="Calibri" panose="020F0502020204030204" pitchFamily="34" charset="0"/>
              </a:rPr>
              <a:t>Higher sensitivity to green premiums (-22% willingness to pay vs metro riders) </a:t>
            </a:r>
          </a:p>
        </p:txBody>
      </p:sp>
      <p:sp>
        <p:nvSpPr>
          <p:cNvPr id="12" name="Arrow: Right 11">
            <a:extLst>
              <a:ext uri="{FF2B5EF4-FFF2-40B4-BE49-F238E27FC236}">
                <a16:creationId xmlns:a16="http://schemas.microsoft.com/office/drawing/2014/main" id="{ECBE2D1D-70E7-FCE1-61B7-7B8F15401AB8}"/>
              </a:ext>
            </a:extLst>
          </p:cNvPr>
          <p:cNvSpPr/>
          <p:nvPr/>
        </p:nvSpPr>
        <p:spPr>
          <a:xfrm>
            <a:off x="5727138" y="3572146"/>
            <a:ext cx="780817" cy="789412"/>
          </a:xfrm>
          <a:prstGeom prst="rightArrow">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 name="Picture 12">
            <a:extLst>
              <a:ext uri="{FF2B5EF4-FFF2-40B4-BE49-F238E27FC236}">
                <a16:creationId xmlns:a16="http://schemas.microsoft.com/office/drawing/2014/main" id="{4A59D2A8-355A-B023-A303-3F0BEADA43EA}"/>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tretch>
            <a:fillRect/>
          </a:stretch>
        </p:blipFill>
        <p:spPr>
          <a:xfrm>
            <a:off x="6956886" y="1670410"/>
            <a:ext cx="1025286" cy="759978"/>
          </a:xfrm>
          <a:prstGeom prst="rect">
            <a:avLst/>
          </a:prstGeom>
        </p:spPr>
      </p:pic>
      <p:sp>
        <p:nvSpPr>
          <p:cNvPr id="14" name="TextBox 13">
            <a:extLst>
              <a:ext uri="{FF2B5EF4-FFF2-40B4-BE49-F238E27FC236}">
                <a16:creationId xmlns:a16="http://schemas.microsoft.com/office/drawing/2014/main" id="{07BB3301-024C-4549-6A70-9AEEECD5A141}"/>
              </a:ext>
            </a:extLst>
          </p:cNvPr>
          <p:cNvSpPr txBox="1"/>
          <p:nvPr/>
        </p:nvSpPr>
        <p:spPr>
          <a:xfrm>
            <a:off x="6449081" y="1795213"/>
            <a:ext cx="5903592" cy="369332"/>
          </a:xfrm>
          <a:prstGeom prst="rect">
            <a:avLst/>
          </a:prstGeom>
          <a:noFill/>
        </p:spPr>
        <p:txBody>
          <a:bodyPr wrap="square">
            <a:spAutoFit/>
          </a:bodyPr>
          <a:lstStyle/>
          <a:p>
            <a:pPr algn="ctr"/>
            <a:r>
              <a:rPr lang="en-IN" b="1" dirty="0">
                <a:solidFill>
                  <a:schemeClr val="accent4">
                    <a:lumMod val="75000"/>
                  </a:schemeClr>
                </a:solidFill>
                <a:latin typeface="Calibri" panose="020F0502020204030204" pitchFamily="34" charset="0"/>
                <a:ea typeface="Calibri" panose="020F0502020204030204" pitchFamily="34" charset="0"/>
                <a:cs typeface="Calibri" panose="020F0502020204030204" pitchFamily="34" charset="0"/>
              </a:rPr>
              <a:t>Goodcabs EV Strategies</a:t>
            </a:r>
          </a:p>
        </p:txBody>
      </p:sp>
      <p:sp>
        <p:nvSpPr>
          <p:cNvPr id="15" name="TextBox 14">
            <a:extLst>
              <a:ext uri="{FF2B5EF4-FFF2-40B4-BE49-F238E27FC236}">
                <a16:creationId xmlns:a16="http://schemas.microsoft.com/office/drawing/2014/main" id="{6564388C-6731-D7B2-C3C7-D1877707A632}"/>
              </a:ext>
            </a:extLst>
          </p:cNvPr>
          <p:cNvSpPr txBox="1"/>
          <p:nvPr/>
        </p:nvSpPr>
        <p:spPr>
          <a:xfrm>
            <a:off x="7221793" y="2603512"/>
            <a:ext cx="4198374" cy="584775"/>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bg1">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bg1">
                    <a:lumMod val="75000"/>
                  </a:schemeClr>
                </a:solidFill>
                <a:effectLst/>
                <a:latin typeface="Calibri" panose="020F0502020204030204" pitchFamily="34" charset="0"/>
                <a:ea typeface="Calibri" panose="020F0502020204030204" pitchFamily="34" charset="0"/>
                <a:cs typeface="Calibri" panose="020F0502020204030204" pitchFamily="34" charset="0"/>
              </a:rPr>
              <a:t> </a:t>
            </a:r>
          </a:p>
        </p:txBody>
      </p:sp>
      <p:sp>
        <p:nvSpPr>
          <p:cNvPr id="18" name="TextBox 17">
            <a:extLst>
              <a:ext uri="{FF2B5EF4-FFF2-40B4-BE49-F238E27FC236}">
                <a16:creationId xmlns:a16="http://schemas.microsoft.com/office/drawing/2014/main" id="{B2C0D7C3-9066-3B2A-77E7-92DB31B913BD}"/>
              </a:ext>
            </a:extLst>
          </p:cNvPr>
          <p:cNvSpPr txBox="1"/>
          <p:nvPr/>
        </p:nvSpPr>
        <p:spPr>
          <a:xfrm>
            <a:off x="6552928" y="4222431"/>
            <a:ext cx="5311935" cy="338554"/>
          </a:xfrm>
          <a:prstGeom prst="rect">
            <a:avLst/>
          </a:prstGeom>
          <a:solidFill>
            <a:srgbClr val="242222"/>
          </a:solidFill>
        </p:spPr>
        <p:txBody>
          <a:bodyPr wrap="square">
            <a:spAutoFit/>
          </a:bodyPr>
          <a:lstStyle/>
          <a:p>
            <a:pPr algn="ctr"/>
            <a:r>
              <a:rPr lang="en-US" sz="1600" b="1" dirty="0">
                <a:solidFill>
                  <a:schemeClr val="accent4">
                    <a:lumMod val="75000"/>
                  </a:schemeClr>
                </a:solidFill>
              </a:rPr>
              <a:t>Tiered Implementation</a:t>
            </a:r>
          </a:p>
        </p:txBody>
      </p:sp>
      <p:sp>
        <p:nvSpPr>
          <p:cNvPr id="20" name="TextBox 19">
            <a:extLst>
              <a:ext uri="{FF2B5EF4-FFF2-40B4-BE49-F238E27FC236}">
                <a16:creationId xmlns:a16="http://schemas.microsoft.com/office/drawing/2014/main" id="{63A86E13-DF6F-6C33-AE4C-B9987F21BDA6}"/>
              </a:ext>
            </a:extLst>
          </p:cNvPr>
          <p:cNvSpPr txBox="1"/>
          <p:nvPr/>
        </p:nvSpPr>
        <p:spPr>
          <a:xfrm>
            <a:off x="90964" y="6441441"/>
            <a:ext cx="11784950" cy="307777"/>
          </a:xfrm>
          <a:prstGeom prst="rect">
            <a:avLst/>
          </a:prstGeom>
          <a:solidFill>
            <a:schemeClr val="tx1">
              <a:lumMod val="95000"/>
              <a:lumOff val="5000"/>
            </a:schemeClr>
          </a:solidFill>
          <a:ln w="3175">
            <a:solidFill>
              <a:schemeClr val="tx1">
                <a:lumMod val="75000"/>
                <a:lumOff val="25000"/>
              </a:schemeClr>
            </a:solidFill>
            <a:prstDash val="lgDashDotDot"/>
          </a:ln>
        </p:spPr>
        <p:txBody>
          <a:bodyPr wrap="square">
            <a:spAutoFit/>
          </a:bodyPr>
          <a:lstStyle/>
          <a:p>
            <a:r>
              <a:rPr lang="en-US" sz="1400" dirty="0">
                <a:solidFill>
                  <a:schemeClr val="bg1">
                    <a:lumMod val="75000"/>
                  </a:schemeClr>
                </a:solidFill>
              </a:rPr>
              <a:t>Introducing EVs in tier-2 cities is a smart investment: costs are recovered in 3 years, profits can grow by 12% afterward, and the brand gains a competitive edge.</a:t>
            </a:r>
            <a:endParaRPr lang="en-IN" sz="14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26" name="Chart 25">
            <a:extLst>
              <a:ext uri="{FF2B5EF4-FFF2-40B4-BE49-F238E27FC236}">
                <a16:creationId xmlns:a16="http://schemas.microsoft.com/office/drawing/2014/main" id="{407A0318-7353-5A71-D6DA-FB328821FA3D}"/>
              </a:ext>
            </a:extLst>
          </p:cNvPr>
          <p:cNvGraphicFramePr/>
          <p:nvPr>
            <p:extLst>
              <p:ext uri="{D42A27DB-BD31-4B8C-83A1-F6EECF244321}">
                <p14:modId xmlns:p14="http://schemas.microsoft.com/office/powerpoint/2010/main" val="4063993913"/>
              </p:ext>
            </p:extLst>
          </p:nvPr>
        </p:nvGraphicFramePr>
        <p:xfrm>
          <a:off x="308732" y="2336488"/>
          <a:ext cx="4464118" cy="1453938"/>
        </p:xfrm>
        <a:graphic>
          <a:graphicData uri="http://schemas.openxmlformats.org/drawingml/2006/chart">
            <c:chart xmlns:c="http://schemas.openxmlformats.org/drawingml/2006/chart" xmlns:r="http://schemas.openxmlformats.org/officeDocument/2006/relationships" r:id="rId5"/>
          </a:graphicData>
        </a:graphic>
      </p:graphicFrame>
      <p:sp>
        <p:nvSpPr>
          <p:cNvPr id="27" name="TextBox 26">
            <a:extLst>
              <a:ext uri="{FF2B5EF4-FFF2-40B4-BE49-F238E27FC236}">
                <a16:creationId xmlns:a16="http://schemas.microsoft.com/office/drawing/2014/main" id="{B5F52022-3AA8-5E3B-5DD7-A87050C71F5A}"/>
              </a:ext>
            </a:extLst>
          </p:cNvPr>
          <p:cNvSpPr txBox="1"/>
          <p:nvPr/>
        </p:nvSpPr>
        <p:spPr>
          <a:xfrm>
            <a:off x="1825381" y="2648853"/>
            <a:ext cx="2381256" cy="553998"/>
          </a:xfrm>
          <a:prstGeom prst="rect">
            <a:avLst/>
          </a:prstGeom>
          <a:noFill/>
        </p:spPr>
        <p:txBody>
          <a:bodyPr wrap="square" rtlCol="0">
            <a:spAutoFit/>
          </a:bodyPr>
          <a:lstStyle/>
          <a:p>
            <a:pPr algn="ctr"/>
            <a:r>
              <a:rPr lang="en-IN" sz="1600" dirty="0">
                <a:solidFill>
                  <a:schemeClr val="accent4">
                    <a:lumMod val="60000"/>
                    <a:lumOff val="40000"/>
                  </a:schemeClr>
                </a:solidFill>
                <a:latin typeface="Calibri" panose="020F0502020204030204" pitchFamily="34" charset="0"/>
                <a:ea typeface="Calibri" panose="020F0502020204030204" pitchFamily="34" charset="0"/>
                <a:cs typeface="Calibri" panose="020F0502020204030204" pitchFamily="34" charset="0"/>
              </a:rPr>
              <a:t>32 % </a:t>
            </a:r>
          </a:p>
          <a:p>
            <a:pPr algn="ctr"/>
            <a:r>
              <a:rPr lang="en-IN" sz="14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Annual Growth</a:t>
            </a:r>
          </a:p>
        </p:txBody>
      </p:sp>
      <p:sp>
        <p:nvSpPr>
          <p:cNvPr id="29" name="Rectangle 28">
            <a:extLst>
              <a:ext uri="{FF2B5EF4-FFF2-40B4-BE49-F238E27FC236}">
                <a16:creationId xmlns:a16="http://schemas.microsoft.com/office/drawing/2014/main" id="{A77E0D2F-8C40-0566-2D9B-3ACDC7E07667}"/>
              </a:ext>
            </a:extLst>
          </p:cNvPr>
          <p:cNvSpPr/>
          <p:nvPr/>
        </p:nvSpPr>
        <p:spPr>
          <a:xfrm>
            <a:off x="1385411" y="4295365"/>
            <a:ext cx="3107217" cy="299443"/>
          </a:xfrm>
          <a:prstGeom prst="rect">
            <a:avLst/>
          </a:prstGeom>
          <a:solidFill>
            <a:schemeClr val="tx1">
              <a:lumMod val="85000"/>
              <a:lumOff val="15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29">
            <a:extLst>
              <a:ext uri="{FF2B5EF4-FFF2-40B4-BE49-F238E27FC236}">
                <a16:creationId xmlns:a16="http://schemas.microsoft.com/office/drawing/2014/main" id="{1DF7F2F3-3E11-9A7D-95A7-90023DE01121}"/>
              </a:ext>
            </a:extLst>
          </p:cNvPr>
          <p:cNvSpPr/>
          <p:nvPr/>
        </p:nvSpPr>
        <p:spPr>
          <a:xfrm>
            <a:off x="1385410" y="4299237"/>
            <a:ext cx="1850408" cy="299443"/>
          </a:xfrm>
          <a:prstGeom prst="rect">
            <a:avLst/>
          </a:prstGeom>
          <a:solidFill>
            <a:schemeClr val="accent4">
              <a:lumMod val="50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TextBox 30">
            <a:extLst>
              <a:ext uri="{FF2B5EF4-FFF2-40B4-BE49-F238E27FC236}">
                <a16:creationId xmlns:a16="http://schemas.microsoft.com/office/drawing/2014/main" id="{C9658C3D-917C-5BB4-A82F-59685680D115}"/>
              </a:ext>
            </a:extLst>
          </p:cNvPr>
          <p:cNvSpPr txBox="1"/>
          <p:nvPr/>
        </p:nvSpPr>
        <p:spPr>
          <a:xfrm>
            <a:off x="2610049" y="4293823"/>
            <a:ext cx="666159" cy="338554"/>
          </a:xfrm>
          <a:prstGeom prst="rect">
            <a:avLst/>
          </a:prstGeom>
          <a:noFill/>
        </p:spPr>
        <p:txBody>
          <a:bodyPr wrap="square" rtlCol="0">
            <a:spAutoFit/>
          </a:bodyPr>
          <a:lstStyle/>
          <a:p>
            <a:pPr algn="ctr"/>
            <a:r>
              <a:rPr lang="en-IN" sz="1600" b="1" dirty="0">
                <a:solidFill>
                  <a:schemeClr val="bg1"/>
                </a:solidFill>
                <a:latin typeface="Calibri" panose="020F0502020204030204" pitchFamily="34" charset="0"/>
                <a:ea typeface="Calibri" panose="020F0502020204030204" pitchFamily="34" charset="0"/>
                <a:cs typeface="Calibri" panose="020F0502020204030204" pitchFamily="34" charset="0"/>
              </a:rPr>
              <a:t>57% </a:t>
            </a:r>
            <a:endParaRPr lang="en-IN" sz="1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ECDB784D-E005-C5F3-FB03-E2CFF7A71A02}"/>
              </a:ext>
            </a:extLst>
          </p:cNvPr>
          <p:cNvSpPr txBox="1"/>
          <p:nvPr/>
        </p:nvSpPr>
        <p:spPr>
          <a:xfrm>
            <a:off x="1419420" y="4601827"/>
            <a:ext cx="3107217" cy="307777"/>
          </a:xfrm>
          <a:prstGeom prst="rect">
            <a:avLst/>
          </a:prstGeom>
          <a:noFill/>
        </p:spPr>
        <p:txBody>
          <a:bodyPr wrap="square" rtlCol="0">
            <a:spAutoFit/>
          </a:bodyPr>
          <a:lstStyle/>
          <a:p>
            <a:pPr algn="ctr"/>
            <a:r>
              <a:rPr lang="en-IN" sz="14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Customers value sustainability</a:t>
            </a:r>
          </a:p>
        </p:txBody>
      </p:sp>
      <p:sp>
        <p:nvSpPr>
          <p:cNvPr id="34" name="TextBox 33">
            <a:extLst>
              <a:ext uri="{FF2B5EF4-FFF2-40B4-BE49-F238E27FC236}">
                <a16:creationId xmlns:a16="http://schemas.microsoft.com/office/drawing/2014/main" id="{AEFC8245-D59B-FB85-16F0-35D05CB809CE}"/>
              </a:ext>
            </a:extLst>
          </p:cNvPr>
          <p:cNvSpPr txBox="1"/>
          <p:nvPr/>
        </p:nvSpPr>
        <p:spPr>
          <a:xfrm>
            <a:off x="1825381" y="3572146"/>
            <a:ext cx="2381256" cy="307777"/>
          </a:xfrm>
          <a:prstGeom prst="rect">
            <a:avLst/>
          </a:prstGeom>
          <a:noFill/>
        </p:spPr>
        <p:txBody>
          <a:bodyPr wrap="square" rtlCol="0">
            <a:spAutoFit/>
          </a:bodyPr>
          <a:lstStyle/>
          <a:p>
            <a:pPr algn="ctr"/>
            <a:r>
              <a:rPr lang="en-IN" sz="14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(vs 48% in metro areas)</a:t>
            </a:r>
          </a:p>
        </p:txBody>
      </p:sp>
      <p:sp>
        <p:nvSpPr>
          <p:cNvPr id="36" name="Rectangle: Rounded Corners 35">
            <a:extLst>
              <a:ext uri="{FF2B5EF4-FFF2-40B4-BE49-F238E27FC236}">
                <a16:creationId xmlns:a16="http://schemas.microsoft.com/office/drawing/2014/main" id="{54873332-8DB1-F42C-948F-08D32C65BAA4}"/>
              </a:ext>
            </a:extLst>
          </p:cNvPr>
          <p:cNvSpPr/>
          <p:nvPr/>
        </p:nvSpPr>
        <p:spPr>
          <a:xfrm>
            <a:off x="7198541" y="2417124"/>
            <a:ext cx="3971412" cy="1414668"/>
          </a:xfrm>
          <a:prstGeom prst="round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36">
            <a:extLst>
              <a:ext uri="{FF2B5EF4-FFF2-40B4-BE49-F238E27FC236}">
                <a16:creationId xmlns:a16="http://schemas.microsoft.com/office/drawing/2014/main" id="{10C3D7DD-CDA2-C3AF-70BC-08DCEADE398E}"/>
              </a:ext>
            </a:extLst>
          </p:cNvPr>
          <p:cNvSpPr/>
          <p:nvPr/>
        </p:nvSpPr>
        <p:spPr>
          <a:xfrm>
            <a:off x="8139510" y="3429000"/>
            <a:ext cx="921789" cy="270152"/>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8" name="Rectangle 37">
            <a:extLst>
              <a:ext uri="{FF2B5EF4-FFF2-40B4-BE49-F238E27FC236}">
                <a16:creationId xmlns:a16="http://schemas.microsoft.com/office/drawing/2014/main" id="{EEBE5B0C-7A70-2564-FFC5-1A3F290AE8A1}"/>
              </a:ext>
            </a:extLst>
          </p:cNvPr>
          <p:cNvSpPr/>
          <p:nvPr/>
        </p:nvSpPr>
        <p:spPr>
          <a:xfrm>
            <a:off x="9391261" y="3058035"/>
            <a:ext cx="921789" cy="622039"/>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0D4E6E4D-BBFC-57F3-5132-96111408F605}"/>
              </a:ext>
            </a:extLst>
          </p:cNvPr>
          <p:cNvSpPr txBox="1"/>
          <p:nvPr/>
        </p:nvSpPr>
        <p:spPr>
          <a:xfrm>
            <a:off x="7945189" y="3124458"/>
            <a:ext cx="1310430" cy="307777"/>
          </a:xfrm>
          <a:prstGeom prst="rect">
            <a:avLst/>
          </a:prstGeom>
          <a:noFill/>
        </p:spPr>
        <p:txBody>
          <a:bodyPr wrap="square">
            <a:spAutoFit/>
          </a:bodyPr>
          <a:lstStyle/>
          <a:p>
            <a:pPr algn="ctr"/>
            <a:r>
              <a:rPr lang="en-IN" sz="14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Full Transition </a:t>
            </a:r>
          </a:p>
        </p:txBody>
      </p:sp>
      <p:sp>
        <p:nvSpPr>
          <p:cNvPr id="40" name="TextBox 39">
            <a:extLst>
              <a:ext uri="{FF2B5EF4-FFF2-40B4-BE49-F238E27FC236}">
                <a16:creationId xmlns:a16="http://schemas.microsoft.com/office/drawing/2014/main" id="{88B44A53-11DE-C56A-9ECB-5DDD531CCC34}"/>
              </a:ext>
            </a:extLst>
          </p:cNvPr>
          <p:cNvSpPr txBox="1"/>
          <p:nvPr/>
        </p:nvSpPr>
        <p:spPr>
          <a:xfrm>
            <a:off x="9184247" y="2752313"/>
            <a:ext cx="1447021" cy="307777"/>
          </a:xfrm>
          <a:prstGeom prst="rect">
            <a:avLst/>
          </a:prstGeom>
          <a:noFill/>
        </p:spPr>
        <p:txBody>
          <a:bodyPr wrap="square">
            <a:spAutoFit/>
          </a:bodyPr>
          <a:lstStyle/>
          <a:p>
            <a:pPr algn="ctr"/>
            <a:r>
              <a:rPr lang="en-IN" sz="14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Phased Approach</a:t>
            </a:r>
          </a:p>
        </p:txBody>
      </p:sp>
      <p:sp>
        <p:nvSpPr>
          <p:cNvPr id="41" name="TextBox 40">
            <a:extLst>
              <a:ext uri="{FF2B5EF4-FFF2-40B4-BE49-F238E27FC236}">
                <a16:creationId xmlns:a16="http://schemas.microsoft.com/office/drawing/2014/main" id="{74E44155-47EB-4D14-0BAF-2D3973D99397}"/>
              </a:ext>
            </a:extLst>
          </p:cNvPr>
          <p:cNvSpPr txBox="1"/>
          <p:nvPr/>
        </p:nvSpPr>
        <p:spPr>
          <a:xfrm>
            <a:off x="9387739" y="3255410"/>
            <a:ext cx="888651" cy="307777"/>
          </a:xfrm>
          <a:prstGeom prst="rect">
            <a:avLst/>
          </a:prstGeom>
          <a:noFill/>
        </p:spPr>
        <p:txBody>
          <a:bodyPr wrap="square">
            <a:spAutoFit/>
          </a:bodyPr>
          <a:lstStyle/>
          <a:p>
            <a:pPr algn="ctr"/>
            <a:r>
              <a:rPr lang="en-IN" sz="1400" b="1"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 2.4x ROI</a:t>
            </a:r>
          </a:p>
        </p:txBody>
      </p:sp>
      <p:sp>
        <p:nvSpPr>
          <p:cNvPr id="43" name="TextBox 42">
            <a:extLst>
              <a:ext uri="{FF2B5EF4-FFF2-40B4-BE49-F238E27FC236}">
                <a16:creationId xmlns:a16="http://schemas.microsoft.com/office/drawing/2014/main" id="{A4843F8F-F51A-5465-E085-39584362250F}"/>
              </a:ext>
            </a:extLst>
          </p:cNvPr>
          <p:cNvSpPr txBox="1"/>
          <p:nvPr/>
        </p:nvSpPr>
        <p:spPr>
          <a:xfrm>
            <a:off x="7792708" y="4784207"/>
            <a:ext cx="4115903" cy="1169551"/>
          </a:xfrm>
          <a:prstGeom prst="rect">
            <a:avLst/>
          </a:prstGeom>
          <a:noFill/>
        </p:spPr>
        <p:txBody>
          <a:bodyPr wrap="square">
            <a:spAutoFit/>
          </a:bodyPr>
          <a:lstStyle/>
          <a:p>
            <a:pPr marL="285750" indent="-285750">
              <a:buFont typeface="Arial" panose="020B0604020202020204" pitchFamily="34" charset="0"/>
              <a:buChar char="•"/>
            </a:pPr>
            <a:r>
              <a:rPr lang="en-US" sz="14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Higher Visibility routes first</a:t>
            </a:r>
          </a:p>
          <a:p>
            <a:pPr marL="285750" indent="-285750">
              <a:buFont typeface="Arial" panose="020B0604020202020204" pitchFamily="34" charset="0"/>
              <a:buChar char="•"/>
            </a:pPr>
            <a:endParaRPr lang="en-US" sz="14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“Green Rider” service (+18% revenue)</a:t>
            </a:r>
          </a:p>
          <a:p>
            <a:pPr marL="285750" indent="-285750">
              <a:buFont typeface="Arial" panose="020B0604020202020204" pitchFamily="34" charset="0"/>
              <a:buChar char="•"/>
            </a:pPr>
            <a:endParaRPr lang="en-US" sz="14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4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Business partnership for charging</a:t>
            </a:r>
          </a:p>
        </p:txBody>
      </p:sp>
    </p:spTree>
    <p:extLst>
      <p:ext uri="{BB962C8B-B14F-4D97-AF65-F5344CB8AC3E}">
        <p14:creationId xmlns:p14="http://schemas.microsoft.com/office/powerpoint/2010/main" val="8122038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2503A-85C8-4BA4-79D5-0B11AEDC3965}"/>
            </a:ext>
          </a:extLst>
        </p:cNvPr>
        <p:cNvGrpSpPr/>
        <p:nvPr/>
      </p:nvGrpSpPr>
      <p:grpSpPr>
        <a:xfrm>
          <a:off x="0" y="0"/>
          <a:ext cx="0" cy="0"/>
          <a:chOff x="0" y="0"/>
          <a:chExt cx="0" cy="0"/>
        </a:xfrm>
      </p:grpSpPr>
      <p:sp>
        <p:nvSpPr>
          <p:cNvPr id="30" name="Rectangle: Rounded Corners 29">
            <a:extLst>
              <a:ext uri="{FF2B5EF4-FFF2-40B4-BE49-F238E27FC236}">
                <a16:creationId xmlns:a16="http://schemas.microsoft.com/office/drawing/2014/main" id="{35EEE2FB-F8D4-71A1-FE3F-90C262620546}"/>
              </a:ext>
            </a:extLst>
          </p:cNvPr>
          <p:cNvSpPr/>
          <p:nvPr/>
        </p:nvSpPr>
        <p:spPr>
          <a:xfrm>
            <a:off x="181928" y="4392977"/>
            <a:ext cx="11799900" cy="2235738"/>
          </a:xfrm>
          <a:prstGeom prst="roundRect">
            <a:avLst/>
          </a:prstGeom>
          <a:solidFill>
            <a:srgbClr val="181818"/>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E1E99727-C738-D0DA-B213-51B0CB9C48DC}"/>
              </a:ext>
            </a:extLst>
          </p:cNvPr>
          <p:cNvSpPr txBox="1"/>
          <p:nvPr/>
        </p:nvSpPr>
        <p:spPr>
          <a:xfrm>
            <a:off x="210172" y="108659"/>
            <a:ext cx="11771656" cy="1046440"/>
          </a:xfrm>
          <a:prstGeom prst="rect">
            <a:avLst/>
          </a:prstGeom>
          <a:noFill/>
        </p:spPr>
        <p:txBody>
          <a:bodyPr wrap="square" rtlCol="0">
            <a:spAutoFit/>
          </a:bodyPr>
          <a:lstStyle/>
          <a:p>
            <a:pPr>
              <a:lnSpc>
                <a:spcPct val="150000"/>
              </a:lnSpc>
            </a:pPr>
            <a:r>
              <a:rPr lang="en-IN" sz="2000" b="1" dirty="0">
                <a:solidFill>
                  <a:srgbClr val="FFC000"/>
                </a:solidFill>
              </a:rPr>
              <a:t>4.  Partnership Opportunities with Local Business</a:t>
            </a:r>
          </a:p>
          <a:p>
            <a:r>
              <a:rPr lang="en-IN" sz="1600" dirty="0">
                <a:solidFill>
                  <a:schemeClr val="accent4">
                    <a:lumMod val="75000"/>
                  </a:schemeClr>
                </a:solidFill>
              </a:rPr>
              <a:t>What Are there opportunities for Goodcabs to partner with local business (such as malls, hotels and venue events) to boost demand and improve customer loyalty? Could these partnerships drive more traffic especially in tourism-heavy or high-footfall areas?</a:t>
            </a:r>
          </a:p>
        </p:txBody>
      </p:sp>
      <p:sp>
        <p:nvSpPr>
          <p:cNvPr id="11" name="TextBox 10">
            <a:extLst>
              <a:ext uri="{FF2B5EF4-FFF2-40B4-BE49-F238E27FC236}">
                <a16:creationId xmlns:a16="http://schemas.microsoft.com/office/drawing/2014/main" id="{40A8D2E1-D690-62C0-67DA-44EE5E42C402}"/>
              </a:ext>
            </a:extLst>
          </p:cNvPr>
          <p:cNvSpPr txBox="1"/>
          <p:nvPr/>
        </p:nvSpPr>
        <p:spPr>
          <a:xfrm>
            <a:off x="786581" y="1549614"/>
            <a:ext cx="10658167" cy="369332"/>
          </a:xfrm>
          <a:prstGeom prst="rect">
            <a:avLst/>
          </a:prstGeom>
          <a:solidFill>
            <a:srgbClr val="CB8D03"/>
          </a:solidFill>
        </p:spPr>
        <p:txBody>
          <a:bodyPr wrap="square">
            <a:spAutoFit/>
          </a:bodyPr>
          <a:lstStyle/>
          <a:p>
            <a:pPr algn="ctr"/>
            <a:r>
              <a:rPr lang="en-IN" b="1" dirty="0">
                <a:solidFill>
                  <a:schemeClr val="tx1">
                    <a:lumMod val="95000"/>
                    <a:lumOff val="5000"/>
                  </a:schemeClr>
                </a:solidFill>
              </a:rPr>
              <a:t>High-Value Partnership Targets  </a:t>
            </a:r>
          </a:p>
        </p:txBody>
      </p:sp>
      <p:sp>
        <p:nvSpPr>
          <p:cNvPr id="20" name="Rectangle 3">
            <a:extLst>
              <a:ext uri="{FF2B5EF4-FFF2-40B4-BE49-F238E27FC236}">
                <a16:creationId xmlns:a16="http://schemas.microsoft.com/office/drawing/2014/main" id="{A578AEF9-B733-66D7-B083-0A5E21CC5157}"/>
              </a:ext>
            </a:extLst>
          </p:cNvPr>
          <p:cNvSpPr>
            <a:spLocks noChangeArrowheads="1"/>
          </p:cNvSpPr>
          <p:nvPr/>
        </p:nvSpPr>
        <p:spPr bwMode="auto">
          <a:xfrm>
            <a:off x="411728" y="5292542"/>
            <a:ext cx="27573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0" i="0" u="none" strike="noStrike" cap="none" normalizeH="0" baseline="0" dirty="0">
                <a:ln>
                  <a:noFill/>
                </a:ln>
                <a:solidFill>
                  <a:schemeClr val="bg1">
                    <a:lumMod val="85000"/>
                  </a:schemeClr>
                </a:solidFill>
                <a:effectLst/>
                <a:latin typeface="Calibri" panose="020F0502020204030204" pitchFamily="34" charset="0"/>
                <a:ea typeface="Calibri" panose="020F0502020204030204" pitchFamily="34" charset="0"/>
                <a:cs typeface="Calibri" panose="020F0502020204030204" pitchFamily="34" charset="0"/>
              </a:rPr>
              <a:t>Expands Customers Touchpoints</a:t>
            </a:r>
            <a:endParaRPr kumimoji="0" lang="en-US" altLang="en-US" sz="1600" b="0" i="0" u="none" strike="noStrike" cap="none" normalizeH="0" baseline="0" dirty="0">
              <a:ln>
                <a:noFill/>
              </a:ln>
              <a:solidFill>
                <a:schemeClr val="bg1">
                  <a:lumMod val="75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21" name="Rectangle: Rounded Corners 20">
            <a:extLst>
              <a:ext uri="{FF2B5EF4-FFF2-40B4-BE49-F238E27FC236}">
                <a16:creationId xmlns:a16="http://schemas.microsoft.com/office/drawing/2014/main" id="{3CFC66F8-01B4-69B9-ADDB-CC155A7AB8F4}"/>
              </a:ext>
            </a:extLst>
          </p:cNvPr>
          <p:cNvSpPr/>
          <p:nvPr/>
        </p:nvSpPr>
        <p:spPr>
          <a:xfrm>
            <a:off x="411728" y="2379406"/>
            <a:ext cx="3608438" cy="1682963"/>
          </a:xfrm>
          <a:prstGeom prst="roundRect">
            <a:avLst/>
          </a:prstGeom>
          <a:solidFill>
            <a:srgbClr val="181818"/>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Hotels &amp; Resorts</a:t>
            </a:r>
          </a:p>
          <a:p>
            <a:pPr marR="0" lvl="0" algn="l" defTabSz="914400" rtl="0" eaLnBrk="0" fontAlgn="base" latinLnBrk="0" hangingPunct="0">
              <a:lnSpc>
                <a:spcPct val="100000"/>
              </a:lnSpc>
              <a:spcBef>
                <a:spcPct val="0"/>
              </a:spcBef>
              <a:spcAft>
                <a:spcPct val="0"/>
              </a:spcAft>
              <a:buClrTx/>
              <a:buSzTx/>
              <a:tabLst/>
            </a:pPr>
            <a:endParaRPr kumimoji="0" lang="en-US" altLang="en-US" sz="1600" b="1" i="0" u="none" strike="noStrike" cap="none" normalizeH="0" baseline="0" dirty="0">
              <a:ln>
                <a:noFill/>
              </a:ln>
              <a:solidFill>
                <a:schemeClr val="accent4">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lumMod val="75000"/>
                  </a:schemeClr>
                </a:solidFill>
                <a:effectLst/>
                <a:latin typeface="Calibri" panose="020F0502020204030204" pitchFamily="34" charset="0"/>
                <a:ea typeface="Calibri" panose="020F0502020204030204" pitchFamily="34" charset="0"/>
                <a:cs typeface="Calibri" panose="020F0502020204030204" pitchFamily="34" charset="0"/>
              </a:rPr>
              <a:t>4.2x ROI</a:t>
            </a:r>
            <a:endParaRPr lang="en-US" altLang="en-US" sz="16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lumMod val="75000"/>
                  </a:schemeClr>
                </a:solidFill>
                <a:effectLst/>
                <a:latin typeface="Calibri" panose="020F0502020204030204" pitchFamily="34" charset="0"/>
                <a:ea typeface="Calibri" panose="020F0502020204030204" pitchFamily="34" charset="0"/>
                <a:cs typeface="Calibri" panose="020F0502020204030204" pitchFamily="34" charset="0"/>
              </a:rPr>
              <a:t>37% higher ride conversion vs. standard airport pickups.</a:t>
            </a:r>
          </a:p>
        </p:txBody>
      </p:sp>
      <p:sp>
        <p:nvSpPr>
          <p:cNvPr id="22" name="Rectangle: Rounded Corners 21">
            <a:extLst>
              <a:ext uri="{FF2B5EF4-FFF2-40B4-BE49-F238E27FC236}">
                <a16:creationId xmlns:a16="http://schemas.microsoft.com/office/drawing/2014/main" id="{E059E096-E822-0518-51CC-83861963CD48}"/>
              </a:ext>
            </a:extLst>
          </p:cNvPr>
          <p:cNvSpPr/>
          <p:nvPr/>
        </p:nvSpPr>
        <p:spPr>
          <a:xfrm>
            <a:off x="4149213" y="2396090"/>
            <a:ext cx="3529781" cy="1685702"/>
          </a:xfrm>
          <a:prstGeom prst="roundRect">
            <a:avLst/>
          </a:prstGeom>
          <a:solidFill>
            <a:srgbClr val="181818"/>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marR="0" lvl="0" indent="-342900" algn="l" defTabSz="914400" rtl="0" eaLnBrk="0" fontAlgn="base" latinLnBrk="0" hangingPunct="0">
              <a:lnSpc>
                <a:spcPct val="100000"/>
              </a:lnSpc>
              <a:spcBef>
                <a:spcPct val="0"/>
              </a:spcBef>
              <a:spcAft>
                <a:spcPct val="0"/>
              </a:spcAft>
              <a:buClrTx/>
              <a:buSzTx/>
              <a:buAutoNum type="arabicPeriod" startAt="2"/>
              <a:tabLst/>
            </a:pPr>
            <a:r>
              <a:rPr kumimoji="0" lang="en-US" altLang="en-US" b="1"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Malls and Shopping Complexes</a:t>
            </a:r>
          </a:p>
          <a:p>
            <a:pPr marR="0" lvl="0" algn="l" defTabSz="914400" rtl="0" eaLnBrk="0" fontAlgn="base" latinLnBrk="0" hangingPunct="0">
              <a:lnSpc>
                <a:spcPct val="100000"/>
              </a:lnSpc>
              <a:spcBef>
                <a:spcPct val="0"/>
              </a:spcBef>
              <a:spcAft>
                <a:spcPct val="0"/>
              </a:spcAft>
              <a:buClrTx/>
              <a:buSzTx/>
              <a:tabLst/>
            </a:pPr>
            <a:endParaRPr lang="en-US" altLang="en-US" b="1"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lumMod val="75000"/>
                  </a:schemeClr>
                </a:solidFill>
                <a:effectLst/>
                <a:latin typeface="Calibri" panose="020F0502020204030204" pitchFamily="34" charset="0"/>
                <a:ea typeface="Calibri" panose="020F0502020204030204" pitchFamily="34" charset="0"/>
                <a:cs typeface="Calibri" panose="020F0502020204030204" pitchFamily="34" charset="0"/>
              </a:rPr>
              <a:t>3.5x ROI</a:t>
            </a:r>
            <a:endParaRPr lang="en-US" altLang="en-US" sz="16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lumMod val="75000"/>
                  </a:schemeClr>
                </a:solidFill>
                <a:effectLst/>
                <a:latin typeface="Calibri" panose="020F0502020204030204" pitchFamily="34" charset="0"/>
                <a:ea typeface="Calibri" panose="020F0502020204030204" pitchFamily="34" charset="0"/>
                <a:cs typeface="Calibri" panose="020F0502020204030204" pitchFamily="34" charset="0"/>
              </a:rPr>
              <a:t>"Shop &amp; Ride" programs increase evening ridership by 28% </a:t>
            </a:r>
            <a:r>
              <a:rPr kumimoji="0" lang="en-US" altLang="en-US" sz="1600" b="0" i="0" u="none" strike="noStrike" cap="none" normalizeH="0" baseline="0" dirty="0">
                <a:ln>
                  <a:noFill/>
                </a:ln>
                <a:solidFill>
                  <a:schemeClr val="bg1">
                    <a:lumMod val="75000"/>
                  </a:schemeClr>
                </a:solidFill>
                <a:effectLst/>
                <a:latin typeface="Calibri" panose="020F0502020204030204" pitchFamily="34" charset="0"/>
                <a:ea typeface="Calibri" panose="020F0502020204030204" pitchFamily="34" charset="0"/>
                <a:cs typeface="Calibri" panose="020F0502020204030204" pitchFamily="34" charset="0"/>
              </a:rPr>
              <a:t>.</a:t>
            </a:r>
          </a:p>
        </p:txBody>
      </p:sp>
      <p:sp>
        <p:nvSpPr>
          <p:cNvPr id="23" name="Rectangle: Rounded Corners 22">
            <a:extLst>
              <a:ext uri="{FF2B5EF4-FFF2-40B4-BE49-F238E27FC236}">
                <a16:creationId xmlns:a16="http://schemas.microsoft.com/office/drawing/2014/main" id="{387E040C-E186-3BA1-7F52-59BA319278FB}"/>
              </a:ext>
            </a:extLst>
          </p:cNvPr>
          <p:cNvSpPr/>
          <p:nvPr/>
        </p:nvSpPr>
        <p:spPr>
          <a:xfrm>
            <a:off x="7806813" y="2379406"/>
            <a:ext cx="4237704" cy="1690907"/>
          </a:xfrm>
          <a:prstGeom prst="roundRect">
            <a:avLst/>
          </a:prstGeom>
          <a:solidFill>
            <a:srgbClr val="181818"/>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marR="0" lvl="0" indent="-342900" algn="l" defTabSz="914400" rtl="0" eaLnBrk="0" fontAlgn="base" latinLnBrk="0" hangingPunct="0">
              <a:lnSpc>
                <a:spcPct val="100000"/>
              </a:lnSpc>
              <a:spcBef>
                <a:spcPct val="0"/>
              </a:spcBef>
              <a:spcAft>
                <a:spcPct val="0"/>
              </a:spcAft>
              <a:buClrTx/>
              <a:buSzTx/>
              <a:buAutoNum type="arabicPeriod" startAt="3"/>
              <a:tabLst/>
            </a:pPr>
            <a:r>
              <a:rPr kumimoji="0" lang="en-US" altLang="en-US" b="1"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Event Venues &amp; Tourist Attractions</a:t>
            </a:r>
          </a:p>
          <a:p>
            <a:pPr marR="0" lvl="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accent4">
                    <a:lumMod val="75000"/>
                  </a:schemeClr>
                </a:solidFill>
                <a:effectLst/>
                <a:latin typeface="Calibri" panose="020F0502020204030204" pitchFamily="34" charset="0"/>
                <a:ea typeface="Calibri" panose="020F0502020204030204" pitchFamily="34" charset="0"/>
                <a:cs typeface="Calibri" panose="020F050202020403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lumMod val="75000"/>
                  </a:schemeClr>
                </a:solidFill>
                <a:effectLst/>
                <a:latin typeface="Calibri" panose="020F0502020204030204" pitchFamily="34" charset="0"/>
                <a:ea typeface="Calibri" panose="020F0502020204030204" pitchFamily="34" charset="0"/>
                <a:cs typeface="Calibri" panose="020F0502020204030204" pitchFamily="34" charset="0"/>
              </a:rPr>
              <a:t>4.8x ROI</a:t>
            </a:r>
            <a:endParaRPr lang="en-US" altLang="en-US" sz="1600" dirty="0">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lumMod val="75000"/>
                  </a:schemeClr>
                </a:solidFill>
                <a:effectLst/>
                <a:latin typeface="Calibri" panose="020F0502020204030204" pitchFamily="34" charset="0"/>
                <a:ea typeface="Calibri" panose="020F0502020204030204" pitchFamily="34" charset="0"/>
                <a:cs typeface="Calibri" panose="020F0502020204030204" pitchFamily="34" charset="0"/>
              </a:rPr>
              <a:t>Pre/post-event booking options capture 42% of transportation demand vs 17% walk-up.</a:t>
            </a:r>
          </a:p>
        </p:txBody>
      </p:sp>
      <p:sp>
        <p:nvSpPr>
          <p:cNvPr id="25" name="Arrow: Right 24">
            <a:extLst>
              <a:ext uri="{FF2B5EF4-FFF2-40B4-BE49-F238E27FC236}">
                <a16:creationId xmlns:a16="http://schemas.microsoft.com/office/drawing/2014/main" id="{519FFAD3-9EC9-92B1-D1B5-926E4B4B2D78}"/>
              </a:ext>
            </a:extLst>
          </p:cNvPr>
          <p:cNvSpPr/>
          <p:nvPr/>
        </p:nvSpPr>
        <p:spPr>
          <a:xfrm rot="5400000">
            <a:off x="5636202" y="2029162"/>
            <a:ext cx="477143" cy="223344"/>
          </a:xfrm>
          <a:prstGeom prst="rightArrow">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Arrow: Right 25">
            <a:extLst>
              <a:ext uri="{FF2B5EF4-FFF2-40B4-BE49-F238E27FC236}">
                <a16:creationId xmlns:a16="http://schemas.microsoft.com/office/drawing/2014/main" id="{68D494FA-8800-8FBD-8C8D-DF2F92461D09}"/>
              </a:ext>
            </a:extLst>
          </p:cNvPr>
          <p:cNvSpPr/>
          <p:nvPr/>
        </p:nvSpPr>
        <p:spPr>
          <a:xfrm rot="5400000">
            <a:off x="9798765" y="2057259"/>
            <a:ext cx="477144" cy="223345"/>
          </a:xfrm>
          <a:prstGeom prst="rightArrow">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7" name="Arrow: Right 26">
            <a:extLst>
              <a:ext uri="{FF2B5EF4-FFF2-40B4-BE49-F238E27FC236}">
                <a16:creationId xmlns:a16="http://schemas.microsoft.com/office/drawing/2014/main" id="{CE0DB84B-95E0-0672-F6C1-605FD2BF61C2}"/>
              </a:ext>
            </a:extLst>
          </p:cNvPr>
          <p:cNvSpPr/>
          <p:nvPr/>
        </p:nvSpPr>
        <p:spPr>
          <a:xfrm rot="5400000">
            <a:off x="1833662" y="2017458"/>
            <a:ext cx="477144" cy="287426"/>
          </a:xfrm>
          <a:prstGeom prst="rightArrow">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TextBox 30">
            <a:extLst>
              <a:ext uri="{FF2B5EF4-FFF2-40B4-BE49-F238E27FC236}">
                <a16:creationId xmlns:a16="http://schemas.microsoft.com/office/drawing/2014/main" id="{22FDF575-ABD6-E138-D568-138376661518}"/>
              </a:ext>
            </a:extLst>
          </p:cNvPr>
          <p:cNvSpPr txBox="1"/>
          <p:nvPr/>
        </p:nvSpPr>
        <p:spPr>
          <a:xfrm>
            <a:off x="210172" y="4453327"/>
            <a:ext cx="11771656" cy="400110"/>
          </a:xfrm>
          <a:prstGeom prst="rect">
            <a:avLst/>
          </a:prstGeom>
          <a:noFill/>
        </p:spPr>
        <p:txBody>
          <a:bodyPr wrap="square" rtlCol="0">
            <a:spAutoFit/>
          </a:bodyPr>
          <a:lstStyle/>
          <a:p>
            <a:pPr algn="ctr"/>
            <a:r>
              <a:rPr lang="en-IN" sz="2000" dirty="0">
                <a:solidFill>
                  <a:schemeClr val="accent4">
                    <a:lumMod val="60000"/>
                    <a:lumOff val="40000"/>
                  </a:schemeClr>
                </a:solidFill>
              </a:rPr>
              <a:t>Strategic Advantages for Goodcabs</a:t>
            </a:r>
          </a:p>
        </p:txBody>
      </p:sp>
      <p:sp>
        <p:nvSpPr>
          <p:cNvPr id="37" name="Rectangle 3">
            <a:extLst>
              <a:ext uri="{FF2B5EF4-FFF2-40B4-BE49-F238E27FC236}">
                <a16:creationId xmlns:a16="http://schemas.microsoft.com/office/drawing/2014/main" id="{5E9B4B49-B1A9-AB76-56D8-32938932819B}"/>
              </a:ext>
            </a:extLst>
          </p:cNvPr>
          <p:cNvSpPr>
            <a:spLocks noChangeArrowheads="1"/>
          </p:cNvSpPr>
          <p:nvPr/>
        </p:nvSpPr>
        <p:spPr bwMode="auto">
          <a:xfrm>
            <a:off x="9442840" y="5292543"/>
            <a:ext cx="275733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lang="en-US" altLang="en-US" sz="1600"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Market Penetration</a:t>
            </a:r>
            <a:endParaRPr kumimoji="0" lang="en-US" altLang="en-US" sz="1600" b="0" i="0" u="none" strike="noStrike" cap="none" normalizeH="0" baseline="0" dirty="0">
              <a:ln>
                <a:noFill/>
              </a:ln>
              <a:solidFill>
                <a:schemeClr val="bg1">
                  <a:lumMod val="75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39" name="Rectangle 3">
            <a:extLst>
              <a:ext uri="{FF2B5EF4-FFF2-40B4-BE49-F238E27FC236}">
                <a16:creationId xmlns:a16="http://schemas.microsoft.com/office/drawing/2014/main" id="{C95BE3B6-A958-B484-5DE8-ADD9A3322275}"/>
              </a:ext>
            </a:extLst>
          </p:cNvPr>
          <p:cNvSpPr>
            <a:spLocks noChangeArrowheads="1"/>
          </p:cNvSpPr>
          <p:nvPr/>
        </p:nvSpPr>
        <p:spPr bwMode="auto">
          <a:xfrm>
            <a:off x="3316542" y="5341569"/>
            <a:ext cx="275733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0" i="0" u="none" strike="noStrike" cap="none" normalizeH="0" baseline="0" dirty="0">
                <a:ln>
                  <a:noFill/>
                </a:ln>
                <a:solidFill>
                  <a:schemeClr val="bg1">
                    <a:lumMod val="85000"/>
                  </a:schemeClr>
                </a:solidFill>
                <a:effectLst/>
                <a:latin typeface="Calibri" panose="020F0502020204030204" pitchFamily="34" charset="0"/>
                <a:ea typeface="Calibri" panose="020F0502020204030204" pitchFamily="34" charset="0"/>
                <a:cs typeface="Calibri" panose="020F0502020204030204" pitchFamily="34" charset="0"/>
              </a:rPr>
              <a:t>Enhanced Brand Visibility</a:t>
            </a:r>
            <a:endParaRPr kumimoji="0" lang="en-US" altLang="en-US" sz="1600" b="0" i="0" u="none" strike="noStrike" cap="none" normalizeH="0" baseline="0" dirty="0">
              <a:ln>
                <a:noFill/>
              </a:ln>
              <a:solidFill>
                <a:schemeClr val="bg1">
                  <a:lumMod val="75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40" name="Rectangle 3">
            <a:extLst>
              <a:ext uri="{FF2B5EF4-FFF2-40B4-BE49-F238E27FC236}">
                <a16:creationId xmlns:a16="http://schemas.microsoft.com/office/drawing/2014/main" id="{319D3C67-4CD3-F376-BF14-6C51792668E0}"/>
              </a:ext>
            </a:extLst>
          </p:cNvPr>
          <p:cNvSpPr>
            <a:spLocks noChangeArrowheads="1"/>
          </p:cNvSpPr>
          <p:nvPr/>
        </p:nvSpPr>
        <p:spPr bwMode="auto">
          <a:xfrm>
            <a:off x="6685504" y="5304022"/>
            <a:ext cx="275733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0" i="0" u="none" strike="noStrike" cap="none" normalizeH="0" baseline="0" dirty="0">
                <a:ln>
                  <a:noFill/>
                </a:ln>
                <a:solidFill>
                  <a:schemeClr val="bg1">
                    <a:lumMod val="85000"/>
                  </a:schemeClr>
                </a:solidFill>
                <a:effectLst/>
                <a:latin typeface="Calibri" panose="020F0502020204030204" pitchFamily="34" charset="0"/>
                <a:ea typeface="Calibri" panose="020F0502020204030204" pitchFamily="34" charset="0"/>
                <a:cs typeface="Calibri" panose="020F0502020204030204" pitchFamily="34" charset="0"/>
              </a:rPr>
              <a:t>Competitive edge</a:t>
            </a:r>
            <a:endParaRPr kumimoji="0" lang="en-US" altLang="en-US" sz="1600" b="0" i="0" u="none" strike="noStrike" cap="none" normalizeH="0" baseline="0" dirty="0">
              <a:ln>
                <a:noFill/>
              </a:ln>
              <a:solidFill>
                <a:schemeClr val="bg1">
                  <a:lumMod val="75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42" name="TextBox 41">
            <a:extLst>
              <a:ext uri="{FF2B5EF4-FFF2-40B4-BE49-F238E27FC236}">
                <a16:creationId xmlns:a16="http://schemas.microsoft.com/office/drawing/2014/main" id="{0B1A8079-9F96-CE02-29CA-E05806209EFA}"/>
              </a:ext>
            </a:extLst>
          </p:cNvPr>
          <p:cNvSpPr txBox="1"/>
          <p:nvPr/>
        </p:nvSpPr>
        <p:spPr>
          <a:xfrm>
            <a:off x="5240798" y="6530040"/>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36262500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2BAB3-91BF-770F-45F6-B01475AB74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87EAF60-E81D-EFE1-8FA5-59B541F78678}"/>
              </a:ext>
            </a:extLst>
          </p:cNvPr>
          <p:cNvSpPr txBox="1"/>
          <p:nvPr/>
        </p:nvSpPr>
        <p:spPr>
          <a:xfrm>
            <a:off x="2596148" y="4987396"/>
            <a:ext cx="7368445" cy="261610"/>
          </a:xfrm>
          <a:prstGeom prst="rect">
            <a:avLst/>
          </a:prstGeom>
          <a:noFill/>
        </p:spPr>
        <p:txBody>
          <a:bodyPr wrap="square" rtlCol="0">
            <a:spAutoFit/>
          </a:bodyPr>
          <a:lstStyle/>
          <a:p>
            <a:endParaRPr lang="en-IN" sz="1100" dirty="0"/>
          </a:p>
        </p:txBody>
      </p:sp>
      <p:sp>
        <p:nvSpPr>
          <p:cNvPr id="5" name="TextBox 4">
            <a:extLst>
              <a:ext uri="{FF2B5EF4-FFF2-40B4-BE49-F238E27FC236}">
                <a16:creationId xmlns:a16="http://schemas.microsoft.com/office/drawing/2014/main" id="{8D5B649C-1D26-D556-546C-1EC0529BAA79}"/>
              </a:ext>
            </a:extLst>
          </p:cNvPr>
          <p:cNvSpPr txBox="1"/>
          <p:nvPr/>
        </p:nvSpPr>
        <p:spPr>
          <a:xfrm>
            <a:off x="184371" y="220909"/>
            <a:ext cx="11771656" cy="1292662"/>
          </a:xfrm>
          <a:prstGeom prst="rect">
            <a:avLst/>
          </a:prstGeom>
          <a:noFill/>
        </p:spPr>
        <p:txBody>
          <a:bodyPr wrap="square" rtlCol="0">
            <a:spAutoFit/>
          </a:bodyPr>
          <a:lstStyle/>
          <a:p>
            <a:pPr>
              <a:lnSpc>
                <a:spcPct val="150000"/>
              </a:lnSpc>
            </a:pPr>
            <a:r>
              <a:rPr lang="en-IN" sz="2000" b="1" dirty="0">
                <a:solidFill>
                  <a:srgbClr val="FFC000"/>
                </a:solidFill>
                <a:latin typeface="Calibri" panose="020F0502020204030204" pitchFamily="34" charset="0"/>
                <a:ea typeface="Calibri" panose="020F0502020204030204" pitchFamily="34" charset="0"/>
                <a:cs typeface="Calibri" panose="020F0502020204030204" pitchFamily="34" charset="0"/>
              </a:rPr>
              <a:t>5.  Data Collection for Enhanced Data Driven Decisions</a:t>
            </a:r>
          </a:p>
          <a:p>
            <a:r>
              <a:rPr lang="en-IN" sz="1600" dirty="0">
                <a:solidFill>
                  <a:schemeClr val="accent4">
                    <a:lumMod val="75000"/>
                  </a:schemeClr>
                </a:solidFill>
              </a:rPr>
              <a:t>What To make Goodcabs more data-driven and improve its performance across key metrics (such as RPR, customer satisfaction, new passengers and trip volume), what additional data should GoodCabs collect? Consider data that could provide deeper insights into customer behaviour, operational efficiency and market trends.</a:t>
            </a:r>
          </a:p>
        </p:txBody>
      </p:sp>
      <p:pic>
        <p:nvPicPr>
          <p:cNvPr id="4" name="Picture 3">
            <a:extLst>
              <a:ext uri="{FF2B5EF4-FFF2-40B4-BE49-F238E27FC236}">
                <a16:creationId xmlns:a16="http://schemas.microsoft.com/office/drawing/2014/main" id="{FE3F5077-501F-3F62-EF39-8E781BBC4098}"/>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Effect>
                      <a14:brightnessContrast bright="-20000" contrast="20000"/>
                    </a14:imgEffect>
                  </a14:imgLayer>
                </a14:imgProps>
              </a:ext>
            </a:extLst>
          </a:blip>
          <a:stretch>
            <a:fillRect/>
          </a:stretch>
        </p:blipFill>
        <p:spPr>
          <a:xfrm>
            <a:off x="465315" y="2304236"/>
            <a:ext cx="3526250" cy="3847270"/>
          </a:xfrm>
          <a:prstGeom prst="rect">
            <a:avLst/>
          </a:prstGeom>
        </p:spPr>
      </p:pic>
      <p:pic>
        <p:nvPicPr>
          <p:cNvPr id="8" name="Picture 7">
            <a:extLst>
              <a:ext uri="{FF2B5EF4-FFF2-40B4-BE49-F238E27FC236}">
                <a16:creationId xmlns:a16="http://schemas.microsoft.com/office/drawing/2014/main" id="{AF88C2D5-A0AF-6F7E-1974-DC00B8D92DB0}"/>
              </a:ext>
            </a:extLst>
          </p:cNvPr>
          <p:cNvPicPr>
            <a:picLocks noChangeAspect="1"/>
          </p:cNvPicPr>
          <p:nvPr/>
        </p:nvPicPr>
        <p:blipFill>
          <a:blip r:embed="rId5">
            <a:extLst>
              <a:ext uri="{BEBA8EAE-BF5A-486C-A8C5-ECC9F3942E4B}">
                <a14:imgProps xmlns:a14="http://schemas.microsoft.com/office/drawing/2010/main">
                  <a14:imgLayer r:embed="rId6">
                    <a14:imgEffect>
                      <a14:saturation sat="300000"/>
                    </a14:imgEffect>
                    <a14:imgEffect>
                      <a14:brightnessContrast bright="-20000" contrast="20000"/>
                    </a14:imgEffect>
                  </a14:imgLayer>
                </a14:imgProps>
              </a:ext>
            </a:extLst>
          </a:blip>
          <a:stretch>
            <a:fillRect/>
          </a:stretch>
        </p:blipFill>
        <p:spPr>
          <a:xfrm>
            <a:off x="4359273" y="2307724"/>
            <a:ext cx="3526250" cy="3843782"/>
          </a:xfrm>
          <a:prstGeom prst="rect">
            <a:avLst/>
          </a:prstGeom>
        </p:spPr>
      </p:pic>
      <p:pic>
        <p:nvPicPr>
          <p:cNvPr id="10" name="Picture 9">
            <a:extLst>
              <a:ext uri="{FF2B5EF4-FFF2-40B4-BE49-F238E27FC236}">
                <a16:creationId xmlns:a16="http://schemas.microsoft.com/office/drawing/2014/main" id="{CB063A4D-CB1F-6F75-8D88-1ED21D34C346}"/>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25000"/>
                    </a14:imgEffect>
                    <a14:imgEffect>
                      <a14:brightnessContrast bright="-20000" contrast="20000"/>
                    </a14:imgEffect>
                  </a14:imgLayer>
                </a14:imgProps>
              </a:ext>
            </a:extLst>
          </a:blip>
          <a:stretch>
            <a:fillRect/>
          </a:stretch>
        </p:blipFill>
        <p:spPr>
          <a:xfrm>
            <a:off x="8329407" y="2307724"/>
            <a:ext cx="3270372" cy="3843782"/>
          </a:xfrm>
          <a:prstGeom prst="rect">
            <a:avLst/>
          </a:prstGeom>
        </p:spPr>
      </p:pic>
      <p:sp>
        <p:nvSpPr>
          <p:cNvPr id="12" name="TextBox 11">
            <a:extLst>
              <a:ext uri="{FF2B5EF4-FFF2-40B4-BE49-F238E27FC236}">
                <a16:creationId xmlns:a16="http://schemas.microsoft.com/office/drawing/2014/main" id="{76906D80-EE8B-309A-9D22-DEE92A44C4A8}"/>
              </a:ext>
            </a:extLst>
          </p:cNvPr>
          <p:cNvSpPr txBox="1"/>
          <p:nvPr/>
        </p:nvSpPr>
        <p:spPr>
          <a:xfrm>
            <a:off x="5240798" y="6530040"/>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41513170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52852-DBDB-64BD-EEEB-69E59BE9ACB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0AAD1B5-FF73-F6B6-C68D-718508CBAE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74302" y="2002725"/>
            <a:ext cx="1286185" cy="953365"/>
          </a:xfrm>
          <a:prstGeom prst="rect">
            <a:avLst/>
          </a:prstGeom>
          <a:ln>
            <a:noFill/>
          </a:ln>
        </p:spPr>
      </p:pic>
      <p:sp>
        <p:nvSpPr>
          <p:cNvPr id="5" name="TextBox 4">
            <a:extLst>
              <a:ext uri="{FF2B5EF4-FFF2-40B4-BE49-F238E27FC236}">
                <a16:creationId xmlns:a16="http://schemas.microsoft.com/office/drawing/2014/main" id="{1805C26B-0111-8C7E-8A10-521D4EDD83C9}"/>
              </a:ext>
            </a:extLst>
          </p:cNvPr>
          <p:cNvSpPr txBox="1"/>
          <p:nvPr/>
        </p:nvSpPr>
        <p:spPr>
          <a:xfrm>
            <a:off x="1548580" y="3105834"/>
            <a:ext cx="9094839" cy="646331"/>
          </a:xfrm>
          <a:prstGeom prst="rect">
            <a:avLst/>
          </a:prstGeom>
          <a:noFill/>
        </p:spPr>
        <p:txBody>
          <a:bodyPr wrap="square" rtlCol="0">
            <a:spAutoFit/>
          </a:bodyPr>
          <a:lstStyle/>
          <a:p>
            <a:pPr algn="ctr"/>
            <a:r>
              <a:rPr lang="en-IN" sz="3600" b="1" dirty="0">
                <a:solidFill>
                  <a:srgbClr val="FFC000"/>
                </a:solidFill>
              </a:rPr>
              <a:t>Thank You </a:t>
            </a:r>
            <a:r>
              <a:rPr lang="en-IN" sz="3600" b="1" dirty="0">
                <a:solidFill>
                  <a:srgbClr val="FFC000"/>
                </a:solidFill>
                <a:sym typeface="Wingdings" panose="05000000000000000000" pitchFamily="2" charset="2"/>
              </a:rPr>
              <a:t></a:t>
            </a:r>
            <a:endParaRPr lang="en-IN" sz="3600" b="1" dirty="0">
              <a:solidFill>
                <a:srgbClr val="FFC000"/>
              </a:solidFill>
            </a:endParaRPr>
          </a:p>
        </p:txBody>
      </p:sp>
      <p:sp>
        <p:nvSpPr>
          <p:cNvPr id="2" name="TextBox 1">
            <a:extLst>
              <a:ext uri="{FF2B5EF4-FFF2-40B4-BE49-F238E27FC236}">
                <a16:creationId xmlns:a16="http://schemas.microsoft.com/office/drawing/2014/main" id="{1976FB08-FB94-8806-DAF4-BFD4886E6BD8}"/>
              </a:ext>
            </a:extLst>
          </p:cNvPr>
          <p:cNvSpPr txBox="1"/>
          <p:nvPr/>
        </p:nvSpPr>
        <p:spPr>
          <a:xfrm>
            <a:off x="5240798" y="6530040"/>
            <a:ext cx="6867459" cy="400110"/>
          </a:xfrm>
          <a:prstGeom prst="rect">
            <a:avLst/>
          </a:prstGeom>
          <a:noFill/>
        </p:spPr>
        <p:txBody>
          <a:bodyPr wrap="square" rtlCol="0">
            <a:spAutoFit/>
          </a:bodyPr>
          <a:lstStyle/>
          <a:p>
            <a:pPr algn="r"/>
            <a:r>
              <a:rPr lang="en-IN" sz="2000" dirty="0">
                <a:solidFill>
                  <a:schemeClr val="accent3">
                    <a:lumMod val="50000"/>
                  </a:schemeClr>
                </a:solidFill>
                <a:latin typeface="Calibri" panose="020F0502020204030204" pitchFamily="34" charset="0"/>
                <a:ea typeface="Calibri" panose="020F0502020204030204" pitchFamily="34" charset="0"/>
                <a:cs typeface="Calibri" panose="020F0502020204030204" pitchFamily="34" charset="0"/>
              </a:rPr>
              <a:t>Punam Godugula</a:t>
            </a:r>
          </a:p>
        </p:txBody>
      </p:sp>
    </p:spTree>
    <p:extLst>
      <p:ext uri="{BB962C8B-B14F-4D97-AF65-F5344CB8AC3E}">
        <p14:creationId xmlns:p14="http://schemas.microsoft.com/office/powerpoint/2010/main" val="14488797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webextension1.xml><?xml version="1.0" encoding="utf-8"?>
<we:webextension xmlns:we="http://schemas.microsoft.com/office/webextensions/webextension/2010/11" id="{F399A894-4F79-44BF-8D15-021D902B05DB}">
  <we:reference id="wa200003233" version="2.0.0.3" store="en-US" storeType="OMEX"/>
  <we:alternateReferences>
    <we:reference id="WA200003233" version="2.0.0.3" store="" storeType="OMEX"/>
  </we:alternateReferences>
  <we:properties>
    <we:property name="reportUrl" value="&quot;/groups/me/reports/fdb3be52-c1b7-4193-af98-fd9a13e5256f/7745717db5da73761e67?experience=power-bi&amp;ownerId=2273c41b-b8d0-45af-bee6-e08496ae6718&amp;referrer=embed.appsource&quot;"/>
    <we:property name="reportName" value="&quot;Good Cabs final&quot;"/>
    <we:property name="reportState" value="&quot;CONNECTED&quot;"/>
    <we:property name="embedUrl" value="&quot;/reportEmbed?reportId=fdb3be52-c1b7-4193-af98-fd9a13e5256f&amp;config=eyJjbHVzdGVyVXJsIjoiaHR0cHM6Ly9XQUJJLUlORElBLUNFTlRSQUwtQS1QUklNQVJZLXJlZGlyZWN0LmFuYWx5c2lzLndpbmRvd3MubmV0IiwiZW1iZWRGZWF0dXJlcyI6eyJ1c2FnZU1ldHJpY3NWTmV4dCI6dHJ1ZX19&amp;disableSensitivityBanner=true&amp;storytellingChangeViewModeShortcutKeys=true&quot;"/>
    <we:property name="pageName" value="&quot;7745717db5da73761e67&quot;"/>
    <we:property name="pageDisplayName" value="&quot;Home&quot;"/>
    <we:property name="datasetId" value="&quot;37bf7053-b579-471d-873c-92790aeaf41e&quot;"/>
    <we:property name="backgroundColor" value="&quot;#FFFFFF&quot;"/>
    <we:property name="bookmark" value="&quot;H4sIAAAAAAAAA6WSTUvEMBCG/4rkvEiTNB/1qFeRhRUv4mHaTNdotilNKuqy/91JKwgieNhLMzN587zTYY7M+TQG+LiDA7Irdh3j6wGm1wvLNmxYa1ZJ3XDeWlcLK1SrDdd0G8fs45DY1ZFlmPaYH3yaIRQQFR+fNgxC2MK+ZD2EhBs24pTiAMF/4iqmqzzNeNowfB9DnKAgdxkyFuwbySmnFvilJEfosn/DHXZ5rRpTK8ONa5UDI43mqA3J0ipYOvtTUtCL/U0cMviBbEqN11DueSVbZXUjHDdVqSc/7MN3wz9v7z/GMhxYvK7nnKklGkr7Qu4FdzrRXwmUDbFoZLVVDdF5Zc5Fygq06zvR1xQo08m6PhMpQQmlJVa215XurO1VcyZS9SiEdLwhKKoaBTj3LzI9A52/WAvup8IOSLtWgjjnNEKHWxgofzyycYq0YNnjoqOFgsGh+46nct76jNNq/ABhLp7LZrLF5ql8vgBDAEeAEQMAAA==&quot;"/>
    <we:property name="initialStateBookmark" value="&quot;H4sIAAAAAAAAA6WST0vEMBDFv4rkXKRtmqb1toon3T+44kVEps10jWab0qSLuux3d9IuCCLsYS9N5uXl96Zh9kxp1xn4WsAW2RW7tvZjC/3HRcEi1h615fJuPnu4e13M5rck285r2zp2tWce+g36J+0GMIFA4vNLxMCYFWxC1YBxGLEOe2dbMPobJzMd+X7AQ8TwszO2h4Bce/AYsDuyU03ZySWnRKi93uEaaz+pUmZCJlJVQoHkMk8wl2Rzk2Hs7F9LQI/xN7b1oFuKCVqSQThPYl6JIi9Tlcg46E63G3Ns+Pfu41cXXgXGrOvBe2qJHqV6p/SAOxzor1LkJbGqXGaFKImexPJcJI8hV02dNhlthKx5lp2J5CBSkXOMiyaP87ooGlGeiRQNpilXSUlQFBmmoNRJpHsDWv+wRtyvwrZIsxY2dvCugxpX0FL9vGddb2nAvMbRRwMFrUJ13Pdhvdce+yn4CcwQMsfJZGMI9aIrgycuhHllY1sv4fMDRjlhODoDAAA=&quot;"/>
    <we:property name="isFiltersActionButtonVisible" value="true"/>
    <we:property name="isVisualContainerHeaderHidden" value="false"/>
    <we:property name="reportEmbeddedTime" value="&quot;2025-04-21T15:43:07.138Z&quot;"/>
    <we:property name="creatorTenantId" value="&quot;c6e549b3-5f45-4032-aae9-d4244dc5b2c4&quot;"/>
    <we:property name="creatorUserId" value="&quot;10032003B8C8B82B&quot;"/>
    <we:property name="creatorSessionId" value="&quot;3a5d0674-721a-4b05-9c55-9a6aca33d43f&quot;"/>
    <we:property name="artifactViewState" value="&quot;liv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TM03457491[[fn=Metropolitan]]</Template>
  <TotalTime>5786</TotalTime>
  <Words>1633</Words>
  <Application>Microsoft Office PowerPoint</Application>
  <PresentationFormat>Widescreen</PresentationFormat>
  <Paragraphs>298</Paragraphs>
  <Slides>31</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Arial Rounded MT Bold</vt:lpstr>
      <vt:lpstr>Calibri</vt:lpstr>
      <vt:lpstr>Calibri Light</vt:lpstr>
      <vt:lpstr>Segoe UI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Punam Godugula</dc:creator>
  <cp:lastModifiedBy>Punam Godugula</cp:lastModifiedBy>
  <cp:revision>56</cp:revision>
  <dcterms:created xsi:type="dcterms:W3CDTF">2024-11-24T12:00:51Z</dcterms:created>
  <dcterms:modified xsi:type="dcterms:W3CDTF">2025-04-21T15:43:40Z</dcterms:modified>
</cp:coreProperties>
</file>